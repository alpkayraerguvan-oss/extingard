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1-2.jpg" ContentType="image/jpg"/>
  <Override PartName="/ppt/media/image-15-2.jpg" ContentType="image/jpg"/>
  <Override PartName="/ppt/media/image-1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F7F7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F7F76"/>
                </a:solidFill>
                <a:latin typeface="Calibri"/>
              </a:rPr>
              <a:t>Birim maliyet (TL / kg)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 / kg</c:v>
                </c:pt>
              </c:strCache>
            </c:strRef>
          </c:tx>
          <c:spPr>
            <a:solidFill>
              <a:srgbClr val="B9C7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C3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7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B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3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FA5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6B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Halon Söndürücü</c:v>
                  </c:pt>
                  <c:pt idx="1">
                    <c:v>CO₂ Söndürücü</c:v>
                  </c:pt>
                  <c:pt idx="2">
                    <c:v>ABC Tozu (MAP)</c:v>
                  </c:pt>
                  <c:pt idx="3">
                    <c:v>BC Tozu (NaHCO₃)</c:v>
                  </c:pt>
                  <c:pt idx="4">
                    <c:v>ExtinGard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475</c:v>
                </c:pt>
                <c:pt idx="2">
                  <c:v>275</c:v>
                </c:pt>
                <c:pt idx="3">
                  <c:v>135</c:v>
                </c:pt>
                <c:pt idx="4">
                  <c:v>49.7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C3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C3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b"/>
        <c:majorGridlines>
          <c:spPr>
            <a:ln w="12700" cap="flat">
              <a:solidFill>
                <a:srgbClr val="E6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F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DCE6DE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 slaytı. Kendinizi ve projeyi kısaca tanıtın: ExtinGard, yumurta kabuğu ve doğal minerallerden üretilen, TÜRKPATENT tescilli ve patentli bir yangın söndürme tozu.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altı ana bölümü. Süre kısıtlıysa 02 ve 03 üzerine yoğunlaşın; 06 yatırımcı ve ticarileşme odaklı dinleyici için.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bölüm: takımın kendini tanıtması.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Takımın kim olduğu ve neyi amaçladığı. BİLSEM kökenimizi vurgulayın — bilimsel altyapımızın kaynağı.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Misyon bugünü, vizyon geleceği anlatır. Üç ilke, bütün teknik kararlarımızın arkasındaki değerler.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üye kendini kısaca tanıtabilir. Gülçin Sezen hem markanın hem patentin hak sahiplerinden biri.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İkinci bölüm: problemin iki katmanı — yangınlar artıyor, ama müdahale araçları da kendi hasarını bırakıyor. İkinci katman bizim çözüm alanımız.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Problemi iki katmanlı kurun: yangınlar artıyor (birinci katman), müdahale araçları da zarar veriyor (ikinci katman). İkinci katman bizim çözüm alanımız.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Kaynaklar: Kırtaş &amp; Altundağ 2023; Lee et al. 2021; EPA 2019. Halon için Montreal Protokolü kısıtlamasını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Üçüncü bölüm: ürünün ne olduğu, formülasyonu ve çalışma prensibi. Sunumun teknik çekirdeği; teknik jüri için en önemli bölüm.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Ürünü tek cümlede tanımlayın, sonra altı maddeyi sırayla açın. Patent maddesini vurgulayın — bağımsız bir kurum tarafından doğrulanmış yenilik demek.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Formülasyonun en dikkat çekici yanı: kütlenin yarısı atık yumurta kabuğu. Yani ürün hem bir yangın çözümü hem bir geri dönüşüm uygulaması.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Yanma üçgenini tahtaya çizerek anlatmak etkili olur. Rakip ürünlerin çoğu bu üç mekanizmadan yalnızca birini veya ikisini kullanır.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jüriye bilimsel derinliği gösterir. Kilit nokta: bileşenler kademeli sıcaklıklarda devreye giriyor, yani söndürme etkisi tek anda değil, yangın boyunca sürüyor.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Sürecin tamamı basit ekipmanla yapılabiliyor — bu, pilot üretime geçişi kolaylaştıran önemli bir avantaj.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Dördüncü bölüm: test yöntemi, sonuçlar ve saha doğrulaması. Şeffaflık notunu burada mutlaka hatırlatın — sertifikasyon henüz tamamlanmadı.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Yöntemi net anlatmak güvenilirliği artırır. Şeffaflık notunu mutlaka söyleyin — jüri zaten soracaktır, önce siz söylerseniz güven kazanırsınız.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sınıfı (sıvı yağ) sonucu en değerli bulgumuz — piyasadaki ABC tozu bu sınıfta etkisiz. Mutfak yangınları için doğrudan bir fark yaratıyor.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 doğrulaması projeyi okul çalışmasından ticarileşebilir ürüne taşıyan adım. İtfaiye ilişkisi ileride referans müşteri anlamına da geliyor.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Beşinci bölüm: marka tescili ve patent. Patentin henüz kesinleşmediğini, altı aylık itiraz süresinin işlediğini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sınıflı tescilin anlamı: sadece tozu değil, cihazı ve satışı da koruyoruz. İleride ürün gamını genişletirsek marka koruması hazır.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Patent henüz kesinleşmedi — 6 aylık itiraz süresi var. Bunu açıkça söyleyin; 'patent aldık' yerine 'patent verilmesine karar verildi' demek hem doğru hem güven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Altıncı bölüm: rekabet, maliyet, pazar ve yol haritası. Yatırımcı ve ticarileşme odaklı dinleyici için bu bölüme ağırlık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Rakipler tek eksende iyi olabiliyor, biz üçünde birden. F sınıfı farkını özellikle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Maliyet avantajı erişilebilirlik demek: kamu kurumları için büyük ölçekli stoklama ekonomik hâle geliyor.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Pazar zamanlaması lehimize: AB'nin PFAS kısıtlamaları mevcut oyuncuları formül değiştirmeye zorluyor, biz zaten PFAS'sız doğduk.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B2G önceliğimiz, çünkü kamu referansı hem hacim hem güvenilirlik sağlıyor. Satın alan ile kullanan kişi farklı — mesajı ikisine ayrı kuruyoruz.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en kritik çeyrek: TS EN 615 belgesi olmadan kamu ihalelerine giremiyoruz.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farklı doğrulama türü: akademik (Üsküdar), girişimcilik (T3) ve operasyonel (Bursa İtfaiye) — buna bir de resmî IP koruması ekleniyor.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özeti. Dört maddeyi tek tek tekrarlayın, sonra sıradaki adımla bitirin.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Kaynakça slaytı. Sunum sırasında okunmaz; jüri ve okuyucular için referans olarak bulunur.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Soru-cevap bölümüne buradan geçilebilir.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3.png"/><Relationship Id="rId5" Type="http://schemas.openxmlformats.org/officeDocument/2006/relationships/image" Target="../media/image-2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chart" Target="../charts/chart1.xml"/><Relationship Id="rId3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1691640" cy="115945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ATEŞ KES TAKIMI  ·  PROJE SUNUMU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30936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6758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Doğal Bileşenlerden Oluşan Yangın Söndürücü Toz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dönüştürülmüş yumurta kabuğu ve doğal minerallerden üretilen,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yerli, biyobozunur ve patentli yangın söndürme tozu.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230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HAZIRLAYANLAR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468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Kayra ERGUVAN  ·  Ceyda Nur SÖYLEMEZ  ·  Havva Yaren AYDIN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8155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DANIŞMAN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60533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Gülçin SEZEN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762695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Gündem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80744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Tanıtım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80744" y="1975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Hakkımızda · Misyon ve vizyon · Ekibimiz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25735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4 – 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459736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80744" y="2441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80744" y="27340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yangın krizi · Mevcut söndürücülerin sorunları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225735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8 – 9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80744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 ve Teknoloji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0744" y="3493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· Formülasyon · Çalışma prensibi · Üretim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225735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11 – 15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977640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80744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ve Doğrulama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80744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yöntemi · Sonuçlar · Saha doğrulaması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225735" y="4032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17 – 19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736592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4736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380744" y="4718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Fikri Mülkiyet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380744" y="5010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tescili · Patent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225735" y="4791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21 – 22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85800" y="5495544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5495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80744" y="5477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Ticarileşme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380744" y="5769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· Maliyet · Pazar · İş modeli · Yol haritası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225735" y="5550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24 – 28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Tanıtım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Ekibimiz, amacımız ve bu projeye neden başladığımız.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TANITIM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Hakkımızda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45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Biz, BTSO Kamil Tolon Bilim ve Sanat Merkezi'nde bir araya gelen "Ateş Kes" takımıyız. Çevre dostu ve sürdürülebilir bir yangın söndürme tozu geliştirmek amacıyla çalışan bir araştırma grubuyuz.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285292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6696" y="2743200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söndürmede kullanılan zararlı kimyasallara doğal ve güvenli bir alternatif geliştiriyoruz.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6027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6696" y="3493008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Ürünümüz geri dönüştürülmüş biyolojik atıklardan üretiliyor; etkili müdahale sağlarken doğaya zarar vermiyor.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435254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96696" y="4242816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Amacımız, bilimin ışığında insan sağlığına duyarlı ve çevreyle uyumlu çözümler üretmek.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" y="5102352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6696" y="4992624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Çalışmamız TÜRKPATENT tarafından hem marka hem de patent kapsamında koruma altına alındı.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1645920"/>
            <a:ext cx="3730752" cy="3950208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01584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 YERI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1584" y="21579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BTSO Kamil Tolon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ve Sanat Merkezi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01584" y="2852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101584" y="30906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öğrenci + 1 danışman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101584" y="3785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101584" y="40233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yangın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söndürücü toz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101584" y="4718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49560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Tescilli marka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onaylı patent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TANITIM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Misyonumuz ve Vizyonumuz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645920"/>
            <a:ext cx="5276088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993392"/>
            <a:ext cx="603504" cy="6035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7" name="Image 1" descr="img/icons/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71" y="2150303"/>
            <a:ext cx="289682" cy="2896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01368" y="215798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MİSYON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2834640"/>
            <a:ext cx="4544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Yangınla mücadelede kimyasal bağımlılığı azaltarak, doğaya ve insan sağlığına zarar vermeyen sürdürülebilir çözümlerle Türkiye'nin ve dünyanın yangın güvenliği yaklaşımına öncülük etmek.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27064" y="1645920"/>
            <a:ext cx="5276088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92824" y="1993392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2" name="Image 2" descr="img/icons/glob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35" y="2150303"/>
            <a:ext cx="289682" cy="28968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215798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VİZYON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6592824" y="2834640"/>
            <a:ext cx="4544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ve geri dönüştürülebilir malzemelerle yangın söndürücü çözümler geliştirerek, çevre dostu ve erişilebilir ürünlerle yangın güvenliğini artırmak; Türkiye'den çıkan bir yeşil teknoloji markasını dünya çapında bir standart hâline getirmek.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4261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hedefe giden üç ilke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85800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3544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8" name="Image 3" descr="img/icons/leaf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12978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90472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Doğaya saygı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490472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Biyo-atıktan üretim, sıfır kimyasal kalıntı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70832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08576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3" name="Image 4" descr="img/icons/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512978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175504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İnsana güven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175504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Toksik gaz salmayan, kapalı alanda güvenli formül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055864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93608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8" name="Image 5" descr="img/icons/scal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512978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860536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Erişilebilirlik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8860536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birim maliyetle yaygın kullanım imkânı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TANITIM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Ekibimiz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kişilik öğrenci ekibi ve proje danışmanı. Ekip üyelerinin tamamı DENEYAP, BİLSEM ve T3 Girişim Merkezi programlarından gelen teknik birikime sahip.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46888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 Kayra Erguvan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 Sorumlusu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Formülasyon geliştirme, laboratuvar test protokollerinin kurgulanması ve üretim sürecinin yürütülmesi.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4603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28923" y="2468880"/>
            <a:ext cx="786384" cy="78638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28923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728923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Ceyda Nur Söylemez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28923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araştırması, rakip analizi, maliyet modellemesi ve verilerin raporlanması.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23406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7726" y="246888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7726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97726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Havva Yaren Aydın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7726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Stratejist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97726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modelinin kurgulanması, kurumsal ilişkilerin yürütülmesi ve pazara çıkış stratejisi.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92210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66530" y="2468880"/>
            <a:ext cx="786384" cy="78638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66530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266530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Gülçin Sezen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266530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Danışmanı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66530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Bilimsel yönlendirme, proje danışmanlığı ve kurumsal süreçlerin koordinasyonu.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Yangınlar artıyor, ama mevcut söndürücüler de kendi sorunlarını getiriyor.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Küresel Yangın Krizi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İklim krizi, yangınların hem sıklığını hem de şiddetini artırıyor. Ortaya çıkan zarar yalnızca ekonomik değil; can kaybı ve geri dönüşü olmayan ekosistem tahribatı da içeriyor.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yangın sıklığındaki artış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IPCC, 2023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0832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45152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328 Mr $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afetlerinin yıllık küresel ekonomik zararı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645152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verileri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55864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30184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80.000 ha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330184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her yıl yanan ortalama orman alanı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330184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Orman Genel Müdürlüğü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4041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Sorunun üç boyutu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85800" y="457200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6696" y="4462272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Çevresel boyut — Kimyasal söndürücüler ekosisteme geri dönülemez hasar bırakıyor; toprak yapısı bozuluyor, su kaynakları kirleniyor.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513892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96696" y="5029200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boyutu — Geleneksel tozlar solunum yollarını tahriş ediyor, cilt ve gözle temasta olumsuz etkiler yaratıyor.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" y="570585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6696" y="5596128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boyut — İthal hammaddeye bağımlılık, büyük ölçekli afet müdahalesinin maliyetini yükseltiyor.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Söndürücülerin Sorunları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Piyasadaki yangın söndürücülerin büyük bölümü amonyum fosfat, sodyum bikarbonat ve benzeri kimyasallara dayanıyor. Yangını bastırmakta etkili olsalar da ciddi ikincil sorunlar yaratıyorlar.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231136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542032"/>
            <a:ext cx="512064" cy="512064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pic>
        <p:nvPicPr>
          <p:cNvPr id="8" name="Image 1" descr="img/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680289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54203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Tozu (Monoamonyum fosfat)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88950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yüzeylere zarar verir, toprak yapısını bozar ve su kaynaklarını kirletir. F sınıfı (bitkisel yağ) yangınlarında etkisizdir.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231136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2542032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3" name="Image 2" descr="img/icons/lun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680289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54203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Söndürücüler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88950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alanlarda ortam oksijen konsantrasyonunu tehlikeli seviyelere düşürür; boğulma riski yaratır.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9867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8408" y="42976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8" name="Image 3" descr="img/icons/eart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43593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2976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Halojenli Söndürücüler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645152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 tabakasına zarar verir. Montreal Protokolü kapsamında kullanımı kısıtlanmıştır.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9867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42976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3" name="Image 4" descr="img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43593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2976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Dışa Bağımlılık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645152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Hammaddenin büyük bölümü ithal edilir; kur dalgalanmaları maliyeti doğrudan etkiler.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72414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yangını söndüren ürünün kendisi, ikinci bir çevre ve sağlık sorunu hâline geliyor.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 ve Teknoloji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ExtinGard'ın ne olduğu, nelerden oluştuğu ve nasıl çalıştığı.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powder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989320"/>
            <a:ext cx="4663440" cy="868680"/>
          </a:xfrm>
          <a:prstGeom prst="rect">
            <a:avLst/>
          </a:prstGeom>
          <a:solidFill>
            <a:srgbClr val="07281D">
              <a:alpha val="75000"/>
            </a:srgbClr>
          </a:solidFill>
          <a:ln w="12700">
            <a:solidFill>
              <a:srgbClr val="07281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411480" y="6236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tozu — laboratuvar üretimi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457200"/>
            <a:ext cx="6202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694944"/>
            <a:ext cx="6202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 Nedir?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303520" y="1572768"/>
            <a:ext cx="62023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ExtinGard, geri dönüştürülmüş yumurta kabuğu ve doğal minerallerden oluşan, kimyasal kalıntı bırakmayan yeni nesil bir yangın söndürme tozudur. Yanma üçgeninin üç köşesine aynı anda müdahale eder.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303520" y="26883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14416" y="2578608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doğal içerikli: toksik gaz salmaz, kapalı alanlarda güvenle kullanılabilir.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303520" y="326440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14416" y="3154680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Biyobozunur: yangın sonrası temizlik ve bertaraf maliyeti yaratmaz.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303520" y="384048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14416" y="3730752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kapsam: A, B, C ve F sınıfı yangınlarda etkili olduğu testlerle gözlemlenmiştir.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303520" y="4416552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14416" y="4306824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Ekonomik: 0,0497 TL/g birim maliyetle ABC tozundan 5–6 kat daha ucuz.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303520" y="499262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14416" y="4882896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yerli: hammadde tedarik zinciri tamamen Türkiye içinde.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03520" y="556869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14416" y="5458968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Patentli: TÜRKPATENT 11 istemin tamamını olumlu değerlendirdi.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Patentli Formülasyon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bileşim, 2025/021562 numaralı patent başvurusunun birinci isteminde birebir tanımlanmıştır.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39696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3E8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6968" y="2194560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%50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01368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Yumurta kabuğu (CaCO₃ kaynağı)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19456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dönüştürülmüş biyo-atık. Isıyla CO₂ salarak oksijeni seyreltir.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761488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86968" y="2816352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801368" y="28163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Magnezyum hidroksit — Mg(OH)₂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81635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Endotermik bozunur; ısıyı emer ve su buharı açığa çıkarır.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383280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86968" y="3438144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801368" y="34381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Kalsiyum hidroksit — Ca(OH)₂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3814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yüksek sıcaklıkta devreye girerek soğutmayı sürdürür.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4005072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86968" y="405993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801368" y="40599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Alüminyum hidroksit — Al(OH)₃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405993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buharı salar, alev yayılımını geciktirir.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" y="4626864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86968" y="468172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801368" y="46817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Kaolin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68172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Isıya dayanıklı mineral örtü tabakası oluşturur.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5800" y="5248656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86968" y="5303520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801368" y="53035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Magnezyum stearat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53035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Topaklanmayı önler, tozun akışkanlığını sağlar.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59070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Bileşim patent başvurusuyla birlikte yayımlanmıştır; paylaşılmasında sakınca yoktur.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 Prensibi: Üçlü Mekanizma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Yanma için üç şey gerekir: yakıt, oksijen ve ısı. ExtinGard üçüne de aynı anda müdahale eder.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96696" y="2414016"/>
            <a:ext cx="603504" cy="60350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8" name="Image 1" descr="img/icons/coo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42" y="2576962"/>
            <a:ext cx="277612" cy="2776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Isıyı Emer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96696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 350 °C'de, Ca(OH)₂ 512 °C'de endotermik olarak bozunur. Bu tepkimeler ortamdan ısı çekerek sıcaklığı düşürür ve su buharı açığa çıkarır.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70832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2414016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3" name="Image 2" descr="img/icons/win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674" y="2576962"/>
            <a:ext cx="277612" cy="2776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81728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Oksijeni Seyreltir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81728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Yumurta kabuğundaki CaCO₃ 840 °C'de bozunarak CO₂ salar. Açığa çıkan gaz, alevin çevresindeki oksijen oranını düşürerek yanmayı boğar.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55864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414016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8" name="Image 3" descr="img/icons/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706" y="2576962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6676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Bariyer Oluşturur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66760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Al(OH)₃ ve kaolin, yanan yüzeyde ısıya dayanıklı bir mineral örtü tabakası oluşturur. Bu tabaka yakıtın oksijenle temasını keser.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532180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mekanizmanın birlikte çalışması, alevin yayılmasını engeller ve yeniden tutuşma riskini düşürür.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Bilimsel Temel: Kimyasal Reaksiyonlar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93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Söndürme etkisinin arkasında, belirli sıcaklıklarda devreye giren endotermik bozunma tepkimeleri vardır. Endotermik tepkime, ortamdan ısı çeker — yani yangını soğutur.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340864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41401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Alüminyum hidroksit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24140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Al(OH)₃  →  Al₂O₃ + 3 H₂O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41401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°C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41401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buharı açığa çıkar, alev seyrelir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3200400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60120" y="32735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Magnezyum hidroksit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2735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Mg(OH)₂  →  MgO + H₂O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27355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°C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2735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 emilir, ortam soğur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059936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60120" y="41330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Kalsiyum hidroksit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413308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Ca(OH)₂  →  CaO + H₂O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413308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°C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13308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= +109,5 kJ/mol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4919472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60120" y="4992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Kalsiyum karbonat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499262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CaCO₃  →  CaO + CO₂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499262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 °C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= +178 kJ/mol; oksijen seyrelir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5797296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Bileşenlerin farklı sıcaklıklarda devreye girmesi, söndürme etkisinin yangının tüm evrelerine yayılmasını sağlar.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Protokolü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süreci patent isteminde tanımlandığı şekliyle standardize edilmiştir; tekrarlanabilir ve ölçeklenebilir.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39696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53896" y="2121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Yumurta kabuğu temizleme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53896" y="2450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dönüştürülmüş yumurta kabukları iç zarlarından ayrılır ve temizlenir.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53896" y="30906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Kurutma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53896" y="341985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Temizlenen kabuklar, nem içeriği kontrol edilerek kurutulur. Raf ömrü için kritik adım.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407822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53896" y="40599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Öğütme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53896" y="43891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Kurutulmuş kabuklar kaolin ile birlikte öğütülerek ince toz hâline getirilir.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5047488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53896" y="50292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Karıştırma ve eleme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53896" y="53583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Mg(OH)₂, Ca(OH)₂, Al(OH)₃ ve magnezyum stearat belirlenen oranlarda eklenir; karışım homojen yapı oluşana dek elenir.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73568" y="2139696"/>
            <a:ext cx="3529584" cy="2615184"/>
          </a:xfrm>
          <a:prstGeom prst="roundRect">
            <a:avLst>
              <a:gd name="adj" fmla="val 349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pic>
        <p:nvPicPr>
          <p:cNvPr id="23" name="Image 1" descr="img/powd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37576" y="2203704"/>
            <a:ext cx="3401568" cy="248716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73568" y="48097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Protokole göre üretilen ExtinGard tozu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973568" y="5138928"/>
            <a:ext cx="3529584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211312" y="52486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yerli hammadde — tedarik zinciri tamamen Türkiye içinde.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ve Doğrulama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gerçekten çalıştığını nasıl kanıtladık.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Yöntemimiz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Ürünü, farklı yangın sınıflarını temsil eden yedi ayrı yanıcı malzeme üzerinde kontrollü koşullarda test ettik.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579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4688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8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60713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4688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Kontrollü ortam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816352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Testler laboratuvar ve kontrollü açık alan koşullarında, sabit miktarda toz kullanılarak yürütüldü.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1579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2468880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3" name="Image 2" descr="img/icons/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60713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4688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Ölçülen parametreler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816352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Söndürme süresi, alev yayılım hızı, yeniden tutuşma olup olmadığı ve yüzeyde kalıntı durumu kaydedildi.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913632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8408" y="4224528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8" name="Image 3" descr="img/icons/microscop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36278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2245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Tekrarlanabilirlik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572000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malzeme için deney birden fazla kez tekrarlandı; testlerin büyük bölümü video kaydına alındı.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913632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42245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23" name="Image 4" descr="img/icons/helm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362785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2245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Bağımsız gözlem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572000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testleri Bursa İtfaiye Arama Kurtarma ve Müdahale Birimleri ile ortaklaşa gerçekleştirildi.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85800" y="5614416"/>
            <a:ext cx="10820095" cy="566928"/>
          </a:xfrm>
          <a:prstGeom prst="roundRect">
            <a:avLst>
              <a:gd name="adj" fmla="val 17742"/>
            </a:avLst>
          </a:prstGeom>
          <a:solidFill>
            <a:srgbClr val="FFF6EC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960120" y="5705856"/>
            <a:ext cx="10271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 notu: Testler kendi imkânlarımızla ve itfaiye desteğiyle yapılmıştır. TS EN 615 sertifikasyon testleri henüz tamamlanmamıştır.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Sonuçları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yanıcı malzemenin tamamında başarılı söndürme gözlemlendi.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48256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371600"/>
                <a:gridCol w="57908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Yanıcı Malzeme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Yangın Sınıfı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Gözlem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Kâğıt / Karton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Alev yayılımı anında durdu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 sönme gözlemlendi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Polyester Kumaş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Sentetik yapıya rağmen etkili söndürme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Yüzey filmlenmesiyle alev ~5 sn'de baskılandı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Sıvı yüzeyde yayılma engellendi; 6–8 sn'de söndürüldü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 alevi 3–4 sn'de kesildi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Sıvı Yağ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Yağ yüzeyi soğutulup izole edildi; tam söndürme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 test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370832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B · C · F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4370832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Kapsanan yangın sınıfı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055864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8 sn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055864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Gözlemlenen söndürme süresi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fieldtest_di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5720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694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 ve Kurumsal Doğrulama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1609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sonuçlarını sahada, profesyonellerle birlikte sınadık.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85800" y="2286000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96696" y="2176272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İtfaiye Arama Kurtarma ve Müdahale Birimleri ile ortak saha testleri gerçekleştirildi.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85800" y="3145536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96696" y="3035808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Tatbikat sahası kullanımı için niyet mektubu görüşmeleri başlatıldı.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4005072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96696" y="3895344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Testlerin büyük bölümü tekrarlanabilirlik kanıtı olarak video kaydına alındı.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864608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96696" y="4754880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Girişim Merkezi DENEYAP Girişim Programı'nda iş modeli ve IP stratejisi değerlendirmesi alındı.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6144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Ölçülen saha parametreleri: söndürme süresi · alev yayılım hızı · CO₂ salınımı · güvenlik etkisi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certific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Fikri Mülkiyet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Markamız tescilli, patentimiz onaylandı.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FİKRİ MÜLKİYET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Tescili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"ExtinGard" markası Türk Patent ve Marka Kurumu nezdinde tescil edilmiş ve tescil belgesi düzenlenmiştir.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21408"/>
            <a:ext cx="5276088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432304"/>
            <a:ext cx="640080" cy="64008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8" name="Image 1" descr="img/icons/certific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2598725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56232" y="25420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EXTİNGARD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No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697480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2026/001631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3767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Tarihi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7673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06.01.2026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Tescil Tarihi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4224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04.06.2026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4681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 Süresi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697480" y="4681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06.01.2026 – 06.01.2036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227064" y="2121408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Tescil Edilen Nice Sınıfları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27064" y="26151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46520" y="27889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465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013448" y="27340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söndürücü maddeler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013448" y="30083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Sanayide ve bilim sahasında kullanılan kimyasallar sınıfı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27064" y="35295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46520" y="37033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652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013448" y="36484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söndürme aletleri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013448" y="39227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söndürme alet ve cihazları, koruyucu donanımlar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27064" y="44439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46520" y="46177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46520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013448" y="45628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ve perakende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7013448" y="48371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Reklamcılık, pazarlama ve bu malların satış hizmetleri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685800" y="5577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sınıflı tescil, ürünü (toz), cihazı (söndürücü) ve satış faaliyetini birlikte koruma altına alır.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FİKRİ MÜLKİYET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"Doğal Bileşenlerden Oluşan Yangın Söndürücü Toz" buluşumuz için TÜRKPATENT inceleme sürecini tamamladı ve patent verilmesine karar verdi.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5276088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468880"/>
            <a:ext cx="603504" cy="60350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8" name="Image 1" descr="img/icons/stam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71" y="2625791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19656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Başvuru Bilgileri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218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No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880360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2025/021562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3547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Tarihi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3547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24.12.2025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3877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CPC Sınıfı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8036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A62D 1/00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 Sayısı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880360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27064" y="2176272"/>
            <a:ext cx="5276088" cy="2286000"/>
          </a:xfrm>
          <a:prstGeom prst="roundRect">
            <a:avLst>
              <a:gd name="adj" fmla="val 4400"/>
            </a:avLst>
          </a:prstGeom>
          <a:solidFill>
            <a:srgbClr val="EDF5E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56248" y="24323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 RAPORU SONUCU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56248" y="2834640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1" name="Image 2" descr="img/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190" y="2918582"/>
            <a:ext cx="143012" cy="1430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5160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Yenilik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798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Olumlu — 11 istemin tamamı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56248" y="3346704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5" name="Image 3" descr="img/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190" y="3430646"/>
            <a:ext cx="143012" cy="1430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5160" y="3310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Buluş basamağı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098280" y="3310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Olumlu — 11 istemin tamamı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56248" y="3858768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9" name="Image 4" descr="img/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90" y="3942710"/>
            <a:ext cx="143012" cy="1430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3822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Sanayiye uygulanabilirlik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3822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Olumlu — 11 istemin tamamı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Süreç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685800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905256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24.12.2025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05256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454603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3674059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14.01.2026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3674059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raporu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223406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6442862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10.02.2026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442862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 talebi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992210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FF3E8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43" name="Text 36"/>
          <p:cNvSpPr txBox="1"/>
          <p:nvPr/>
        </p:nvSpPr>
        <p:spPr>
          <a:xfrm>
            <a:off x="9211666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25.08.2026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9211666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verilmesine karar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685800" y="59984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bültende yayımlandıktan sonra altı aylık üçüncü kişi itiraz süresi işler; itiraz gelmezse karar kesinleşir.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7" name="Footer Brand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5" name="Image 1" descr="img/icons/tre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Ticarileşme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Rekabet, maliyet, pazar ve bizi bekleyen yol.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TİCARİLEŞME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Rekabet Karşılaştırması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ExtinGard'ı piyasadaki iki yaygın kuru kimyevi tozla karşılaştırdık.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48256"/>
          <a:ext cx="1082009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2880360"/>
                <a:gridCol w="2761488"/>
                <a:gridCol w="27733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ExtinGard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Tozu (NaHCO₃)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Tozu (MAP)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Yangın sınıfı etkisi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ve F — en geniş kapsam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B,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— F sınıfında etkisiz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maliyet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0,0497 TL/g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 – 0,15 TL/g (≈3× pahalı)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 – 0,30 TL/g (≈5–6× pahalı)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Çevresel etki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Biyobozunur, kalıntı bırakmaz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Zararlı kalıntı bırakır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Toprak ve suya zararlı kalıntı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İnsan sağlığı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Toksik gaz salmaz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Solunum ve cilt için tahriş edici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Solunum ve cilt için tahriş edici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Yerlilik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 yerli hammadde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Dışa bağımlı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Dışa bağımlı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815584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ExtinGard, kapsam · maliyet · çevresel etki eksenlerinde aynı anda üstün olan tek seçenek.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TİCARİLEŞME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 Analizi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maliyet, ürünün yaygınlaşabilmesinin önündeki en büyük engeli kaldırıyor.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029968"/>
          <a:ext cx="6903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882128" y="2029968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101584" y="2212848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9" name="Image 1" descr="img/icons/mone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436" y="2312700"/>
            <a:ext cx="184343" cy="18434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595360" y="2176272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225.000 TL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8101584" y="2633472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ton/yıl kullanımda ABC tozuna kıyasla yıllık tasarruf (%82)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882128" y="3273552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8101584" y="3456432"/>
            <a:ext cx="384048" cy="38404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img/icons/sca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36" y="355628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95360" y="3419856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6×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8101584" y="3877056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tozuna göre birim maliyet avantajı; BC tozuna göre 3×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882128" y="4517136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2"/>
          <p:cNvSpPr/>
          <p:nvPr/>
        </p:nvSpPr>
        <p:spPr>
          <a:xfrm>
            <a:off x="8101584" y="4700016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img/icons/recycl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436" y="47998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95360" y="4663440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%100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8101584" y="5120640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Yerli ve biyo-atık kaynaklı hammadde — kur riski yok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TİCARİLEŞME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Pazar Analizi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kısıtlamaları ve iklim kaynaklı yangın artışı, çevre dostu söndürücüler için elverişli bir zamanlama yaratıyor.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78408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5,02 Mr $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PFAS'sız yangın söndürücü segmenti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63440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60,3 M $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adreslenebilir pazar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55864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48472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0,30 M $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yıl hedef pazar payı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4183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</p:sp>
      <p:pic>
        <p:nvPicPr>
          <p:cNvPr id="20" name="Image 1" descr="img/icons/globe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4594860"/>
            <a:ext cx="192024" cy="1920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3560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33,5 Mr $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41832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yangın söndürme pazarı (2024)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54603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10635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</p:sp>
      <p:pic>
        <p:nvPicPr>
          <p:cNvPr id="25" name="Image 2" descr="img/icons/trend_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647" y="4594860"/>
            <a:ext cx="192024" cy="1920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04411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%18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3710635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PFAS'sız segmentin yıllık büyümesi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223406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79438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</p:sp>
      <p:pic>
        <p:nvPicPr>
          <p:cNvPr id="30" name="Image 3" descr="img/icons/fire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594860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73214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6479438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yangın sıklığındaki artış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992210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24824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</p:sp>
      <p:pic>
        <p:nvPicPr>
          <p:cNvPr id="35" name="Image 4" descr="img/icons/flag_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254" y="4594860"/>
            <a:ext cx="192024" cy="19202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4201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2023+</a:t>
            </a:r>
            <a:endParaRPr lang="en-US" sz="1900" dirty="0"/>
          </a:p>
        </p:txBody>
      </p:sp>
      <p:sp>
        <p:nvSpPr>
          <p:cNvPr id="37" name="Text 30"/>
          <p:cNvSpPr txBox="1"/>
          <p:nvPr/>
        </p:nvSpPr>
        <p:spPr>
          <a:xfrm>
            <a:off x="9248242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PFAS kısıtlama direktifleri yürürlükte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TİCARİLEŞME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Modeli ve Hedef Kitle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kanallı, aşamalı bir pazara çıkış planlıyoruz. Her aşama bir sonrakinin güven altyapısını kuruyor.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322576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8" name="Image 1" descr="img/icons/gov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40" y="2455896"/>
            <a:ext cx="227137" cy="2271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79192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ÖNCELİK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B2G — Kamu Tedariki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Orman Genel Müdürlüğü, AFAD ve belediyeler. Büyük hacimli, tekrarlayan tedarik.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0832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45152" y="2322576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4" name="Image 2" descr="img/icons/industr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2" y="2455896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64224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ÖNCELİK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645152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Kurumsal Satış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4645152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 tesisleri, lojistik merkezleri ve enerji santralleri. Dolum anlaşmaları.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55864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30184" y="2322576"/>
            <a:ext cx="493776" cy="493776"/>
          </a:xfrm>
          <a:prstGeom prst="ellipse">
            <a:avLst/>
          </a:prstGeom>
          <a:solidFill>
            <a:srgbClr val="2C3A33"/>
          </a:solidFill>
          <a:ln w="12700">
            <a:solidFill>
              <a:srgbClr val="2C3A33"/>
            </a:solidFill>
            <a:prstDash val="solid"/>
          </a:ln>
        </p:spPr>
      </p:sp>
      <p:pic>
        <p:nvPicPr>
          <p:cNvPr id="20" name="Image 3" descr="img/icons/hou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504" y="2455896"/>
            <a:ext cx="227137" cy="2271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49256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8330184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— Bireysel Kit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330184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ve araç tipi mini söndürücü kitleri. Marka bilinirliği odaklı kanal.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" y="4224528"/>
            <a:ext cx="4974336" cy="1828800"/>
          </a:xfrm>
          <a:prstGeom prst="roundRect">
            <a:avLst>
              <a:gd name="adj" fmla="val 5500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960120" y="4407408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 Kurumlar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960120" y="490118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271016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kurumları — itfaiye, belediye, AFAD, OGM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60120" y="52029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271016" y="5093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 tesisleri — üretim, kimya ve gıda fabrikaları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60120" y="550468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271016" y="5394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merkezleri — depo, antrepo, dağıtım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60120" y="580644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271016" y="5696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santralleri ve batarya depoları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355080" y="4224528"/>
            <a:ext cx="4974336" cy="1828800"/>
          </a:xfrm>
          <a:prstGeom prst="roundRect">
            <a:avLst>
              <a:gd name="adj" fmla="val 5500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6629400" y="4407408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Profilleri</a:t>
            </a:r>
            <a:endParaRPr lang="en-US" sz="1550" dirty="0"/>
          </a:p>
        </p:txBody>
      </p:sp>
      <p:sp>
        <p:nvSpPr>
          <p:cNvPr id="36" name="Shape 30"/>
          <p:cNvSpPr/>
          <p:nvPr/>
        </p:nvSpPr>
        <p:spPr>
          <a:xfrm>
            <a:off x="6629400" y="4901184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940296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yöneticileri — yatırım kararını verenler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629400" y="5202936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940296" y="5093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 sorumluları — tedarik birimleri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629400" y="5504688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940296" y="5394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güvenliği uzmanları ve EHS personeli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629400" y="5806440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940296" y="5696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İtfaiye ekipleri ve yangın güvenliği danışmanları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TİCARİLEŞME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 Haritası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Önümüzdeki 12 ayda sertifikasyon ve pilot üretim odaklı ilerleyeceğiz.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34086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– Eyl 2026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 testleri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İtfaiye tatbikat sahasında kontrollü testler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Nicel söndürme verisi ve teknik rapor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54603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28923" y="234086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28923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 – Ara 2026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728923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Sertifikasyon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728923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EN 615 standardına başvuru süreci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728923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728923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uyumluluk belgesi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23406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7726" y="234086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7726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7726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 – Mar 2027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97726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üretim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7726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üretim hattının kurulması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497726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497726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B2B satış sözleşmeleri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992210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266530" y="234086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6653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266530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Haz 2027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266530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Yatırım ve ihracat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266530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 turu ve ihracat stratejisi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266530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266530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sermaye + KOBİ hibe başvurusu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85800" y="5614416"/>
            <a:ext cx="10820095" cy="566928"/>
          </a:xfrm>
          <a:prstGeom prst="roundRect">
            <a:avLst>
              <a:gd name="adj" fmla="val 17742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960120" y="5724144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vade: PCT uluslararası patent genişlemesi — öncelikli pazarlar AB (EPO) ve Körfez ülkeleri.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REFERANSLAR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Başarılar ve Kurumsal İlişkiler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4206240" cy="4078224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69848" y="210312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7" name="Image 1" descr="img/icons/aw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08" y="2307580"/>
            <a:ext cx="377464" cy="377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69848" y="3108960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2.lik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069848" y="3950208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Üsküdar Üniversitesi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Bilim ve Fikir Festivali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069848" y="4736592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kategorisinde ikincilik ödülü — projenin bilimsel geçerliliğinin bağımsız bir jüri tarafından onayı.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40680" y="1865376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2" name="Image 2" descr="img/icon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00" y="1998696"/>
            <a:ext cx="227137" cy="2271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53912" y="1847088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Girişim Merkezi – DENEYAP Girişim Programı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153912" y="2176272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kampına katılım; iş modeli ve IP stratejisi değerlendirmesi alındı.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40680" y="2889504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16" name="Image 3" descr="img/icons/helme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00" y="3022824"/>
            <a:ext cx="227137" cy="2271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53912" y="2871216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Bursa İtfaiye Arama Kurtarma ve Müdahale Birimleri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53912" y="3200400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saha testleri ve profesyonel teknik değerlendirme görüşmeleri.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40680" y="3913632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20" name="Image 4" descr="img/icons/microscop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000" y="4046952"/>
            <a:ext cx="227137" cy="2271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53912" y="3895344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BTSO Kamil Tolon Bilim ve Sanat Merkezi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153912" y="4224528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geliştirildiği Ar-Ge ortamı ve laboratuvar altyapısı.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40680" y="4937760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24" name="Image 5" descr="img/icons/certificat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000" y="5071080"/>
            <a:ext cx="227137" cy="2271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153912" y="4919472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 Patent ve Marka Kurumu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153912" y="5248656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Tescilli marka (2026/001631) ve onaylı patent başvurusu (2025/021562).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ExtinGard, bir okul projesinden tescilli ve patentli bir ürüne dönüştü.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2103120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2395728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8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53398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395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Bilimsel temel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743200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Üçlü söndürme mekanizması, kademeli sıcaklıklarda devreye giren endotermik tepkimelere dayanıyor.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103120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23957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3" name="Image 2" descr="img/icons/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53398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395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Kanıtlanmış performans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743200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farklı yanıcı malzemede başarılı söndürme; A, B, C ve F sınıflarında etki.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803904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8408" y="4096512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18" name="Image 3" descr="img/icons/certificat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234769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0965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Korunan fikri mülkiyet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44398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TÜRKPATENT tescilli marka ve 11 istemi onaylanmış patent başvurusu.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803904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4096512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23" name="Image 4" descr="img/icons/tren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234769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0965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Hazır pazar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44398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kısıtlamaları ve maliyet avantajı, B2G ve B2B kanallarında net bir açık bırakıyor.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65099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adım: TS EN 615 sertifikasyonu ve pilot üretim hattı.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Kaynakça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664208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H., Roberts, L., &amp; Kim, S. (2023). Plant-Based Fire Retardants: A New Approach to Sustainable Fire Safety. Green Chemistry, 12(4), 312–328.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112264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(2019). Ozone-Depleting Substances and Fire Suppressants. Environmental Protection Agency.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6032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(2023). Climate Change 2023: Synthesis Report. Intergovernmental Panel on Climate Change.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00837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Kırtaş, H. A., &amp; Altundağ, H. (2023). Taşınabilir Yangın Söndürme Cihazlarının Üretimi, Dolumu ve Bakımı. Uluslararası Yakıtlar Yanma ve Yangın Dergisi, 11(1), 91–103.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45643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K., Smith, J., &amp; Walker, P. (2021). Health Impacts of Fire Suppressant Chemicals: A Review. Environmental Research, 56(3), 223–240.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904488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Miller, R., &amp; Carter, D. (2022). Calcium Carbonate in Fire Suppression Applications. Journal of Chemical Studies, 38(1), 55–67.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4352544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Orman Genel Müdürlüğü (2023). Türkiye'de Orman Yangınları İstatistikleri ve Müdahale Stratejileri. T.C. Tarım ve Orman Bakanlığı.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800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Patent ve Marka Kurumu (2026). Marka Tescil Belgesi, Tescil No 2026/001631.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524865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Patent ve Marka Kurumu (2026). İnceleme Raporu ve Belge Kararı, Başvuru No 2025/021562.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569671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(2022). Spreading Like Wildfire: The Rising Threat of Extraordinary Landscape Fires. United Nations Environment Programme.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Takımı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1536192" cy="105338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39696"/>
            <a:ext cx="10058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 Ederiz</a:t>
            </a:r>
            <a:endParaRPr lang="en-US" sz="5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218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teşekkürler. Sorularınızı memnuniyetle yanıtlarız.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685800" y="4114800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7" name="Image 2" descr="img/icons/mai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253057"/>
            <a:ext cx="235549" cy="23554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1732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41732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extingard@gmail.com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6355080" y="4114800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1" name="Image 3" descr="img/icons/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37" y="4253057"/>
            <a:ext cx="235549" cy="23554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08660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08660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0542 245 24 46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685800" y="5138928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</p:sp>
      <p:pic>
        <p:nvPicPr>
          <p:cNvPr id="15" name="Image 4" descr="img/icons/instagram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5277185"/>
            <a:ext cx="235549" cy="23554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1732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41732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@extingard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6355080" y="51389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</p:sp>
      <p:pic>
        <p:nvPicPr>
          <p:cNvPr id="19" name="Image 5" descr="img/icons/linkedin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337" y="5277185"/>
            <a:ext cx="235549" cy="2355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8660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708660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550" dirty="0"/>
          </a:p>
        </p:txBody>
      </p:sp>
      <p:sp>
        <p:nvSpPr>
          <p:cNvPr id="22" name="Text 14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TÜRKPATENT tescilli marka (2026/001631) ve onaylı patent başvurusu (2025/021562)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Ateş Kes Teknoloji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ExtinGard Detaylı Sunum</dc:title>
  <dc:subject>PptxGenJS Presentation</dc:subject>
  <dc:creator>Ateş Kes Teknoloji</dc:creator>
  <cp:lastModifiedBy>Ateş Kes Teknoloji</cp:lastModifiedBy>
  <cp:revision>1</cp:revision>
  <dcterms:created xsi:type="dcterms:W3CDTF">2026-09-20T21:04:36Z</dcterms:created>
  <dcterms:modified xsi:type="dcterms:W3CDTF">2026-09-20T21:04:36Z</dcterms:modified>
</cp:coreProperties>
</file>
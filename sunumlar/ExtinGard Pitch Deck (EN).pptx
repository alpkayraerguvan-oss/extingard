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5-2.jpg" ContentType="image/jpg"/>
  <Override PartName="/ppt/media/image-7-2.jpg" ContentType="image/jpg"/>
  <Override PartName="/ppt/media/image-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F7F7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F7F76"/>
                </a:solidFill>
                <a:latin typeface="Calibri"/>
              </a:rPr>
              <a:t>Unit cost (TL / kg)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TL / kg</c:v>
                </c:pt>
              </c:strCache>
            </c:strRef>
          </c:tx>
          <c:spPr>
            <a:solidFill>
              <a:srgbClr val="B9C7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C3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7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B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3A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FA5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6B3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Halon extinguisher</c:v>
                  </c:pt>
                  <c:pt idx="1">
                    <c:v>CO₂ extinguisher</c:v>
                  </c:pt>
                  <c:pt idx="2">
                    <c:v>ABC powder (MAP)</c:v>
                  </c:pt>
                  <c:pt idx="3">
                    <c:v>BC powder (NaHCO₃)</c:v>
                  </c:pt>
                  <c:pt idx="4">
                    <c:v>ExtinGard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475</c:v>
                </c:pt>
                <c:pt idx="2">
                  <c:v>275</c:v>
                </c:pt>
                <c:pt idx="3">
                  <c:v>135</c:v>
                </c:pt>
                <c:pt idx="4">
                  <c:v>49.7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C3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C3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0"/>
        <c:axPos val="b"/>
        <c:majorGridlines>
          <c:spPr>
            <a:ln w="12700" cap="flat">
              <a:solidFill>
                <a:srgbClr val="E6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7F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DCE6DE"/>
      </a:solidFill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ExtinGard is a fully domestic, biodegradable fire extinguishing powder made from recycled eggshell and natural minerals. It holds a TURKPATENT registered trademark and an allowed patent application. In this presentation we will share our registration process, our technology, our test results and our go-to-market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presentation has eight main sections. Sections can be skipped to suit the audience: 05–06 for investors, 03–04 for corporate buyers, 01–04 for a competition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carries the freshest news in the deck. The trademark registration protects the ExtinGard name in Nice classes 01, 09 and 35; the patent protects the invention 'Fire Extinguishing Powder Composed of Natural Components'. The TURKPATENT examination report found all 11 claims positive on novelty, inventive step and industrial applicability. Note: once the decision to grant is published in the bulletin, a six-month third-party opposition period runs; the decision becomes final at the end of it. The jury may note the numbers down, so keep printed copies of the certificates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has two layers: fires are increasing, and the extinguishants in use create serious environmental and health costs of their own. Sources: IPCC 2023; Kırtaş &amp; Altundağ 2023; Lee et al. 2021; EPA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ExtinGard's three core value propositions: natural content, broad fire-class coverage and cost leadership. No other product on the market offers all three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technical-depth slide, taken directly from the patent claims. Mg(OH)₂ and Ca(OH)₂ absorb heat through endothermic decomposition and release water vapour; the CaCO₃ in the eggshell releases CO₂ at 840 °C and dilutes oxygen; Al(OH)₃ and kaolin form a heat-resistant mineral blanket on the surface. Magnesium stearate prevents caking and keeps the powder free-flowing. The composition was published with the patent application, so there is no issue in sharing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 protocol is standardised exactly as defined in the patent claim and is reproducible. The next step is a pilot production line — scaling the milling and sieving steps to industrial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Controlled suppression tests were run on seven different combustible materials; all were successful. Most of the tests were captured on video. The transparency note matters: certification testing has not been done yet, and we say so openly.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validation is the step that moves us from a student project to a commercialisable product. The relationship built with the Bursa Fire Department means both technical feedback and, in time, a reference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 can be good on one axis; ExtinGard is good on all three. The fact that ABC powder is ineffective on class F (cooking oil) fires is a critical point of differentiation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cost advantage is not just about price, it is about accessibility. Large-scale stockpiling becomes economical for public institutions and municipalities. On the unit costs shown in the chart, the gap is roughly 10-fold against CO₂ extinguishers and roughly 20-fold against halon.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timing is in our favour: the EU's PFAS restrictions are forcing incumbents to reformulate, while we were PFAS-free from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B2G is our priority because a public reference brings both volume and credibility. The Bursa Fire Department relationship opens that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person who makes the purchase decision and the person who uses the product are usually different. We frame the message for each separately: cost and compliance for the decision-maker, safety and performance for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is certification-driven: without the TS EN 615 certificate we cannot enter public tenders. That makes Q2 the most critical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It carries three different kinds of validation: academic (Üsküdar), entrepreneurial (T3) and operational (Bursa Fire Department).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introduction. Three students with three clear areas of responsibility — R&amp;D, analysis and strategy — alongside project advisor Gülçin Sezen. The common thread: the technical grounding of DENEYAP and BİLSEM.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Move into the Q&amp;A from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chart" Target="../charts/chart1.xml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logo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691640" cy="115945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2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ATEŞ KES TECHNOLOGY VENTURE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30936" y="2359152"/>
            <a:ext cx="7772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ExtinGard</a:t>
            </a:r>
            <a:endParaRPr lang="en-US" sz="76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639312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domestic, biodegradable fire extinguishing powder from bio-waste.</a:t>
            </a:r>
            <a:endParaRPr lang="en-US" sz="16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eco-friendly fire safety solution of the future.</a:t>
            </a:r>
            <a:endParaRPr lang="en-US" sz="1650" dirty="0"/>
          </a:p>
        </p:txBody>
      </p:sp>
      <p:sp>
        <p:nvSpPr>
          <p:cNvPr id="7" name="Shape 3"/>
          <p:cNvSpPr/>
          <p:nvPr/>
        </p:nvSpPr>
        <p:spPr>
          <a:xfrm>
            <a:off x="685800" y="4617720"/>
            <a:ext cx="3310128" cy="457200"/>
          </a:xfrm>
          <a:prstGeom prst="roundRect">
            <a:avLst>
              <a:gd name="adj" fmla="val 4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E7D63"/>
            </a:solidFill>
            <a:prstDash val="solid"/>
          </a:ln>
        </p:spPr>
        <p:txBody>
          <a:bodyPr/>
          <a:p/>
        </p:txBody>
      </p:sp>
      <p:pic>
        <p:nvPicPr>
          <p:cNvPr id="8" name="Image 2" descr="img/icons/certificate_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754880"/>
            <a:ext cx="182880" cy="1828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61288" y="46177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TURKPATENT REGISTERED TRADEMARK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160520" y="4617720"/>
            <a:ext cx="3310128" cy="457200"/>
          </a:xfrm>
          <a:prstGeom prst="roundRect">
            <a:avLst>
              <a:gd name="adj" fmla="val 4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E7D63"/>
            </a:solidFill>
            <a:prstDash val="solid"/>
          </a:ln>
        </p:spPr>
        <p:txBody>
          <a:bodyPr/>
          <a:p/>
        </p:txBody>
      </p:sp>
      <p:pic>
        <p:nvPicPr>
          <p:cNvPr id="11" name="Image 3" descr="img/icons/stamp_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475488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636008" y="46177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APPLICATION ALLOWED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685800" y="55778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 Kayra ERGUVAN   ·   Ceyda Nur SÖYLEMEZ   ·   Havva Yaren AYDIN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85800" y="5852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Gülçin SEZEN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8762695" y="5705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44168" y="184708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and Intellectual Property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344168" y="214884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registration, patent decision, IP strategy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457200" cy="45720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355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13448" y="184708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Solution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7013448" y="214884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crisis, the chemical threat, ExtinGard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44168" y="294436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and Production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1344168" y="32461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suppression mechanism, production protocol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2971800"/>
            <a:ext cx="457200" cy="45720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55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013448" y="294436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7013448" y="32461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material tests, Bursa Fire Department field work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" y="4069080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858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344168" y="404164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and Cost</a:t>
            </a:r>
            <a:endParaRPr lang="en-US" sz="1650" dirty="0"/>
          </a:p>
        </p:txBody>
      </p:sp>
      <p:sp>
        <p:nvSpPr>
          <p:cNvPr id="24" name="Text 21"/>
          <p:cNvSpPr txBox="1"/>
          <p:nvPr/>
        </p:nvSpPr>
        <p:spPr>
          <a:xfrm>
            <a:off x="1344168" y="43434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comparison, unit cost analysis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355080" y="4069080"/>
            <a:ext cx="457200" cy="45720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013448" y="404164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and Business Model</a:t>
            </a:r>
            <a:endParaRPr lang="en-US" sz="1650" dirty="0"/>
          </a:p>
        </p:txBody>
      </p:sp>
      <p:sp>
        <p:nvSpPr>
          <p:cNvPr id="28" name="Text 25"/>
          <p:cNvSpPr txBox="1"/>
          <p:nvPr/>
        </p:nvSpPr>
        <p:spPr>
          <a:xfrm>
            <a:off x="7013448" y="43434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TAM–SAM–SOM, B2G / B2B channels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" y="5166360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68580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44168" y="513892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50" dirty="0"/>
          </a:p>
        </p:txBody>
      </p:sp>
      <p:sp>
        <p:nvSpPr>
          <p:cNvPr id="32" name="Text 29"/>
          <p:cNvSpPr txBox="1"/>
          <p:nvPr/>
        </p:nvSpPr>
        <p:spPr>
          <a:xfrm>
            <a:off x="1344168" y="544068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plan, certification and pilot production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355080" y="5166360"/>
            <a:ext cx="457200" cy="45720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6355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013448" y="513892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Contact</a:t>
            </a:r>
            <a:endParaRPr lang="en-US" sz="1650" dirty="0"/>
          </a:p>
        </p:txBody>
      </p:sp>
      <p:sp>
        <p:nvSpPr>
          <p:cNvPr id="36" name="Text 33"/>
          <p:cNvSpPr txBox="1"/>
          <p:nvPr/>
        </p:nvSpPr>
        <p:spPr>
          <a:xfrm>
            <a:off x="7013448" y="544068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Ateş Kes team and contact details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Trademark Is Registered, Our Patent Is Allowed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167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ExtinGard trademark has been registered and our patent application has been allowed.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1874520"/>
            <a:ext cx="5276088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69848" y="2203704"/>
            <a:ext cx="603504" cy="60350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certificat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759" y="2360615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19656" y="222199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· REGISTERED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819656" y="2441448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ExtinGard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1069848" y="3044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30449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2026/001631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069848" y="34655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Date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423160" y="34655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04.06.2026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069848" y="3886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Classes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423160" y="3886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09 · 35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1069848" y="43068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Period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423160" y="430682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06.01.2026 – 06.01.2036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27064" y="1874520"/>
            <a:ext cx="5276088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611112" y="2203704"/>
            <a:ext cx="603504" cy="60350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img/icons/stam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023" y="2360615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60920" y="222199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· DECISION TO GRANT ISSUED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7360920" y="2441448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Extinguishing Powder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6611112" y="3044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No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964424" y="30449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2025/021562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611112" y="34655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Date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964424" y="34655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24.12.2025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6611112" y="38862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Class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7964424" y="3886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A62D 1/00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6611112" y="43068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7964424" y="430682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25.08.2026 · Patent to be granted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85800" y="5102352"/>
            <a:ext cx="420624" cy="420624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33" name="Image 3" descr="img/icons/users_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5207508"/>
            <a:ext cx="210312" cy="21031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252728" y="50292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holders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1252728" y="528523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Gülçin Sezen · Alp Kayra Erguvan · Ceyda Nur Söylemez · Havva Yaren Aydın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227064" y="5102352"/>
            <a:ext cx="420624" cy="420624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37" name="Image 4" descr="img/icons/globe_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5207508"/>
            <a:ext cx="210312" cy="21031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793992" y="50292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6793992" y="528523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 international application — EU (EPO) and Gulf markets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Fire Crisis Is Growing — Existing Solutions Pollute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85800" y="1481328"/>
            <a:ext cx="3456432" cy="1115568"/>
          </a:xfrm>
          <a:prstGeom prst="roundRect">
            <a:avLst>
              <a:gd name="adj" fmla="val 9016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941832" y="160934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%30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21031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global fire frequency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230428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IPCC, 2023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70832" y="1481328"/>
            <a:ext cx="3456432" cy="1115568"/>
          </a:xfrm>
          <a:prstGeom prst="roundRect">
            <a:avLst>
              <a:gd name="adj" fmla="val 9016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626864" y="160934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$328 B</a:t>
            </a:r>
            <a:endParaRPr lang="en-US" sz="3100" dirty="0"/>
          </a:p>
        </p:txBody>
      </p:sp>
      <p:sp>
        <p:nvSpPr>
          <p:cNvPr id="11" name="Text 8"/>
          <p:cNvSpPr txBox="1"/>
          <p:nvPr/>
        </p:nvSpPr>
        <p:spPr>
          <a:xfrm>
            <a:off x="4626864" y="21031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economic loss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626864" y="230428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disasters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1481328"/>
            <a:ext cx="3456432" cy="1115568"/>
          </a:xfrm>
          <a:prstGeom prst="roundRect">
            <a:avLst>
              <a:gd name="adj" fmla="val 9016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311896" y="160934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80,000 ha</a:t>
            </a:r>
            <a:endParaRPr lang="en-US" sz="3100" dirty="0"/>
          </a:p>
        </p:txBody>
      </p:sp>
      <p:sp>
        <p:nvSpPr>
          <p:cNvPr id="15" name="Text 12"/>
          <p:cNvSpPr txBox="1"/>
          <p:nvPr/>
        </p:nvSpPr>
        <p:spPr>
          <a:xfrm>
            <a:off x="8311896" y="21031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burned per year in Türkiye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230428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2816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extinguishants suppress the fire but leave secondary damage behind: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3218688"/>
            <a:ext cx="2512771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60120" y="3493008"/>
            <a:ext cx="548640" cy="54864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img/icons/warn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3" y="3641141"/>
            <a:ext cx="252374" cy="25237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60120" y="4114800"/>
            <a:ext cx="19641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 Powder (MAP)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60120" y="4608576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 metal surfaces, degrades soil structure and contaminates water sources.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454603" y="3218688"/>
            <a:ext cx="2512771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3728923" y="3493008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5" name="Image 2" descr="img/icons/lun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3641141"/>
            <a:ext cx="252374" cy="25237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728923" y="4114800"/>
            <a:ext cx="19641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 Extinguishers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3728923" y="4608576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oxygen concentration to dangerous levels in enclosed spaces.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223406" y="3218688"/>
            <a:ext cx="2512771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6497726" y="3493008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30" name="Image 3" descr="img/icons/eart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3641141"/>
            <a:ext cx="252374" cy="25237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497726" y="4114800"/>
            <a:ext cx="19641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Halogenated Extinguishers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6497726" y="4608576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 the ozone layer; restricted under the Montreal Protocol.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8992210" y="3218688"/>
            <a:ext cx="2512771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9266530" y="3493008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35" name="Image 4" descr="img/icons/coin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4662" y="3641141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266530" y="4114800"/>
            <a:ext cx="19641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Dependence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9266530" y="4608576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raw material makes large-scale disaster response expensive.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powder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943600"/>
            <a:ext cx="5029200" cy="914400"/>
          </a:xfrm>
          <a:prstGeom prst="rect">
            <a:avLst/>
          </a:prstGeom>
          <a:solidFill>
            <a:srgbClr val="07281D">
              <a:alpha val="75000"/>
            </a:srgbClr>
          </a:solidFill>
          <a:ln w="12700">
            <a:solidFill>
              <a:srgbClr val="07281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 txBox="1"/>
          <p:nvPr/>
        </p:nvSpPr>
        <p:spPr>
          <a:xfrm>
            <a:off x="457200" y="6181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powder — laboratory production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669280" y="457200"/>
            <a:ext cx="5836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694944"/>
            <a:ext cx="58366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ExtinGard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1481328"/>
            <a:ext cx="5836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next-generation, fully natural extinguishing powder that attacks all three corners of the fire triangle at once.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669280" y="2395728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0" name="Image 2" descr="img/icons/leaf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13" y="2543861"/>
            <a:ext cx="252374" cy="2523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19088" y="2377440"/>
            <a:ext cx="50868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Bio-waste, 100% Natural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6419088" y="2706624"/>
            <a:ext cx="508680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from recycled eggshell and natural minerals. Releases no toxic gas and contains no PFAS.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669280" y="3840480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img/icons/shiel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413" y="3988613"/>
            <a:ext cx="252374" cy="25237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19088" y="3822192"/>
            <a:ext cx="50868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B · C · F Full Coverage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419088" y="4151376"/>
            <a:ext cx="508680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on solid, liquid, gas and cooking-oil fires. The widest class profile on the market.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669280" y="5285232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8" name="Image 4" descr="img/icons/coin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413" y="5433365"/>
            <a:ext cx="252374" cy="25237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19088" y="5266944"/>
            <a:ext cx="50868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Leadership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6419088" y="5596128"/>
            <a:ext cx="508680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of 0.0497 TL/g — 5–6× cheaper than ABC powder and 3× cheaper than BC powder.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Suppression Mechanism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167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patented composition absorbs heat · releases water vapour · dilutes oxygen — all at the same time.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1847088"/>
            <a:ext cx="2512771" cy="278892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60120" y="2139696"/>
            <a:ext cx="530352" cy="530352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coo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5" y="2282891"/>
            <a:ext cx="243962" cy="2439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74443" y="21762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°C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2779776"/>
            <a:ext cx="19641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Absorption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3127248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Mg(OH)₂  ·  20%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3566160"/>
            <a:ext cx="19641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endothermically; absorbs heat, cools the environment and releases water vapour.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54603" y="1847088"/>
            <a:ext cx="2512771" cy="278892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3728923" y="2139696"/>
            <a:ext cx="530352" cy="530352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img/icons/coo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118" y="2282891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43246" y="21762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°C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728923" y="2779776"/>
            <a:ext cx="19641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Heat Wave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3728923" y="3127248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Ca(OH)₂  ·  10%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3728923" y="3566160"/>
            <a:ext cx="19641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at a higher temperature and sustains the cooling effect.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23406" y="1847088"/>
            <a:ext cx="2512771" cy="278892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97726" y="2139696"/>
            <a:ext cx="530352" cy="530352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22" name="Image 3" descr="img/icons/win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921" y="2282891"/>
            <a:ext cx="243962" cy="24396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12050" y="21762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840 °C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97726" y="2779776"/>
            <a:ext cx="19641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 Dilution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6497726" y="3127248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Eggshell  ·  50%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497726" y="3566160"/>
            <a:ext cx="19641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CaCO₃ decomposes; the released CO₂ lowers ambient oxygen and smothers the flame.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992210" y="1847088"/>
            <a:ext cx="2512771" cy="278892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9266530" y="2139696"/>
            <a:ext cx="530352" cy="530352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29" name="Image 4" descr="img/icons/layer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725" y="2282891"/>
            <a:ext cx="243962" cy="24396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480853" y="21762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 °C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266530" y="2779776"/>
            <a:ext cx="19641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 Blanket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9266530" y="3127248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Al(OH)₃ + Kaolin  ·  18%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9266530" y="3566160"/>
            <a:ext cx="19641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water vapour and forms a heat-resistant blanket layer on the surface.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685800" y="4919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 COMPOSITION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685800" y="515721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eggshell  ·  20% Mg(OH)₂  ·  10% Ca(OH)₂  ·  10% Al(OH)₃  ·  8% kaolin  ·  2% magnesium stearate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685800" y="55046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TURKPATENT examination report assessed all 11 claims positively for novelty, inventive step and industrial applicability.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Protocol in Four Steps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85800" y="1700784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85800" y="1700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99032" y="16733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Eggshell cleaning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99032" y="198424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shells are separated from their membranes and cleaned.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688336"/>
            <a:ext cx="493776" cy="49377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85800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99032" y="26609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Drying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99032" y="297180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shells are dried under controlled moisture content.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3675888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85800" y="3675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99032" y="36484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Milling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99032" y="395935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dried shells are milled together with kaolin into a fine powder.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4663440"/>
            <a:ext cx="493776" cy="49377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85800" y="4663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99032" y="46360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Mixing and sieving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399032" y="494690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Mg(OH)₂, Ca(OH)₂, Al(OH)₃ and magnesium stearate are added at the specified ratios and sieved until homogeneous.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67728" y="1700784"/>
            <a:ext cx="4535424" cy="3063240"/>
          </a:xfrm>
          <a:prstGeom prst="roundRect">
            <a:avLst>
              <a:gd name="adj" fmla="val 298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2" name="Image 1" descr="img/powd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31736" y="1764792"/>
            <a:ext cx="4407408" cy="29352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67728" y="4837176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powder produced to the protocol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967728" y="5047488"/>
            <a:ext cx="4535424" cy="841248"/>
          </a:xfrm>
          <a:prstGeom prst="roundRect">
            <a:avLst>
              <a:gd name="adj" fmla="val 1195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1"/>
          <p:cNvSpPr txBox="1"/>
          <p:nvPr/>
        </p:nvSpPr>
        <p:spPr>
          <a:xfrm>
            <a:off x="7242048" y="5175504"/>
            <a:ext cx="3986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domestic raw material — the supply chain is entirely within Türkiye.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Results: 7 Materials, 7 Successes</a:t>
            </a:r>
            <a:endParaRPr lang="en-US" sz="3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7632"/>
          <a:ext cx="1082009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914400"/>
                <a:gridCol w="1417320"/>
                <a:gridCol w="615665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Combustible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Cardboard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Flame spread stopped immediately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extinction observed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Polyester Fabric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suppression despite the synthetic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 Thinner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filming suppressed the flame in ~5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across the liquid surface was prevented; extinguished in 6–8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flame cut off in 3–4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Cooking Oil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oil surface was cooled and isolated; complete extinction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5800" y="5138928"/>
            <a:ext cx="10820095" cy="822960"/>
          </a:xfrm>
          <a:prstGeom prst="roundRect">
            <a:avLst>
              <a:gd name="adj" fmla="val 12222"/>
            </a:avLst>
          </a:prstGeom>
          <a:solidFill>
            <a:srgbClr val="FFF6EC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923544" y="5340096"/>
            <a:ext cx="420624" cy="42062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clip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445252"/>
            <a:ext cx="210312" cy="2103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72184" y="524865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were carried out with our own means and jointly with the Bursa Fire Department. TS EN 615 certification testing has not yet been completed — the certification application is on our roadmap.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fieldtest_di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97880" y="0"/>
            <a:ext cx="629381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572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69494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in the Field, Together With the Fire Department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685800" y="1938528"/>
            <a:ext cx="402336" cy="402336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7" name="Image 2" descr="img/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" y="2051182"/>
            <a:ext cx="177028" cy="1770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9304" y="1901952"/>
            <a:ext cx="4197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field tests were conducted with the Bursa Fire Department Search, Rescue and Response Units.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685800" y="2852928"/>
            <a:ext cx="402336" cy="402336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10" name="Image 3" descr="img/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" y="2965582"/>
            <a:ext cx="177028" cy="17702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9304" y="2816352"/>
            <a:ext cx="4197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Letter-of-intent talks have begun for the use of the training ground.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685800" y="3767328"/>
            <a:ext cx="402336" cy="402336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13" name="Image 4" descr="img/icons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" y="3879982"/>
            <a:ext cx="177028" cy="17702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89304" y="3730752"/>
            <a:ext cx="4197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tests were recorded on video as evidence of reproducibility.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685800" y="4681728"/>
            <a:ext cx="402336" cy="402336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16" name="Image 5" descr="img/icons/che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454" y="4794382"/>
            <a:ext cx="177028" cy="17702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9304" y="4645152"/>
            <a:ext cx="4197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 and IP strategy were reviewed at the T3 Entrepreneurship Centre DENEYAP Entrepreneurship Programme.</a:t>
            </a:r>
            <a:endParaRPr lang="en-US" sz="1250" dirty="0"/>
          </a:p>
        </p:txBody>
      </p:sp>
      <p:sp>
        <p:nvSpPr>
          <p:cNvPr id="18" name="Text 10"/>
          <p:cNvSpPr txBox="1"/>
          <p:nvPr/>
        </p:nvSpPr>
        <p:spPr>
          <a:xfrm>
            <a:off x="685800" y="55961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 parameters: extinguishing time · flame spread rate · CO₂ release · safety impact</a:t>
            </a:r>
            <a:endParaRPr lang="en-US" sz="1100" dirty="0"/>
          </a:p>
        </p:txBody>
      </p:sp>
      <p:sp>
        <p:nvSpPr>
          <p:cNvPr id="19" name="Text 11"/>
          <p:cNvSpPr txBox="1"/>
          <p:nvPr/>
        </p:nvSpPr>
        <p:spPr>
          <a:xfrm>
            <a:off x="4343400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Market Products</a:t>
            </a:r>
            <a:endParaRPr lang="en-US" sz="3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7632"/>
          <a:ext cx="10820095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2880360"/>
                <a:gridCol w="2761488"/>
                <a:gridCol w="277337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ExtinGard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Powder (NaHCO₃)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Powder (MAP)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class effectiveness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 and F — the widest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and C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 — ineffective on class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0.0497 TL/g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– 0.15 TL/g (≈3× more expensive)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– 0.30 TL/g (≈5–6× more expensive)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Biodegradable, leaves no residue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harmful residue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Residue harmful to soil and water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Releases no toxic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Irritant to the respiratory tract and skin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Irritant to the respiratory tract and skin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+ 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Broad, but ineffective on class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domestic raw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Import-dependent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Import-dependent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85800" y="572414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is the only option that leads on three axes at once: coverage, cost and environmental impact.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Leader on Unit Cost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609344"/>
          <a:ext cx="6903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882128" y="1609344"/>
            <a:ext cx="3623767" cy="1225296"/>
          </a:xfrm>
          <a:prstGeom prst="roundRect">
            <a:avLst>
              <a:gd name="adj" fmla="val 820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8119872" y="1828800"/>
            <a:ext cx="402336" cy="40233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mone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479" y="1933407"/>
            <a:ext cx="193121" cy="19312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31936" y="1792224"/>
            <a:ext cx="2663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225,000 TL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8119872" y="2286000"/>
            <a:ext cx="3166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against ABC powder at 1 tonne/year usage (82%)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882128" y="2999232"/>
            <a:ext cx="3623767" cy="1225296"/>
          </a:xfrm>
          <a:prstGeom prst="roundRect">
            <a:avLst>
              <a:gd name="adj" fmla="val 820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8119872" y="3218688"/>
            <a:ext cx="402336" cy="40233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mg/icons/scal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479" y="3323295"/>
            <a:ext cx="193121" cy="19312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631936" y="3182112"/>
            <a:ext cx="2663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– 6×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8119872" y="3675888"/>
            <a:ext cx="3166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advantage over ABC powder; 3× over BC powder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7882128" y="4389120"/>
            <a:ext cx="3623767" cy="1225296"/>
          </a:xfrm>
          <a:prstGeom prst="roundRect">
            <a:avLst>
              <a:gd name="adj" fmla="val 820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1"/>
          <p:cNvSpPr/>
          <p:nvPr/>
        </p:nvSpPr>
        <p:spPr>
          <a:xfrm>
            <a:off x="8119872" y="4608576"/>
            <a:ext cx="402336" cy="40233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img/icons/recycl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479" y="4713183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631936" y="4572000"/>
            <a:ext cx="2663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%100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8119872" y="5065776"/>
            <a:ext cx="3166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Domestic, bio-waste-derived raw material — no currency risk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Growing Market, at the Right Time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167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restrictions and the climate-driven rise in fires are creating a “blue ocean” for eco-friendly extinguishants.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1883664"/>
            <a:ext cx="3456432" cy="2011680"/>
          </a:xfrm>
          <a:prstGeom prst="roundRect">
            <a:avLst>
              <a:gd name="adj" fmla="val 500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96696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" y="24505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$5.02 B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996696" y="31821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PFAS-free fire extinguishant segment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0832" y="1883664"/>
            <a:ext cx="3456432" cy="2011680"/>
          </a:xfrm>
          <a:prstGeom prst="roundRect">
            <a:avLst>
              <a:gd name="adj" fmla="val 500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81728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81728" y="24505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$60.3 M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4681728" y="31821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 in Türkiye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55864" y="1883664"/>
            <a:ext cx="3456432" cy="2011680"/>
          </a:xfrm>
          <a:prstGeom prst="roundRect">
            <a:avLst>
              <a:gd name="adj" fmla="val 500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66760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4505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$0.30 M</a:t>
            </a:r>
            <a:endParaRPr 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31821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 market share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4261104"/>
            <a:ext cx="2512771" cy="1499616"/>
          </a:xfrm>
          <a:prstGeom prst="roundRect">
            <a:avLst>
              <a:gd name="adj" fmla="val 6707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41832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img/icons/globe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4594860"/>
            <a:ext cx="192024" cy="19202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435608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$33.5 B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941832" y="5010912"/>
            <a:ext cx="20007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fire extinguishing market (2024)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54603" y="4261104"/>
            <a:ext cx="2512771" cy="1499616"/>
          </a:xfrm>
          <a:prstGeom prst="roundRect">
            <a:avLst>
              <a:gd name="adj" fmla="val 6707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3710635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25" name="Image 2" descr="img/icons/trend_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647" y="4594860"/>
            <a:ext cx="192024" cy="1920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204411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%18</a:t>
            </a:r>
            <a:endParaRPr lang="en-US" sz="1900" dirty="0"/>
          </a:p>
        </p:txBody>
      </p:sp>
      <p:sp>
        <p:nvSpPr>
          <p:cNvPr id="27" name="Text 22"/>
          <p:cNvSpPr txBox="1"/>
          <p:nvPr/>
        </p:nvSpPr>
        <p:spPr>
          <a:xfrm>
            <a:off x="3710635" y="5010912"/>
            <a:ext cx="20007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of the PFAS-free segment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223406" y="4261104"/>
            <a:ext cx="2512771" cy="1499616"/>
          </a:xfrm>
          <a:prstGeom prst="roundRect">
            <a:avLst>
              <a:gd name="adj" fmla="val 6707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6479438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30" name="Image 3" descr="img/icons/fire_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594860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73214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%30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6479438" y="5010912"/>
            <a:ext cx="20007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global fire frequency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992210" y="4261104"/>
            <a:ext cx="2512771" cy="1499616"/>
          </a:xfrm>
          <a:prstGeom prst="roundRect">
            <a:avLst>
              <a:gd name="adj" fmla="val 6707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9248242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35" name="Image 4" descr="img/icons/flag_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254" y="4594860"/>
            <a:ext cx="192024" cy="19202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42018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2023+</a:t>
            </a:r>
            <a:endParaRPr lang="en-US" sz="1900" dirty="0"/>
          </a:p>
        </p:txBody>
      </p:sp>
      <p:sp>
        <p:nvSpPr>
          <p:cNvPr id="37" name="Text 30"/>
          <p:cNvSpPr txBox="1"/>
          <p:nvPr/>
        </p:nvSpPr>
        <p:spPr>
          <a:xfrm>
            <a:off x="9248242" y="5010912"/>
            <a:ext cx="20007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PFAS restriction directives in force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Three-Channel Go-to-Market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85800" y="1664208"/>
            <a:ext cx="3456432" cy="3054096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96696" y="1975104"/>
            <a:ext cx="585216" cy="58521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7" name="Image 1" descr="img/icons/gov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704" y="2133112"/>
            <a:ext cx="269199" cy="26919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9464" y="208483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996696" y="26883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B2G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996696" y="3200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Procurement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96696" y="3547872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Directorate of Forestry, AFAD and municipalities. High-volume, recurring procurement; our first priority channel.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70832" y="1664208"/>
            <a:ext cx="3456432" cy="3054096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681728" y="1975104"/>
            <a:ext cx="585216" cy="58521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img/icons/industr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736" y="2133112"/>
            <a:ext cx="269199" cy="2691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54496" y="208483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681728" y="26883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4681728" y="3200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Sales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4681728" y="3547872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plants, logistics hubs and power stations. Refill agreements and annual contracts.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055864" y="1664208"/>
            <a:ext cx="3456432" cy="3054096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366760" y="1975104"/>
            <a:ext cx="585216" cy="585216"/>
          </a:xfrm>
          <a:prstGeom prst="ellipse">
            <a:avLst/>
          </a:prstGeom>
          <a:solidFill>
            <a:srgbClr val="2C3A33"/>
          </a:solidFill>
          <a:ln w="12700">
            <a:solidFill>
              <a:srgbClr val="2C3A33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img/icons/hous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768" y="2133112"/>
            <a:ext cx="269199" cy="2691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39528" y="208483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8366760" y="26883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8366760" y="3200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Kit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8366760" y="3547872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and vehicle mini extinguisher kits. A long-term, brand-awareness channel.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85800" y="4974336"/>
            <a:ext cx="10820095" cy="877824"/>
          </a:xfrm>
          <a:prstGeom prst="roundRect">
            <a:avLst>
              <a:gd name="adj" fmla="val 11458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960120" y="5193792"/>
            <a:ext cx="438912" cy="43891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8" name="Image 4" descr="img/icons/targe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30352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45336" y="5120640"/>
            <a:ext cx="9631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strategy: first a public safety reference, then industrial facilities, finally consumer kits. Each stage builds the credibility base for the next.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 We Sell To?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85800" y="1627632"/>
            <a:ext cx="4974336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14984" y="190195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Institutions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4984" y="2468880"/>
            <a:ext cx="402336" cy="40233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gov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15" y="2577511"/>
            <a:ext cx="185075" cy="185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43230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institutions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706624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departments, municipalities, AFAD, the General Directorate of Forestry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014984" y="3310128"/>
            <a:ext cx="402336" cy="40233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mg/icons/industr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15" y="3418759"/>
            <a:ext cx="185075" cy="1850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2735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plants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3547872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plants, chemical and food factories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1014984" y="4151376"/>
            <a:ext cx="402336" cy="40233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mg/icons/tru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615" y="4260007"/>
            <a:ext cx="185075" cy="18507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41148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hubs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4389120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bonded stores and distribution centres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014984" y="4992624"/>
            <a:ext cx="402336" cy="40233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0" name="Image 4" descr="img/icons/bol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615" y="5101255"/>
            <a:ext cx="185075" cy="18507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00200" y="495604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stations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600200" y="523036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and distribution facilities, battery stores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55080" y="1627632"/>
            <a:ext cx="4974336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17"/>
          <p:cNvSpPr txBox="1"/>
          <p:nvPr/>
        </p:nvSpPr>
        <p:spPr>
          <a:xfrm>
            <a:off x="6684264" y="190195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Profiles</a:t>
            </a:r>
            <a:endParaRPr lang="en-US" sz="1900" dirty="0"/>
          </a:p>
        </p:txBody>
      </p:sp>
      <p:sp>
        <p:nvSpPr>
          <p:cNvPr id="25" name="Shape 18"/>
          <p:cNvSpPr/>
          <p:nvPr/>
        </p:nvSpPr>
        <p:spPr>
          <a:xfrm>
            <a:off x="6684264" y="2468880"/>
            <a:ext cx="402336" cy="40233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26" name="Image 5" descr="img/icons/helme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895" y="2577511"/>
            <a:ext cx="185075" cy="18507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69480" y="243230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managers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7269480" y="2706624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responsible for fire safety investment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684264" y="3310128"/>
            <a:ext cx="402336" cy="40233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30" name="Image 6" descr="img/icons/clipboard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895" y="3418759"/>
            <a:ext cx="185075" cy="18507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269480" y="32735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officers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7269480" y="3547872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that source safety equipment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684264" y="4151376"/>
            <a:ext cx="402336" cy="40233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34" name="Image 7" descr="img/icons/shield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2895" y="4260007"/>
            <a:ext cx="185075" cy="18507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69480" y="41148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safety specialists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7269480" y="4389120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(Environment–Health–Safety) personnel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6684264" y="4992624"/>
            <a:ext cx="402336" cy="40233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38" name="Image 8" descr="img/icons/extinguisher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2895" y="5101255"/>
            <a:ext cx="185075" cy="18507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269480" y="495604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experts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7269480" y="523036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crews and fire safety consultants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2" name="Text 31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12-Month Roadmap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85800" y="1700784"/>
            <a:ext cx="2512771" cy="356616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60120" y="197510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60120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51760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– Sep 2026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07792"/>
            <a:ext cx="19641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tests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438144"/>
            <a:ext cx="19641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tests at the Bursa Fire Department training ground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26110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480560"/>
            <a:ext cx="19641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suppression data and a technical report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54603" y="1700784"/>
            <a:ext cx="2512771" cy="356616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728923" y="1975104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728923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28923" y="2651760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Dec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728923" y="2907792"/>
            <a:ext cx="19641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728923" y="3438144"/>
            <a:ext cx="19641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 for the TS EN 615 standard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728923" y="426110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728923" y="4480560"/>
            <a:ext cx="19641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 compliance certificate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23406" y="1700784"/>
            <a:ext cx="2512771" cy="356616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497726" y="197510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497726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7726" y="2651760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2027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497726" y="2907792"/>
            <a:ext cx="19641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production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497726" y="3438144"/>
            <a:ext cx="19641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pilot production line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97726" y="426110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497726" y="4480560"/>
            <a:ext cx="19641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B2B sales contracts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992210" y="1700784"/>
            <a:ext cx="2512771" cy="356616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9266530" y="1975104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9266530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266530" y="2651760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Jun 2027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9266530" y="2907792"/>
            <a:ext cx="19641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and export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266530" y="3438144"/>
            <a:ext cx="19641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round and export strategy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9266530" y="426110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9266530" y="4480560"/>
            <a:ext cx="19641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 + SME grant application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85800" y="5431536"/>
            <a:ext cx="10820095" cy="676656"/>
          </a:xfrm>
          <a:prstGeom prst="roundRect">
            <a:avLst>
              <a:gd name="adj" fmla="val 1486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1014984" y="5577840"/>
            <a:ext cx="101617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term: PCT international patent expansion — priority markets are the EU (EPO), Türkiye and the Gulf states.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 and Institutional Relationships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85800" y="1664208"/>
            <a:ext cx="4206240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69848" y="2121408"/>
            <a:ext cx="786384" cy="78638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7" name="Image 1" descr="img/icons/aw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08" y="2325868"/>
            <a:ext cx="377464" cy="377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69848" y="3145536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place</a:t>
            </a:r>
            <a:endParaRPr lang="en-US" sz="5000" dirty="0"/>
          </a:p>
        </p:txBody>
      </p:sp>
      <p:sp>
        <p:nvSpPr>
          <p:cNvPr id="9" name="Text 5"/>
          <p:cNvSpPr txBox="1"/>
          <p:nvPr/>
        </p:nvSpPr>
        <p:spPr>
          <a:xfrm>
            <a:off x="1069848" y="4005072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Üsküdar University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10th Science and Ideas Festival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69848" y="4791456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prize in the health category — independent jury confirmation of ExtinGard's scientific validity.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40680" y="1828800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mg/icons/ro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000" y="1962120"/>
            <a:ext cx="227137" cy="2271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53912" y="1810512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 Entrepreneurship Centre – DENEYAP Entrepreneurship Programme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153912" y="2139696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in the training camp; business model and IP strategy review received.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40680" y="2871216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mg/icons/helme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000" y="3004536"/>
            <a:ext cx="227137" cy="2271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53912" y="2852928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Bursa Fire Department Search, Rescue and Response Units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53912" y="3182112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field tests and professional technical assessment meetings.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40680" y="3913632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0" name="Image 4" descr="img/icons/microscop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000" y="4046952"/>
            <a:ext cx="227137" cy="2271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153912" y="3895344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BTSO Kamil Tolon Science and Art Centre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153912" y="4224528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R&amp;D environment and laboratory infrastructure where the product was developed.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40680" y="4956048"/>
            <a:ext cx="493776" cy="49377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24" name="Image 5" descr="img/icons/certificat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000" y="5089368"/>
            <a:ext cx="227137" cy="22713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153912" y="4937760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Turkish Patent and Trademark Office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153912" y="5266944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ExtinGard trademark and the extinguishing formulation are protected.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Ateş Kes Team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167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three-student team with DENEYAP, BİLSEM and T3 Entrepreneurship Centre backgrounds, plus a project advisor.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1975104"/>
            <a:ext cx="2512771" cy="283464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60120" y="2286000"/>
            <a:ext cx="749808" cy="74980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60120" y="2286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127248"/>
            <a:ext cx="19641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 Kayra Erguvan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675888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986784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development, test protocols and the production process.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54603" y="1975104"/>
            <a:ext cx="2512771" cy="283464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728923" y="2286000"/>
            <a:ext cx="749808" cy="749808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728923" y="2286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3728923" y="3127248"/>
            <a:ext cx="19641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Ceyda Nur Söylemez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3728923" y="3675888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728923" y="3986784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research, competitive analysis and cost modelling.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23406" y="1975104"/>
            <a:ext cx="2512771" cy="283464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97726" y="2286000"/>
            <a:ext cx="749808" cy="74980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497726" y="2286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</a:t>
            </a:r>
            <a:endParaRPr lang="en-US" sz="2300" dirty="0"/>
          </a:p>
        </p:txBody>
      </p:sp>
      <p:sp>
        <p:nvSpPr>
          <p:cNvPr id="21" name="Text 18"/>
          <p:cNvSpPr txBox="1"/>
          <p:nvPr/>
        </p:nvSpPr>
        <p:spPr>
          <a:xfrm>
            <a:off x="6497726" y="3127248"/>
            <a:ext cx="19641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Havva Yaren Aydın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6497726" y="3675888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97726" y="3986784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model, institutional relationships and go-to-market strategy.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92210" y="1975104"/>
            <a:ext cx="2512771" cy="2834640"/>
          </a:xfrm>
          <a:prstGeom prst="roundRect">
            <a:avLst>
              <a:gd name="adj" fmla="val 4003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266530" y="2286000"/>
            <a:ext cx="749808" cy="749808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266530" y="2286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</a:t>
            </a:r>
            <a:endParaRPr lang="en-US" sz="2300" dirty="0"/>
          </a:p>
        </p:txBody>
      </p:sp>
      <p:sp>
        <p:nvSpPr>
          <p:cNvPr id="27" name="Text 24"/>
          <p:cNvSpPr txBox="1"/>
          <p:nvPr/>
        </p:nvSpPr>
        <p:spPr>
          <a:xfrm>
            <a:off x="9266530" y="3127248"/>
            <a:ext cx="19641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Gülçin Sezen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9266530" y="3675888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266530" y="3986784"/>
            <a:ext cx="19641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advisory, scientific guidance and institutional processes.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5084064"/>
            <a:ext cx="5276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5340096"/>
            <a:ext cx="5276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chemical dependence in firefighting and to lead with sustainable solutions that harm neither nature nor human health.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6227064" y="5084064"/>
            <a:ext cx="5276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227064" y="5340096"/>
            <a:ext cx="5276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a green technology brand born in Türkiye into a worldwide standard through affordable products.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10682935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logo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8368"/>
            <a:ext cx="1536192" cy="105338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139696"/>
            <a:ext cx="10058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32186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 Get in touch with us.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685800" y="4114800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7" name="Image 2" descr="img/icons/mai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4253057"/>
            <a:ext cx="235549" cy="23554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1732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1417320" y="4334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extingard@gmail.com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6355080" y="4114800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1" name="Image 3" descr="img/icons/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337" y="4253057"/>
            <a:ext cx="235549" cy="23554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08660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7086600" y="4334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0542 245 24 46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685800" y="5138928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15" name="Image 4" descr="img/icons/instagram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57" y="5277185"/>
            <a:ext cx="235549" cy="23554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1732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417320" y="5358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@extingard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6355080" y="5138928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9" name="Image 5" descr="img/icons/linkedin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337" y="5277185"/>
            <a:ext cx="235549" cy="2355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8660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7086600" y="5358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550" dirty="0"/>
          </a:p>
        </p:txBody>
      </p:sp>
      <p:sp>
        <p:nvSpPr>
          <p:cNvPr id="22" name="Text 14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TURKPATENT registered trademark (2026/001631) and allowed patent application (2025/021562)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Ateş Kes Teknoloji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ExtinGard Kurumsal Sunum</dc:title>
  <dc:subject>PptxGenJS Presentation</dc:subject>
  <dc:creator>Ateş Kes Teknoloji</dc:creator>
  <cp:lastModifiedBy>Ateş Kes Teknoloji</cp:lastModifiedBy>
  <cp:revision>1</cp:revision>
  <dcterms:created xsi:type="dcterms:W3CDTF">2026-09-20T20:58:28Z</dcterms:created>
  <dcterms:modified xsi:type="dcterms:W3CDTF">2026-09-20T20:58:28Z</dcterms:modified>
</cp:coreProperties>
</file>
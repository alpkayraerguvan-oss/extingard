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5-2.jpg" ContentType="image/jpg"/>
  <Override PartName="/ppt/media/image-7-2.jpg" ContentType="image/jpg"/>
  <Override PartName="/ppt/media/image-9-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lgn="l">
              <a:defRPr sz="1200" b="0" i="0" u="none" strike="noStrike">
                <a:solidFill>
                  <a:srgbClr val="6F7F76"/>
                </a:solidFill>
                <a:latin typeface="Calibri"/>
              </a:defRPr>
            </a:pPr>
            <a:r>
              <a:rPr sz="1200" b="0" i="0" u="none" strike="noStrike">
                <a:solidFill>
                  <a:srgbClr val="6F7F76"/>
                </a:solidFill>
                <a:latin typeface="Calibri"/>
              </a:rPr>
              <a:t>Birim maliyet (TL / kg)</a:t>
            </a:r>
          </a:p>
        </c:rich>
      </c:tx>
      <c:layout/>
      <c:overlay val="0"/>
    </c:title>
    <c:autoTitleDeleted val="0"/>
    <c:plotArea>
      <c:layout/>
      <c:barChart>
        <c:barDir val="bar"/>
        <c:grouping val="clustered"/>
        <c:varyColors val="0"/>
        <c:ser>
          <c:idx val="0"/>
          <c:order val="0"/>
          <c:tx>
            <c:strRef>
              <c:f>Sheet1!$B$1</c:f>
              <c:strCache>
                <c:ptCount val="1"/>
                <c:pt idx="0">
                  <c:v>TL / kg</c:v>
                </c:pt>
              </c:strCache>
            </c:strRef>
          </c:tx>
          <c:spPr>
            <a:solidFill>
              <a:srgbClr val="B9C7BE"/>
            </a:solidFill>
            <a:effectLst/>
          </c:spPr>
          <c:invertIfNegative val="0"/>
          <c:dLbls>
            <c:numFmt formatCode="#,##0" sourceLinked="0"/>
            <c:txPr>
              <a:bodyPr/>
              <a:lstStyle/>
              <a:p>
                <a:pPr>
                  <a:defRPr b="1" i="0" strike="noStrike" sz="1100" u="none">
                    <a:solidFill>
                      <a:srgbClr val="2C3A33"/>
                    </a:solidFill>
                    <a:latin typeface="Calibri"/>
                  </a:defRPr>
                </a:pPr>
              </a:p>
            </c:txPr>
            <c:showLegendKey val="0"/>
            <c:showVal val="1"/>
            <c:showCatName val="0"/>
            <c:showSerName val="0"/>
            <c:showPercent val="0"/>
            <c:showBubbleSize val="0"/>
            <c:showLeaderLines val="0"/>
          </c:dLbls>
          <c:dPt>
            <c:idx val="0"/>
            <c:invertIfNegative val="0"/>
            <c:bubble3D val="0"/>
            <c:spPr>
              <a:solidFill>
                <a:srgbClr val="B9C7BE"/>
              </a:solidFill>
              <a:effectLst/>
            </c:spPr>
          </c:dPt>
          <c:dPt>
            <c:idx val="1"/>
            <c:invertIfNegative val="0"/>
            <c:bubble3D val="0"/>
            <c:spPr>
              <a:solidFill>
                <a:srgbClr val="A8BBB0"/>
              </a:solidFill>
              <a:effectLst/>
            </c:spPr>
          </c:dPt>
          <c:dPt>
            <c:idx val="2"/>
            <c:invertIfNegative val="0"/>
            <c:bubble3D val="0"/>
            <c:spPr>
              <a:solidFill>
                <a:srgbClr val="9AB3A4"/>
              </a:solidFill>
              <a:effectLst/>
            </c:spPr>
          </c:dPt>
          <c:dPt>
            <c:idx val="3"/>
            <c:invertIfNegative val="0"/>
            <c:bubble3D val="0"/>
            <c:spPr>
              <a:solidFill>
                <a:srgbClr val="6FA585"/>
              </a:solidFill>
              <a:effectLst/>
            </c:spPr>
          </c:dPt>
          <c:dPt>
            <c:idx val="4"/>
            <c:invertIfNegative val="0"/>
            <c:bubble3D val="0"/>
            <c:spPr>
              <a:solidFill>
                <a:srgbClr val="1B6B3A"/>
              </a:solidFill>
              <a:effectLst/>
            </c:spPr>
          </c:dPt>
          <c:cat>
            <c:multiLvlStrRef>
              <c:f>Sheet1!$A$2:$A$6</c:f>
              <c:multiLvlStrCache>
                <c:ptCount val="5"/>
                <c:lvl>
                  <c:pt idx="0">
                    <c:v>Halon Söndürücü</c:v>
                  </c:pt>
                  <c:pt idx="1">
                    <c:v>CO₂ Söndürücü</c:v>
                  </c:pt>
                  <c:pt idx="2">
                    <c:v>ABC Tozu (MAP)</c:v>
                  </c:pt>
                  <c:pt idx="3">
                    <c:v>BC Tozu (NaHCO₃)</c:v>
                  </c:pt>
                  <c:pt idx="4">
                    <c:v>ExtinGard</c:v>
                  </c:pt>
                </c:lvl>
              </c:multiLvlStrCache>
            </c:multiLvlStrRef>
          </c:cat>
          <c:val>
            <c:numRef>
              <c:f>Sheet1!$B$2:$B$6</c:f>
              <c:numCache>
                <c:formatCode>General</c:formatCode>
                <c:ptCount val="5"/>
                <c:pt idx="0">
                  <c:v>1000</c:v>
                </c:pt>
                <c:pt idx="1">
                  <c:v>475</c:v>
                </c:pt>
                <c:pt idx="2">
                  <c:v>275</c:v>
                </c:pt>
                <c:pt idx="3">
                  <c:v>135</c:v>
                </c:pt>
                <c:pt idx="4">
                  <c:v>49.7</c:v>
                </c:pt>
              </c:numCache>
            </c:numRef>
          </c:val>
        </c:ser>
        <c:dLbls>
          <c:numFmt formatCode="#,##0" sourceLinked="0"/>
          <c:txPr>
            <a:bodyPr/>
            <a:lstStyle/>
            <a:p>
              <a:pPr>
                <a:defRPr b="1" i="0" strike="noStrike" sz="1100" u="none">
                  <a:solidFill>
                    <a:srgbClr val="2C3A33"/>
                  </a:solidFill>
                  <a:latin typeface="Calibri"/>
                </a:defRPr>
              </a:pPr>
            </a:p>
          </c:txPr>
          <c:showLegendKey val="0"/>
          <c:showVal val="1"/>
          <c:showCatName val="0"/>
          <c:showSerName val="0"/>
          <c:showPercent val="0"/>
          <c:showBubbleSize val="0"/>
          <c:showLeaderLines val="0"/>
        </c:dLbls>
        <c:gapWidth val="52"/>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50" b="0" i="0" u="none" strike="noStrike">
                <a:solidFill>
                  <a:srgbClr val="2C3A33"/>
                </a:solidFill>
                <a:latin typeface="Calibri"/>
              </a:defRPr>
            </a:pPr>
            <a:endParaRPr lang="en-US"/>
          </a:p>
        </c:txPr>
        <c:crossAx val="2094734552"/>
        <c:crosses val="autoZero"/>
        <c:auto val="1"/>
        <c:lblAlgn val="ctr"/>
        <c:noMultiLvlLbl val="1"/>
      </c:catAx>
      <c:valAx>
        <c:axId val="2094734552"/>
        <c:scaling>
          <c:orientation val="minMax"/>
          <c:max val="1150"/>
          <c:min val="0"/>
        </c:scaling>
        <c:delete val="0"/>
        <c:axPos val="b"/>
        <c:majorGridlines>
          <c:spPr>
            <a:ln w="12700" cap="flat">
              <a:solidFill>
                <a:srgbClr val="E6ECE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6F7F76"/>
                </a:solidFill>
                <a:latin typeface="Calibri"/>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w="12700" cap="flat">
      <a:solidFill>
        <a:srgbClr val="DCE6DE"/>
      </a:solid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ExtinGard, geri dönüştürülmüş yumurta kabuğu ve doğal minerallerden üretilen, tamamen yerli ve biyobozunur bir yangın söndürme tozudur. TÜRKPATENT tescilli marka ve onaylı patent başvurusu var. Bu sunumda tescil sürecimizi, teknolojimizi, test sonuçlarımızı ve pazara çıkış planımızı paylaşacağız.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Sunum sekiz ana bölümden oluşuyor. Dinleyici profiline göre bölümler atlanabilir: yatırımcı için 05–06, kurumsal alıcı için 03–04, yarışma jürisi için 01–04.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 slayt sunumun en güncel haberi. Marka tescili ExtinGard adını Nice 01, 09 ve 35. sınıflarda koruma altına alıyor; patent ise 'Doğal Bileşenlerden Oluşan Yangın Söndürücü Toz' buluşunu koruyor. TÜRKPATENT inceleme raporu 11 istemin tamamında yenilik, buluş basamağı ve sanayiye uygulanabilirlik kriterlerini olumlu buldu. Not: patent verilmesi kararı bültende yayımlandıktan sonra 6 aylık üçüncü kişi itiraz süresi işliyor; bu süre sonunda karar kesinleşir. Jüri numaraları not alabilir, belgelerin çıktısını yanınızda bulundurun.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iki katmanlı: yangınlar artıyor, ama mevcut söndürücüler de çevresel ve sağlık açısından ciddi maliyet yaratıyor. Kaynaklar: IPCC 2023; Kırtaş &amp; Altundağ 2023; Lee et al. 2021; EPA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ExtinGard'ın üç temel değer önerisi: doğal içerik, geniş yangın sınıfı kapsamı ve maliyet liderliği. Bu üçü aynı anda sunan başka bir ürün piyasada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Teknik derinlik slaytı, patent istemlerine birebir dayanıyor. Mg(OH)₂ ve Ca(OH)₂ endotermik bozunmayla ısı emip su buharı açığa çıkarır; yumurta kabuğundaki CaCO₃ 840°C'de CO₂ salarak oksijeni seyreltir; Al(OH)₃ ve kaolin ise yüzeyde ısıya dayanıklı mineral örtü oluşturur. Magnezyum stearat topaklanmayı önleyip akışkanlığı sağlar. Bileşim patent başvurusuyla birlikte yayımlandığı için paylaşılmasında sakınca yok.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Üretim protokolü patent isteminde birebir tanımlandığı şekliyle standardize edilmiş ve tekrarlanabilir durumda. Bir sonraki adım pilot üretim hattı — öğütme ve eleme adımlarının endüstriyel ölçeğe taşınması.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Yedi farklı yanıcı materyalde kontrollü söndürme testi yapıldı; hepsi başarılı. Testlerin büyük bölümü video kaydına alındı. Şeffaflık notu önemli: sertifikasyon testleri henüz yapılmadı, bunu açıkça söylüyoruz.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Saha doğrulaması bizi öğrenci projesinden ticarileşebilir ürüne taşıyan adım. Bursa İtfaiye ile kurulan ilişki, hem teknik geri bildirim hem de ileride referans müşteri anlamına geliyor.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Rakipler tek bir eksende iyi olabiliyor; ExtinGard üçünde birden. Özellikle F sınıfı (bitkisel yağ) yangınlarında ABC tozunun etkisiz olması bizim için kritik bir farklılaşma noktası.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Maliyet avantajı sadece fiyat değil, erişilebilirlik demek. Kamu kurumları ve belediyeler için büyük ölçekli stoklama ekonomik hale geliyor. Grafikteki birim maliyetlere göre fark CO₂ söndürücüde yaklaşık 10, halonda yaklaşık 20 kattır.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Pazar zamanlaması bizim lehimize: AB'nin PFAS kısıtlamaları mevcut oyuncuları formül değiştirmeye zorluyor, biz zaten PFAS'sız doğduk.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B2G önceliğimiz, çünkü kamu referansı hem hacim hem güvenilirlik sağlıyor. Bursa İtfaiye ilişkisi bu kanalın kapısını aralıyor.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Satın alma kararını veren kişi ile ürünü kullanan kişi çoğu zaman farklı. Mesajımızı ikisine de ayrı ayrı kuruyoruz: karar vericiye maliyet ve uyum, kullanıcıya güvenlik ve performans.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Yol haritası sertifikasyon odaklı: TS EN 615 belgesi olmadan kamu ihalelerine giremiyoruz. Bu yüzden Q2 en kritik çeyrek.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güvenilirlik slaytı. Üç farklı türde doğrulama var: akademik (Üsküdar), girişimcilik (T3) ve operasyonel (Bursa İtfaiye).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Ekip tanıtımı. Üç öğrenci, üç net sorumluluk alanı: Ar-Ge, analiz ve strateji; yanlarında proje danışmanı Gülçin Sezen. Ortak payda: DENEYAP ve BİLSEM teknik birikimi.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Soru-cevap için buradan devam edilebilir.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2.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image" Target="../media/image-9-3.png"/><Relationship Id="rId4" Type="http://schemas.openxmlformats.org/officeDocument/2006/relationships/image" Target="../media/image-9-3.png"/><Relationship Id="rId5" Type="http://schemas.openxmlformats.org/officeDocument/2006/relationships/image" Target="../media/image-9-3.png"/><Relationship Id="rId6" Type="http://schemas.openxmlformats.org/officeDocument/2006/relationships/image" Target="../media/image-9-3.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chart" Target="../charts/chart1.xml"/><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img/logo_w.png">    </p:cNvPr>
          <p:cNvPicPr>
            <a:picLocks noChangeAspect="1"/>
          </p:cNvPicPr>
          <p:nvPr/>
        </p:nvPicPr>
        <p:blipFill>
          <a:blip r:embed="rId2"/>
          <a:stretch>
            <a:fillRect/>
          </a:stretch>
        </p:blipFill>
        <p:spPr>
          <a:xfrm>
            <a:off x="685800" y="566928"/>
            <a:ext cx="1691640" cy="1159459"/>
          </a:xfrm>
          <a:prstGeom prst="rect">
            <a:avLst/>
          </a:prstGeom>
        </p:spPr>
      </p:pic>
      <p:sp>
        <p:nvSpPr>
          <p:cNvPr id="4" name="Text 0"/>
          <p:cNvSpPr txBox="1"/>
          <p:nvPr/>
        </p:nvSpPr>
        <p:spPr>
          <a:xfrm>
            <a:off x="685800" y="2084832"/>
            <a:ext cx="7315200" cy="274320"/>
          </a:xfrm>
          <a:prstGeom prst="rect">
            <a:avLst/>
          </a:prstGeom>
          <a:noFill/>
          <a:ln/>
        </p:spPr>
        <p:txBody>
          <a:bodyPr wrap="square" lIns="0" tIns="0" rIns="0" bIns="0" rtlCol="0" anchor="ctr"/>
          <a:lstStyle/>
          <a:p>
            <a:pPr indent="0" marL="0">
              <a:buNone/>
            </a:pPr>
            <a:r>
              <a:rPr lang="en-US" sz="1200" b="1" spc="320" kern="0" dirty="0">
                <a:solidFill>
                  <a:srgbClr val="8CC084"/>
                </a:solidFill>
                <a:latin typeface="Calibri" pitchFamily="34" charset="0"/>
                <a:ea typeface="Calibri" pitchFamily="34" charset="-122"/>
                <a:cs typeface="Calibri" pitchFamily="34" charset="-120"/>
              </a:rPr>
              <a:t>ATEŞ KES TEKNOLOJİ GİRİŞİMİ</a:t>
            </a:r>
            <a:endParaRPr lang="en-US" sz="1200" dirty="0"/>
          </a:p>
        </p:txBody>
      </p:sp>
      <p:sp>
        <p:nvSpPr>
          <p:cNvPr id="5" name="Text 1"/>
          <p:cNvSpPr txBox="1"/>
          <p:nvPr/>
        </p:nvSpPr>
        <p:spPr>
          <a:xfrm>
            <a:off x="630936" y="2359152"/>
            <a:ext cx="7772400" cy="1207008"/>
          </a:xfrm>
          <a:prstGeom prst="rect">
            <a:avLst/>
          </a:prstGeom>
          <a:noFill/>
          <a:ln/>
        </p:spPr>
        <p:txBody>
          <a:bodyPr wrap="square" lIns="0" tIns="0" rIns="0" bIns="0" rtlCol="0" anchor="ctr"/>
          <a:lstStyle/>
          <a:p>
            <a:pPr indent="0" marL="0">
              <a:buNone/>
            </a:pPr>
            <a:r>
              <a:rPr lang="en-US" sz="7600" b="1" dirty="0">
                <a:solidFill>
                  <a:srgbClr val="FFFFFF"/>
                </a:solidFill>
                <a:latin typeface="Cambria" pitchFamily="34" charset="0"/>
                <a:ea typeface="Cambria" pitchFamily="34" charset="-122"/>
                <a:cs typeface="Cambria" pitchFamily="34" charset="-120"/>
              </a:rPr>
              <a:t>ExtinGard</a:t>
            </a:r>
            <a:endParaRPr lang="en-US" sz="7600" dirty="0"/>
          </a:p>
        </p:txBody>
      </p:sp>
      <p:sp>
        <p:nvSpPr>
          <p:cNvPr id="6" name="Text 2"/>
          <p:cNvSpPr txBox="1"/>
          <p:nvPr/>
        </p:nvSpPr>
        <p:spPr>
          <a:xfrm>
            <a:off x="685800" y="3639312"/>
            <a:ext cx="6766560" cy="786384"/>
          </a:xfrm>
          <a:prstGeom prst="rect">
            <a:avLst/>
          </a:prstGeom>
          <a:noFill/>
          <a:ln/>
        </p:spPr>
        <p:txBody>
          <a:bodyPr wrap="square" lIns="0" tIns="0" rIns="0" bIns="0" rtlCol="0" anchor="ctr"/>
          <a:lstStyle/>
          <a:p>
            <a:pPr indent="0" marL="0">
              <a:lnSpc>
                <a:spcPts val="2400"/>
              </a:lnSpc>
              <a:buNone/>
            </a:pPr>
            <a:r>
              <a:rPr lang="en-US" sz="1650" dirty="0">
                <a:solidFill>
                  <a:srgbClr val="CFE3D6"/>
                </a:solidFill>
                <a:latin typeface="Calibri" pitchFamily="34" charset="0"/>
                <a:ea typeface="Calibri" pitchFamily="34" charset="-122"/>
                <a:cs typeface="Calibri" pitchFamily="34" charset="-120"/>
              </a:rPr>
              <a:t>Biyo-atıktan üretilen, %100 yerli ve biyobozunur yangın söndürme tozu.</a:t>
            </a:r>
            <a:endParaRPr lang="en-US" sz="1650" dirty="0"/>
          </a:p>
          <a:p>
            <a:pPr indent="0" marL="0">
              <a:lnSpc>
                <a:spcPts val="2400"/>
              </a:lnSpc>
              <a:buNone/>
            </a:pPr>
            <a:r>
              <a:rPr lang="en-US" sz="1650" dirty="0">
                <a:solidFill>
                  <a:srgbClr val="CFE3D6"/>
                </a:solidFill>
                <a:latin typeface="Calibri" pitchFamily="34" charset="0"/>
                <a:ea typeface="Calibri" pitchFamily="34" charset="-122"/>
                <a:cs typeface="Calibri" pitchFamily="34" charset="-120"/>
              </a:rPr>
              <a:t>Geleceğin çevre dostu yangın güvenliği çözümü.</a:t>
            </a:r>
            <a:endParaRPr lang="en-US" sz="1650" dirty="0"/>
          </a:p>
        </p:txBody>
      </p:sp>
      <p:sp>
        <p:nvSpPr>
          <p:cNvPr id="7" name="Shape 3"/>
          <p:cNvSpPr/>
          <p:nvPr/>
        </p:nvSpPr>
        <p:spPr>
          <a:xfrm>
            <a:off x="685800" y="4617720"/>
            <a:ext cx="3310128" cy="457200"/>
          </a:xfrm>
          <a:prstGeom prst="roundRect">
            <a:avLst>
              <a:gd name="adj" fmla="val 40000"/>
            </a:avLst>
          </a:prstGeom>
          <a:solidFill>
            <a:srgbClr val="FFFFFF">
              <a:alpha val="12000"/>
            </a:srgbClr>
          </a:solidFill>
          <a:ln w="12700">
            <a:solidFill>
              <a:srgbClr val="4E7D63"/>
            </a:solidFill>
            <a:prstDash val="solid"/>
          </a:ln>
        </p:spPr>
      </p:sp>
      <p:pic>
        <p:nvPicPr>
          <p:cNvPr id="8" name="Image 2" descr="img/icons/certificate_m.png">    </p:cNvPr>
          <p:cNvPicPr>
            <a:picLocks noChangeAspect="1"/>
          </p:cNvPicPr>
          <p:nvPr/>
        </p:nvPicPr>
        <p:blipFill>
          <a:blip r:embed="rId3"/>
          <a:stretch>
            <a:fillRect/>
          </a:stretch>
        </p:blipFill>
        <p:spPr>
          <a:xfrm>
            <a:off x="886968" y="4754880"/>
            <a:ext cx="182880" cy="182880"/>
          </a:xfrm>
          <a:prstGeom prst="rect">
            <a:avLst/>
          </a:prstGeom>
        </p:spPr>
      </p:pic>
      <p:sp>
        <p:nvSpPr>
          <p:cNvPr id="9" name="Text 4"/>
          <p:cNvSpPr txBox="1"/>
          <p:nvPr/>
        </p:nvSpPr>
        <p:spPr>
          <a:xfrm>
            <a:off x="1161288" y="4617720"/>
            <a:ext cx="2670048" cy="457200"/>
          </a:xfrm>
          <a:prstGeom prst="rect">
            <a:avLst/>
          </a:prstGeom>
          <a:noFill/>
          <a:ln/>
        </p:spPr>
        <p:txBody>
          <a:bodyPr wrap="square" lIns="0" tIns="0" rIns="0" bIns="0" rtlCol="0" anchor="ctr"/>
          <a:lstStyle/>
          <a:p>
            <a:pPr indent="0" marL="0">
              <a:buNone/>
            </a:pPr>
            <a:r>
              <a:rPr lang="en-US" sz="1050" b="1" spc="80" kern="0" dirty="0">
                <a:solidFill>
                  <a:srgbClr val="FFFFFF"/>
                </a:solidFill>
                <a:latin typeface="Calibri" pitchFamily="34" charset="0"/>
                <a:ea typeface="Calibri" pitchFamily="34" charset="-122"/>
                <a:cs typeface="Calibri" pitchFamily="34" charset="-120"/>
              </a:rPr>
              <a:t>TÜRKPATENT TESCİLLİ MARKA</a:t>
            </a:r>
            <a:endParaRPr lang="en-US" sz="1050" dirty="0"/>
          </a:p>
        </p:txBody>
      </p:sp>
      <p:sp>
        <p:nvSpPr>
          <p:cNvPr id="10" name="Shape 5"/>
          <p:cNvSpPr/>
          <p:nvPr/>
        </p:nvSpPr>
        <p:spPr>
          <a:xfrm>
            <a:off x="4160520" y="4617720"/>
            <a:ext cx="3310128" cy="457200"/>
          </a:xfrm>
          <a:prstGeom prst="roundRect">
            <a:avLst>
              <a:gd name="adj" fmla="val 40000"/>
            </a:avLst>
          </a:prstGeom>
          <a:solidFill>
            <a:srgbClr val="FFFFFF">
              <a:alpha val="12000"/>
            </a:srgbClr>
          </a:solidFill>
          <a:ln w="12700">
            <a:solidFill>
              <a:srgbClr val="4E7D63"/>
            </a:solidFill>
            <a:prstDash val="solid"/>
          </a:ln>
        </p:spPr>
      </p:sp>
      <p:pic>
        <p:nvPicPr>
          <p:cNvPr id="11" name="Image 3" descr="img/icons/stamp_m.png">    </p:cNvPr>
          <p:cNvPicPr>
            <a:picLocks noChangeAspect="1"/>
          </p:cNvPicPr>
          <p:nvPr/>
        </p:nvPicPr>
        <p:blipFill>
          <a:blip r:embed="rId4"/>
          <a:stretch>
            <a:fillRect/>
          </a:stretch>
        </p:blipFill>
        <p:spPr>
          <a:xfrm>
            <a:off x="4361688" y="4754880"/>
            <a:ext cx="182880" cy="182880"/>
          </a:xfrm>
          <a:prstGeom prst="rect">
            <a:avLst/>
          </a:prstGeom>
        </p:spPr>
      </p:pic>
      <p:sp>
        <p:nvSpPr>
          <p:cNvPr id="12" name="Text 6"/>
          <p:cNvSpPr txBox="1"/>
          <p:nvPr/>
        </p:nvSpPr>
        <p:spPr>
          <a:xfrm>
            <a:off x="4636008" y="4617720"/>
            <a:ext cx="2670048" cy="457200"/>
          </a:xfrm>
          <a:prstGeom prst="rect">
            <a:avLst/>
          </a:prstGeom>
          <a:noFill/>
          <a:ln/>
        </p:spPr>
        <p:txBody>
          <a:bodyPr wrap="square" lIns="0" tIns="0" rIns="0" bIns="0" rtlCol="0" anchor="ctr"/>
          <a:lstStyle/>
          <a:p>
            <a:pPr indent="0" marL="0">
              <a:buNone/>
            </a:pPr>
            <a:r>
              <a:rPr lang="en-US" sz="1050" b="1" spc="80" kern="0" dirty="0">
                <a:solidFill>
                  <a:srgbClr val="FFFFFF"/>
                </a:solidFill>
                <a:latin typeface="Calibri" pitchFamily="34" charset="0"/>
                <a:ea typeface="Calibri" pitchFamily="34" charset="-122"/>
                <a:cs typeface="Calibri" pitchFamily="34" charset="-120"/>
              </a:rPr>
              <a:t>PATENT BAŞVURUSU ONAYLANDI</a:t>
            </a:r>
            <a:endParaRPr lang="en-US" sz="1050" dirty="0"/>
          </a:p>
        </p:txBody>
      </p:sp>
      <p:sp>
        <p:nvSpPr>
          <p:cNvPr id="13" name="Text 7"/>
          <p:cNvSpPr txBox="1"/>
          <p:nvPr/>
        </p:nvSpPr>
        <p:spPr>
          <a:xfrm>
            <a:off x="685800" y="5577840"/>
            <a:ext cx="7680960" cy="292608"/>
          </a:xfrm>
          <a:prstGeom prst="rect">
            <a:avLst/>
          </a:prstGeom>
          <a:noFill/>
          <a:ln/>
        </p:spPr>
        <p:txBody>
          <a:bodyPr wrap="square" lIns="0" tIns="0" rIns="0" bIns="0" rtlCol="0" anchor="ctr"/>
          <a:lstStyle/>
          <a:p>
            <a:pPr indent="0" marL="0">
              <a:buNone/>
            </a:pPr>
            <a:r>
              <a:rPr lang="en-US" sz="1300" b="1" dirty="0">
                <a:solidFill>
                  <a:srgbClr val="8CC084"/>
                </a:solidFill>
                <a:latin typeface="Calibri" pitchFamily="34" charset="0"/>
                <a:ea typeface="Calibri" pitchFamily="34" charset="-122"/>
                <a:cs typeface="Calibri" pitchFamily="34" charset="-120"/>
              </a:rPr>
              <a:t>Alp Kayra ERGUVAN   ·   Ceyda Nur SÖYLEMEZ   ·   Havva Yaren AYDIN</a:t>
            </a:r>
            <a:endParaRPr lang="en-US" sz="1300" dirty="0"/>
          </a:p>
        </p:txBody>
      </p:sp>
      <p:sp>
        <p:nvSpPr>
          <p:cNvPr id="14" name="Text 8"/>
          <p:cNvSpPr txBox="1"/>
          <p:nvPr/>
        </p:nvSpPr>
        <p:spPr>
          <a:xfrm>
            <a:off x="685800" y="5852160"/>
            <a:ext cx="7680960" cy="274320"/>
          </a:xfrm>
          <a:prstGeom prst="rect">
            <a:avLst/>
          </a:prstGeom>
          <a:noFill/>
          <a:ln/>
        </p:spPr>
        <p:txBody>
          <a:bodyPr wrap="square" lIns="0" tIns="0" rIns="0" bIns="0" rtlCol="0" anchor="ctr"/>
          <a:lstStyle/>
          <a:p>
            <a:pPr indent="0" marL="0">
              <a:buNone/>
            </a:pPr>
            <a:r>
              <a:rPr lang="en-US" sz="1200" dirty="0">
                <a:solidFill>
                  <a:srgbClr val="6E937C"/>
                </a:solidFill>
                <a:latin typeface="Calibri" pitchFamily="34" charset="0"/>
                <a:ea typeface="Calibri" pitchFamily="34" charset="-122"/>
                <a:cs typeface="Calibri" pitchFamily="34" charset="-120"/>
              </a:rPr>
              <a:t>Danışman: Gülçin SEZEN</a:t>
            </a:r>
            <a:endParaRPr lang="en-US" sz="1200" dirty="0"/>
          </a:p>
        </p:txBody>
      </p:sp>
      <p:sp>
        <p:nvSpPr>
          <p:cNvPr id="15" name="Text 9"/>
          <p:cNvSpPr txBox="1"/>
          <p:nvPr/>
        </p:nvSpPr>
        <p:spPr>
          <a:xfrm>
            <a:off x="8762695" y="5705856"/>
            <a:ext cx="2743200" cy="292608"/>
          </a:xfrm>
          <a:prstGeom prst="rect">
            <a:avLst/>
          </a:prstGeom>
          <a:noFill/>
          <a:ln/>
        </p:spPr>
        <p:txBody>
          <a:bodyPr wrap="square" lIns="0" tIns="0" rIns="0" bIns="0" rtlCol="0" anchor="ctr"/>
          <a:lstStyle/>
          <a:p>
            <a:pPr algn="r" indent="0" marL="0">
              <a:buNone/>
            </a:pPr>
            <a:r>
              <a:rPr lang="en-US" sz="1200" dirty="0">
                <a:solidFill>
                  <a:srgbClr val="6E937C"/>
                </a:solidFill>
                <a:latin typeface="Calibri" pitchFamily="34" charset="0"/>
                <a:ea typeface="Calibri" pitchFamily="34" charset="-122"/>
                <a:cs typeface="Calibri" pitchFamily="34" charset="-120"/>
              </a:rPr>
              <a:t>Eylül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SUNUM İÇERİĞİ</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Gündem</a:t>
            </a:r>
            <a:endParaRPr lang="en-US" sz="3300" dirty="0"/>
          </a:p>
        </p:txBody>
      </p:sp>
      <p:sp>
        <p:nvSpPr>
          <p:cNvPr id="5" name="Shape 2"/>
          <p:cNvSpPr/>
          <p:nvPr/>
        </p:nvSpPr>
        <p:spPr>
          <a:xfrm>
            <a:off x="685800" y="1874520"/>
            <a:ext cx="457200" cy="457200"/>
          </a:xfrm>
          <a:prstGeom prst="ellipse">
            <a:avLst/>
          </a:prstGeom>
          <a:solidFill>
            <a:srgbClr val="1B6B3A"/>
          </a:solidFill>
          <a:ln w="12700">
            <a:solidFill>
              <a:srgbClr val="1B6B3A"/>
            </a:solidFill>
            <a:prstDash val="solid"/>
          </a:ln>
        </p:spPr>
      </p:sp>
      <p:sp>
        <p:nvSpPr>
          <p:cNvPr id="6" name="Text 3"/>
          <p:cNvSpPr txBox="1"/>
          <p:nvPr/>
        </p:nvSpPr>
        <p:spPr>
          <a:xfrm>
            <a:off x="685800" y="18745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4"/>
          <p:cNvSpPr txBox="1"/>
          <p:nvPr/>
        </p:nvSpPr>
        <p:spPr>
          <a:xfrm>
            <a:off x="1344168" y="1847088"/>
            <a:ext cx="4315968" cy="310896"/>
          </a:xfrm>
          <a:prstGeom prst="rect">
            <a:avLst/>
          </a:prstGeom>
          <a:noFill/>
          <a:ln/>
        </p:spPr>
        <p:txBody>
          <a:bodyPr wrap="square" lIns="0" tIns="0" rIns="0" bIns="0" rtlCol="0" anchor="ctr"/>
          <a:lstStyle/>
          <a:p>
            <a:pPr indent="0" marL="0">
              <a:buNone/>
            </a:pPr>
            <a:r>
              <a:rPr lang="en-US" sz="1650" b="1" dirty="0">
                <a:solidFill>
                  <a:srgbClr val="07281D"/>
                </a:solidFill>
                <a:latin typeface="Cambria" pitchFamily="34" charset="0"/>
                <a:ea typeface="Cambria" pitchFamily="34" charset="-122"/>
                <a:cs typeface="Cambria" pitchFamily="34" charset="-120"/>
              </a:rPr>
              <a:t>Tescil ve Fikri Mülkiyet</a:t>
            </a:r>
            <a:endParaRPr lang="en-US" sz="1650" dirty="0"/>
          </a:p>
        </p:txBody>
      </p:sp>
      <p:sp>
        <p:nvSpPr>
          <p:cNvPr id="8" name="Text 5"/>
          <p:cNvSpPr txBox="1"/>
          <p:nvPr/>
        </p:nvSpPr>
        <p:spPr>
          <a:xfrm>
            <a:off x="1344168" y="2148840"/>
            <a:ext cx="4315968" cy="274320"/>
          </a:xfrm>
          <a:prstGeom prst="rect">
            <a:avLst/>
          </a:prstGeom>
          <a:noFill/>
          <a:ln/>
        </p:spPr>
        <p:txBody>
          <a:bodyPr wrap="square" lIns="0" tIns="0" rIns="0" bIns="0" rtlCol="0" anchor="ctr"/>
          <a:lstStyle/>
          <a:p>
            <a:pPr indent="0" marL="0">
              <a:buNone/>
            </a:pPr>
            <a:r>
              <a:rPr lang="en-US" sz="1200" dirty="0">
                <a:solidFill>
                  <a:srgbClr val="6F7F76"/>
                </a:solidFill>
                <a:latin typeface="Calibri" pitchFamily="34" charset="0"/>
                <a:ea typeface="Calibri" pitchFamily="34" charset="-122"/>
                <a:cs typeface="Calibri" pitchFamily="34" charset="-120"/>
              </a:rPr>
              <a:t>Marka tescili, patent kararı, IP stratejisi</a:t>
            </a:r>
            <a:endParaRPr lang="en-US" sz="1200" dirty="0"/>
          </a:p>
        </p:txBody>
      </p:sp>
      <p:sp>
        <p:nvSpPr>
          <p:cNvPr id="9" name="Shape 6"/>
          <p:cNvSpPr/>
          <p:nvPr/>
        </p:nvSpPr>
        <p:spPr>
          <a:xfrm>
            <a:off x="6355080" y="1874520"/>
            <a:ext cx="457200" cy="457200"/>
          </a:xfrm>
          <a:prstGeom prst="ellipse">
            <a:avLst/>
          </a:prstGeom>
          <a:solidFill>
            <a:srgbClr val="F07818"/>
          </a:solidFill>
          <a:ln w="12700">
            <a:solidFill>
              <a:srgbClr val="F07818"/>
            </a:solidFill>
            <a:prstDash val="solid"/>
          </a:ln>
        </p:spPr>
      </p:sp>
      <p:sp>
        <p:nvSpPr>
          <p:cNvPr id="10" name="Text 7"/>
          <p:cNvSpPr txBox="1"/>
          <p:nvPr/>
        </p:nvSpPr>
        <p:spPr>
          <a:xfrm>
            <a:off x="6355080" y="18745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8"/>
          <p:cNvSpPr txBox="1"/>
          <p:nvPr/>
        </p:nvSpPr>
        <p:spPr>
          <a:xfrm>
            <a:off x="7013448" y="1847088"/>
            <a:ext cx="4315968" cy="310896"/>
          </a:xfrm>
          <a:prstGeom prst="rect">
            <a:avLst/>
          </a:prstGeom>
          <a:noFill/>
          <a:ln/>
        </p:spPr>
        <p:txBody>
          <a:bodyPr wrap="square" lIns="0" tIns="0" rIns="0" bIns="0" rtlCol="0" anchor="ctr"/>
          <a:lstStyle/>
          <a:p>
            <a:pPr indent="0" marL="0">
              <a:buNone/>
            </a:pPr>
            <a:r>
              <a:rPr lang="en-US" sz="1650" b="1" dirty="0">
                <a:solidFill>
                  <a:srgbClr val="07281D"/>
                </a:solidFill>
                <a:latin typeface="Cambria" pitchFamily="34" charset="0"/>
                <a:ea typeface="Cambria" pitchFamily="34" charset="-122"/>
                <a:cs typeface="Cambria" pitchFamily="34" charset="-120"/>
              </a:rPr>
              <a:t>Problem ve Çözüm</a:t>
            </a:r>
            <a:endParaRPr lang="en-US" sz="1650" dirty="0"/>
          </a:p>
        </p:txBody>
      </p:sp>
      <p:sp>
        <p:nvSpPr>
          <p:cNvPr id="12" name="Text 9"/>
          <p:cNvSpPr txBox="1"/>
          <p:nvPr/>
        </p:nvSpPr>
        <p:spPr>
          <a:xfrm>
            <a:off x="7013448" y="2148840"/>
            <a:ext cx="4315968" cy="274320"/>
          </a:xfrm>
          <a:prstGeom prst="rect">
            <a:avLst/>
          </a:prstGeom>
          <a:noFill/>
          <a:ln/>
        </p:spPr>
        <p:txBody>
          <a:bodyPr wrap="square" lIns="0" tIns="0" rIns="0" bIns="0" rtlCol="0" anchor="ctr"/>
          <a:lstStyle/>
          <a:p>
            <a:pPr indent="0" marL="0">
              <a:buNone/>
            </a:pPr>
            <a:r>
              <a:rPr lang="en-US" sz="1200" dirty="0">
                <a:solidFill>
                  <a:srgbClr val="6F7F76"/>
                </a:solidFill>
                <a:latin typeface="Calibri" pitchFamily="34" charset="0"/>
                <a:ea typeface="Calibri" pitchFamily="34" charset="-122"/>
                <a:cs typeface="Calibri" pitchFamily="34" charset="-120"/>
              </a:rPr>
              <a:t>Yangın krizi, kimyasal tehdit, ExtinGard</a:t>
            </a:r>
            <a:endParaRPr lang="en-US" sz="1200" dirty="0"/>
          </a:p>
        </p:txBody>
      </p:sp>
      <p:sp>
        <p:nvSpPr>
          <p:cNvPr id="13" name="Shape 10"/>
          <p:cNvSpPr/>
          <p:nvPr/>
        </p:nvSpPr>
        <p:spPr>
          <a:xfrm>
            <a:off x="685800" y="2971800"/>
            <a:ext cx="457200" cy="457200"/>
          </a:xfrm>
          <a:prstGeom prst="ellipse">
            <a:avLst/>
          </a:prstGeom>
          <a:solidFill>
            <a:srgbClr val="1B6B3A"/>
          </a:solidFill>
          <a:ln w="12700">
            <a:solidFill>
              <a:srgbClr val="1B6B3A"/>
            </a:solidFill>
            <a:prstDash val="solid"/>
          </a:ln>
        </p:spPr>
      </p:sp>
      <p:sp>
        <p:nvSpPr>
          <p:cNvPr id="14" name="Text 11"/>
          <p:cNvSpPr txBox="1"/>
          <p:nvPr/>
        </p:nvSpPr>
        <p:spPr>
          <a:xfrm>
            <a:off x="685800" y="2971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2"/>
          <p:cNvSpPr txBox="1"/>
          <p:nvPr/>
        </p:nvSpPr>
        <p:spPr>
          <a:xfrm>
            <a:off x="1344168" y="2944368"/>
            <a:ext cx="4315968" cy="310896"/>
          </a:xfrm>
          <a:prstGeom prst="rect">
            <a:avLst/>
          </a:prstGeom>
          <a:noFill/>
          <a:ln/>
        </p:spPr>
        <p:txBody>
          <a:bodyPr wrap="square" lIns="0" tIns="0" rIns="0" bIns="0" rtlCol="0" anchor="ctr"/>
          <a:lstStyle/>
          <a:p>
            <a:pPr indent="0" marL="0">
              <a:buNone/>
            </a:pPr>
            <a:r>
              <a:rPr lang="en-US" sz="1650" b="1" dirty="0">
                <a:solidFill>
                  <a:srgbClr val="07281D"/>
                </a:solidFill>
                <a:latin typeface="Cambria" pitchFamily="34" charset="0"/>
                <a:ea typeface="Cambria" pitchFamily="34" charset="-122"/>
                <a:cs typeface="Cambria" pitchFamily="34" charset="-120"/>
              </a:rPr>
              <a:t>Teknoloji ve Üretim</a:t>
            </a:r>
            <a:endParaRPr lang="en-US" sz="1650" dirty="0"/>
          </a:p>
        </p:txBody>
      </p:sp>
      <p:sp>
        <p:nvSpPr>
          <p:cNvPr id="16" name="Text 13"/>
          <p:cNvSpPr txBox="1"/>
          <p:nvPr/>
        </p:nvSpPr>
        <p:spPr>
          <a:xfrm>
            <a:off x="1344168" y="3246120"/>
            <a:ext cx="4315968" cy="274320"/>
          </a:xfrm>
          <a:prstGeom prst="rect">
            <a:avLst/>
          </a:prstGeom>
          <a:noFill/>
          <a:ln/>
        </p:spPr>
        <p:txBody>
          <a:bodyPr wrap="square" lIns="0" tIns="0" rIns="0" bIns="0" rtlCol="0" anchor="ctr"/>
          <a:lstStyle/>
          <a:p>
            <a:pPr indent="0" marL="0">
              <a:buNone/>
            </a:pPr>
            <a:r>
              <a:rPr lang="en-US" sz="1200" dirty="0">
                <a:solidFill>
                  <a:srgbClr val="6F7F76"/>
                </a:solidFill>
                <a:latin typeface="Calibri" pitchFamily="34" charset="0"/>
                <a:ea typeface="Calibri" pitchFamily="34" charset="-122"/>
                <a:cs typeface="Calibri" pitchFamily="34" charset="-120"/>
              </a:rPr>
              <a:t>Üçlü söndürme mekanizması, üretim protokolü</a:t>
            </a:r>
            <a:endParaRPr lang="en-US" sz="1200" dirty="0"/>
          </a:p>
        </p:txBody>
      </p:sp>
      <p:sp>
        <p:nvSpPr>
          <p:cNvPr id="17" name="Shape 14"/>
          <p:cNvSpPr/>
          <p:nvPr/>
        </p:nvSpPr>
        <p:spPr>
          <a:xfrm>
            <a:off x="6355080" y="2971800"/>
            <a:ext cx="457200" cy="457200"/>
          </a:xfrm>
          <a:prstGeom prst="ellipse">
            <a:avLst/>
          </a:prstGeom>
          <a:solidFill>
            <a:srgbClr val="F07818"/>
          </a:solidFill>
          <a:ln w="12700">
            <a:solidFill>
              <a:srgbClr val="F07818"/>
            </a:solidFill>
            <a:prstDash val="solid"/>
          </a:ln>
        </p:spPr>
      </p:sp>
      <p:sp>
        <p:nvSpPr>
          <p:cNvPr id="18" name="Text 15"/>
          <p:cNvSpPr txBox="1"/>
          <p:nvPr/>
        </p:nvSpPr>
        <p:spPr>
          <a:xfrm>
            <a:off x="6355080" y="29718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6"/>
          <p:cNvSpPr txBox="1"/>
          <p:nvPr/>
        </p:nvSpPr>
        <p:spPr>
          <a:xfrm>
            <a:off x="7013448" y="2944368"/>
            <a:ext cx="4315968" cy="310896"/>
          </a:xfrm>
          <a:prstGeom prst="rect">
            <a:avLst/>
          </a:prstGeom>
          <a:noFill/>
          <a:ln/>
        </p:spPr>
        <p:txBody>
          <a:bodyPr wrap="square" lIns="0" tIns="0" rIns="0" bIns="0" rtlCol="0" anchor="ctr"/>
          <a:lstStyle/>
          <a:p>
            <a:pPr indent="0" marL="0">
              <a:buNone/>
            </a:pPr>
            <a:r>
              <a:rPr lang="en-US" sz="1650" b="1" dirty="0">
                <a:solidFill>
                  <a:srgbClr val="07281D"/>
                </a:solidFill>
                <a:latin typeface="Cambria" pitchFamily="34" charset="0"/>
                <a:ea typeface="Cambria" pitchFamily="34" charset="-122"/>
                <a:cs typeface="Cambria" pitchFamily="34" charset="-120"/>
              </a:rPr>
              <a:t>Test ve Doğrulama</a:t>
            </a:r>
            <a:endParaRPr lang="en-US" sz="1650" dirty="0"/>
          </a:p>
        </p:txBody>
      </p:sp>
      <p:sp>
        <p:nvSpPr>
          <p:cNvPr id="20" name="Text 17"/>
          <p:cNvSpPr txBox="1"/>
          <p:nvPr/>
        </p:nvSpPr>
        <p:spPr>
          <a:xfrm>
            <a:off x="7013448" y="3246120"/>
            <a:ext cx="4315968" cy="274320"/>
          </a:xfrm>
          <a:prstGeom prst="rect">
            <a:avLst/>
          </a:prstGeom>
          <a:noFill/>
          <a:ln/>
        </p:spPr>
        <p:txBody>
          <a:bodyPr wrap="square" lIns="0" tIns="0" rIns="0" bIns="0" rtlCol="0" anchor="ctr"/>
          <a:lstStyle/>
          <a:p>
            <a:pPr indent="0" marL="0">
              <a:buNone/>
            </a:pPr>
            <a:r>
              <a:rPr lang="en-US" sz="1200" dirty="0">
                <a:solidFill>
                  <a:srgbClr val="6F7F76"/>
                </a:solidFill>
                <a:latin typeface="Calibri" pitchFamily="34" charset="0"/>
                <a:ea typeface="Calibri" pitchFamily="34" charset="-122"/>
                <a:cs typeface="Calibri" pitchFamily="34" charset="-120"/>
              </a:rPr>
              <a:t>7 materyal testi, Bursa İtfaiye saha çalışması</a:t>
            </a:r>
            <a:endParaRPr lang="en-US" sz="1200" dirty="0"/>
          </a:p>
        </p:txBody>
      </p:sp>
      <p:sp>
        <p:nvSpPr>
          <p:cNvPr id="21" name="Shape 18"/>
          <p:cNvSpPr/>
          <p:nvPr/>
        </p:nvSpPr>
        <p:spPr>
          <a:xfrm>
            <a:off x="685800" y="4069080"/>
            <a:ext cx="457200" cy="457200"/>
          </a:xfrm>
          <a:prstGeom prst="ellipse">
            <a:avLst/>
          </a:prstGeom>
          <a:solidFill>
            <a:srgbClr val="1B6B3A"/>
          </a:solidFill>
          <a:ln w="12700">
            <a:solidFill>
              <a:srgbClr val="1B6B3A"/>
            </a:solidFill>
            <a:prstDash val="solid"/>
          </a:ln>
        </p:spPr>
      </p:sp>
      <p:sp>
        <p:nvSpPr>
          <p:cNvPr id="22" name="Text 19"/>
          <p:cNvSpPr txBox="1"/>
          <p:nvPr/>
        </p:nvSpPr>
        <p:spPr>
          <a:xfrm>
            <a:off x="685800" y="4069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05</a:t>
            </a:r>
            <a:endParaRPr lang="en-US" sz="1300" dirty="0"/>
          </a:p>
        </p:txBody>
      </p:sp>
      <p:sp>
        <p:nvSpPr>
          <p:cNvPr id="23" name="Text 20"/>
          <p:cNvSpPr txBox="1"/>
          <p:nvPr/>
        </p:nvSpPr>
        <p:spPr>
          <a:xfrm>
            <a:off x="1344168" y="4041648"/>
            <a:ext cx="4315968" cy="310896"/>
          </a:xfrm>
          <a:prstGeom prst="rect">
            <a:avLst/>
          </a:prstGeom>
          <a:noFill/>
          <a:ln/>
        </p:spPr>
        <p:txBody>
          <a:bodyPr wrap="square" lIns="0" tIns="0" rIns="0" bIns="0" rtlCol="0" anchor="ctr"/>
          <a:lstStyle/>
          <a:p>
            <a:pPr indent="0" marL="0">
              <a:buNone/>
            </a:pPr>
            <a:r>
              <a:rPr lang="en-US" sz="1650" b="1" dirty="0">
                <a:solidFill>
                  <a:srgbClr val="07281D"/>
                </a:solidFill>
                <a:latin typeface="Cambria" pitchFamily="34" charset="0"/>
                <a:ea typeface="Cambria" pitchFamily="34" charset="-122"/>
                <a:cs typeface="Cambria" pitchFamily="34" charset="-120"/>
              </a:rPr>
              <a:t>Rekabet ve Maliyet</a:t>
            </a:r>
            <a:endParaRPr lang="en-US" sz="1650" dirty="0"/>
          </a:p>
        </p:txBody>
      </p:sp>
      <p:sp>
        <p:nvSpPr>
          <p:cNvPr id="24" name="Text 21"/>
          <p:cNvSpPr txBox="1"/>
          <p:nvPr/>
        </p:nvSpPr>
        <p:spPr>
          <a:xfrm>
            <a:off x="1344168" y="4343400"/>
            <a:ext cx="4315968" cy="274320"/>
          </a:xfrm>
          <a:prstGeom prst="rect">
            <a:avLst/>
          </a:prstGeom>
          <a:noFill/>
          <a:ln/>
        </p:spPr>
        <p:txBody>
          <a:bodyPr wrap="square" lIns="0" tIns="0" rIns="0" bIns="0" rtlCol="0" anchor="ctr"/>
          <a:lstStyle/>
          <a:p>
            <a:pPr indent="0" marL="0">
              <a:buNone/>
            </a:pPr>
            <a:r>
              <a:rPr lang="en-US" sz="1200" dirty="0">
                <a:solidFill>
                  <a:srgbClr val="6F7F76"/>
                </a:solidFill>
                <a:latin typeface="Calibri" pitchFamily="34" charset="0"/>
                <a:ea typeface="Calibri" pitchFamily="34" charset="-122"/>
                <a:cs typeface="Calibri" pitchFamily="34" charset="-120"/>
              </a:rPr>
              <a:t>Piyasa karşılaştırması, birim maliyet analizi</a:t>
            </a:r>
            <a:endParaRPr lang="en-US" sz="1200" dirty="0"/>
          </a:p>
        </p:txBody>
      </p:sp>
      <p:sp>
        <p:nvSpPr>
          <p:cNvPr id="25" name="Shape 22"/>
          <p:cNvSpPr/>
          <p:nvPr/>
        </p:nvSpPr>
        <p:spPr>
          <a:xfrm>
            <a:off x="6355080" y="4069080"/>
            <a:ext cx="457200" cy="457200"/>
          </a:xfrm>
          <a:prstGeom prst="ellipse">
            <a:avLst/>
          </a:prstGeom>
          <a:solidFill>
            <a:srgbClr val="F07818"/>
          </a:solidFill>
          <a:ln w="12700">
            <a:solidFill>
              <a:srgbClr val="F07818"/>
            </a:solidFill>
            <a:prstDash val="solid"/>
          </a:ln>
        </p:spPr>
      </p:sp>
      <p:sp>
        <p:nvSpPr>
          <p:cNvPr id="26" name="Text 23"/>
          <p:cNvSpPr txBox="1"/>
          <p:nvPr/>
        </p:nvSpPr>
        <p:spPr>
          <a:xfrm>
            <a:off x="6355080" y="40690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06</a:t>
            </a:r>
            <a:endParaRPr lang="en-US" sz="1300" dirty="0"/>
          </a:p>
        </p:txBody>
      </p:sp>
      <p:sp>
        <p:nvSpPr>
          <p:cNvPr id="27" name="Text 24"/>
          <p:cNvSpPr txBox="1"/>
          <p:nvPr/>
        </p:nvSpPr>
        <p:spPr>
          <a:xfrm>
            <a:off x="7013448" y="4041648"/>
            <a:ext cx="4315968" cy="310896"/>
          </a:xfrm>
          <a:prstGeom prst="rect">
            <a:avLst/>
          </a:prstGeom>
          <a:noFill/>
          <a:ln/>
        </p:spPr>
        <p:txBody>
          <a:bodyPr wrap="square" lIns="0" tIns="0" rIns="0" bIns="0" rtlCol="0" anchor="ctr"/>
          <a:lstStyle/>
          <a:p>
            <a:pPr indent="0" marL="0">
              <a:buNone/>
            </a:pPr>
            <a:r>
              <a:rPr lang="en-US" sz="1650" b="1" dirty="0">
                <a:solidFill>
                  <a:srgbClr val="07281D"/>
                </a:solidFill>
                <a:latin typeface="Cambria" pitchFamily="34" charset="0"/>
                <a:ea typeface="Cambria" pitchFamily="34" charset="-122"/>
                <a:cs typeface="Cambria" pitchFamily="34" charset="-120"/>
              </a:rPr>
              <a:t>Pazar ve İş Modeli</a:t>
            </a:r>
            <a:endParaRPr lang="en-US" sz="1650" dirty="0"/>
          </a:p>
        </p:txBody>
      </p:sp>
      <p:sp>
        <p:nvSpPr>
          <p:cNvPr id="28" name="Text 25"/>
          <p:cNvSpPr txBox="1"/>
          <p:nvPr/>
        </p:nvSpPr>
        <p:spPr>
          <a:xfrm>
            <a:off x="7013448" y="4343400"/>
            <a:ext cx="4315968" cy="274320"/>
          </a:xfrm>
          <a:prstGeom prst="rect">
            <a:avLst/>
          </a:prstGeom>
          <a:noFill/>
          <a:ln/>
        </p:spPr>
        <p:txBody>
          <a:bodyPr wrap="square" lIns="0" tIns="0" rIns="0" bIns="0" rtlCol="0" anchor="ctr"/>
          <a:lstStyle/>
          <a:p>
            <a:pPr indent="0" marL="0">
              <a:buNone/>
            </a:pPr>
            <a:r>
              <a:rPr lang="en-US" sz="1200" dirty="0">
                <a:solidFill>
                  <a:srgbClr val="6F7F76"/>
                </a:solidFill>
                <a:latin typeface="Calibri" pitchFamily="34" charset="0"/>
                <a:ea typeface="Calibri" pitchFamily="34" charset="-122"/>
                <a:cs typeface="Calibri" pitchFamily="34" charset="-120"/>
              </a:rPr>
              <a:t>TAM–SAM–SOM, B2G / B2B kanalları</a:t>
            </a:r>
            <a:endParaRPr lang="en-US" sz="1200" dirty="0"/>
          </a:p>
        </p:txBody>
      </p:sp>
      <p:sp>
        <p:nvSpPr>
          <p:cNvPr id="29" name="Shape 26"/>
          <p:cNvSpPr/>
          <p:nvPr/>
        </p:nvSpPr>
        <p:spPr>
          <a:xfrm>
            <a:off x="685800" y="5166360"/>
            <a:ext cx="457200" cy="457200"/>
          </a:xfrm>
          <a:prstGeom prst="ellipse">
            <a:avLst/>
          </a:prstGeom>
          <a:solidFill>
            <a:srgbClr val="1B6B3A"/>
          </a:solidFill>
          <a:ln w="12700">
            <a:solidFill>
              <a:srgbClr val="1B6B3A"/>
            </a:solidFill>
            <a:prstDash val="solid"/>
          </a:ln>
        </p:spPr>
      </p:sp>
      <p:sp>
        <p:nvSpPr>
          <p:cNvPr id="30" name="Text 27"/>
          <p:cNvSpPr txBox="1"/>
          <p:nvPr/>
        </p:nvSpPr>
        <p:spPr>
          <a:xfrm>
            <a:off x="685800" y="5166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07</a:t>
            </a:r>
            <a:endParaRPr lang="en-US" sz="1300" dirty="0"/>
          </a:p>
        </p:txBody>
      </p:sp>
      <p:sp>
        <p:nvSpPr>
          <p:cNvPr id="31" name="Text 28"/>
          <p:cNvSpPr txBox="1"/>
          <p:nvPr/>
        </p:nvSpPr>
        <p:spPr>
          <a:xfrm>
            <a:off x="1344168" y="5138928"/>
            <a:ext cx="4315968" cy="310896"/>
          </a:xfrm>
          <a:prstGeom prst="rect">
            <a:avLst/>
          </a:prstGeom>
          <a:noFill/>
          <a:ln/>
        </p:spPr>
        <p:txBody>
          <a:bodyPr wrap="square" lIns="0" tIns="0" rIns="0" bIns="0" rtlCol="0" anchor="ctr"/>
          <a:lstStyle/>
          <a:p>
            <a:pPr indent="0" marL="0">
              <a:buNone/>
            </a:pPr>
            <a:r>
              <a:rPr lang="en-US" sz="1650" b="1" dirty="0">
                <a:solidFill>
                  <a:srgbClr val="07281D"/>
                </a:solidFill>
                <a:latin typeface="Cambria" pitchFamily="34" charset="0"/>
                <a:ea typeface="Cambria" pitchFamily="34" charset="-122"/>
                <a:cs typeface="Cambria" pitchFamily="34" charset="-120"/>
              </a:rPr>
              <a:t>Yol Haritası</a:t>
            </a:r>
            <a:endParaRPr lang="en-US" sz="1650" dirty="0"/>
          </a:p>
        </p:txBody>
      </p:sp>
      <p:sp>
        <p:nvSpPr>
          <p:cNvPr id="32" name="Text 29"/>
          <p:cNvSpPr txBox="1"/>
          <p:nvPr/>
        </p:nvSpPr>
        <p:spPr>
          <a:xfrm>
            <a:off x="1344168" y="5440680"/>
            <a:ext cx="4315968" cy="274320"/>
          </a:xfrm>
          <a:prstGeom prst="rect">
            <a:avLst/>
          </a:prstGeom>
          <a:noFill/>
          <a:ln/>
        </p:spPr>
        <p:txBody>
          <a:bodyPr wrap="square" lIns="0" tIns="0" rIns="0" bIns="0" rtlCol="0" anchor="ctr"/>
          <a:lstStyle/>
          <a:p>
            <a:pPr indent="0" marL="0">
              <a:buNone/>
            </a:pPr>
            <a:r>
              <a:rPr lang="en-US" sz="1200" dirty="0">
                <a:solidFill>
                  <a:srgbClr val="6F7F76"/>
                </a:solidFill>
                <a:latin typeface="Calibri" pitchFamily="34" charset="0"/>
                <a:ea typeface="Calibri" pitchFamily="34" charset="-122"/>
                <a:cs typeface="Calibri" pitchFamily="34" charset="-120"/>
              </a:rPr>
              <a:t>12 aylık plan, sertifikasyon ve pilot üretim</a:t>
            </a:r>
            <a:endParaRPr lang="en-US" sz="1200" dirty="0"/>
          </a:p>
        </p:txBody>
      </p:sp>
      <p:sp>
        <p:nvSpPr>
          <p:cNvPr id="33" name="Shape 30"/>
          <p:cNvSpPr/>
          <p:nvPr/>
        </p:nvSpPr>
        <p:spPr>
          <a:xfrm>
            <a:off x="6355080" y="5166360"/>
            <a:ext cx="457200" cy="457200"/>
          </a:xfrm>
          <a:prstGeom prst="ellipse">
            <a:avLst/>
          </a:prstGeom>
          <a:solidFill>
            <a:srgbClr val="F07818"/>
          </a:solidFill>
          <a:ln w="12700">
            <a:solidFill>
              <a:srgbClr val="F07818"/>
            </a:solidFill>
            <a:prstDash val="solid"/>
          </a:ln>
        </p:spPr>
      </p:sp>
      <p:sp>
        <p:nvSpPr>
          <p:cNvPr id="34" name="Text 31"/>
          <p:cNvSpPr txBox="1"/>
          <p:nvPr/>
        </p:nvSpPr>
        <p:spPr>
          <a:xfrm>
            <a:off x="6355080" y="516636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08</a:t>
            </a:r>
            <a:endParaRPr lang="en-US" sz="1300" dirty="0"/>
          </a:p>
        </p:txBody>
      </p:sp>
      <p:sp>
        <p:nvSpPr>
          <p:cNvPr id="35" name="Text 32"/>
          <p:cNvSpPr txBox="1"/>
          <p:nvPr/>
        </p:nvSpPr>
        <p:spPr>
          <a:xfrm>
            <a:off x="7013448" y="5138928"/>
            <a:ext cx="4315968" cy="310896"/>
          </a:xfrm>
          <a:prstGeom prst="rect">
            <a:avLst/>
          </a:prstGeom>
          <a:noFill/>
          <a:ln/>
        </p:spPr>
        <p:txBody>
          <a:bodyPr wrap="square" lIns="0" tIns="0" rIns="0" bIns="0" rtlCol="0" anchor="ctr"/>
          <a:lstStyle/>
          <a:p>
            <a:pPr indent="0" marL="0">
              <a:buNone/>
            </a:pPr>
            <a:r>
              <a:rPr lang="en-US" sz="1650" b="1" dirty="0">
                <a:solidFill>
                  <a:srgbClr val="07281D"/>
                </a:solidFill>
                <a:latin typeface="Cambria" pitchFamily="34" charset="0"/>
                <a:ea typeface="Cambria" pitchFamily="34" charset="-122"/>
                <a:cs typeface="Cambria" pitchFamily="34" charset="-120"/>
              </a:rPr>
              <a:t>Ekip ve İletişim</a:t>
            </a:r>
            <a:endParaRPr lang="en-US" sz="1650" dirty="0"/>
          </a:p>
        </p:txBody>
      </p:sp>
      <p:sp>
        <p:nvSpPr>
          <p:cNvPr id="36" name="Text 33"/>
          <p:cNvSpPr txBox="1"/>
          <p:nvPr/>
        </p:nvSpPr>
        <p:spPr>
          <a:xfrm>
            <a:off x="7013448" y="5440680"/>
            <a:ext cx="4315968" cy="274320"/>
          </a:xfrm>
          <a:prstGeom prst="rect">
            <a:avLst/>
          </a:prstGeom>
          <a:noFill/>
          <a:ln/>
        </p:spPr>
        <p:txBody>
          <a:bodyPr wrap="square" lIns="0" tIns="0" rIns="0" bIns="0" rtlCol="0" anchor="ctr"/>
          <a:lstStyle/>
          <a:p>
            <a:pPr indent="0" marL="0">
              <a:buNone/>
            </a:pPr>
            <a:r>
              <a:rPr lang="en-US" sz="1200" dirty="0">
                <a:solidFill>
                  <a:srgbClr val="6F7F76"/>
                </a:solidFill>
                <a:latin typeface="Calibri" pitchFamily="34" charset="0"/>
                <a:ea typeface="Calibri" pitchFamily="34" charset="-122"/>
                <a:cs typeface="Calibri" pitchFamily="34" charset="-120"/>
              </a:rPr>
              <a:t>Ateş Kes takımı ve iletişim bilgileri</a:t>
            </a:r>
            <a:endParaRPr lang="en-US" sz="1200" dirty="0"/>
          </a:p>
        </p:txBody>
      </p:sp>
      <p:sp>
        <p:nvSpPr>
          <p:cNvPr id="37" name="Text 34"/>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02</a:t>
            </a:r>
            <a:endParaRPr lang="en-US" sz="1000" dirty="0"/>
          </a:p>
        </p:txBody>
      </p:sp>
      <p:sp>
        <p:nvSpPr>
          <p:cNvPr id="38" name="Text 35"/>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8CC084"/>
                </a:solidFill>
                <a:latin typeface="Calibri" pitchFamily="34" charset="0"/>
                <a:ea typeface="Calibri" pitchFamily="34" charset="-122"/>
                <a:cs typeface="Calibri" pitchFamily="34" charset="-120"/>
              </a:rPr>
              <a:t>FİKRİ MÜLKİYET</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Markamız Tescilli, Patentimiz Onaylandı</a:t>
            </a:r>
            <a:endParaRPr lang="en-US" sz="3300" dirty="0"/>
          </a:p>
        </p:txBody>
      </p:sp>
      <p:sp>
        <p:nvSpPr>
          <p:cNvPr id="5" name="Text 2"/>
          <p:cNvSpPr txBox="1"/>
          <p:nvPr/>
        </p:nvSpPr>
        <p:spPr>
          <a:xfrm>
            <a:off x="685800" y="1316736"/>
            <a:ext cx="9692640" cy="310896"/>
          </a:xfrm>
          <a:prstGeom prst="rect">
            <a:avLst/>
          </a:prstGeom>
          <a:noFill/>
          <a:ln/>
        </p:spPr>
        <p:txBody>
          <a:bodyPr wrap="square" lIns="0" tIns="0" rIns="0" bIns="0" rtlCol="0" anchor="ctr"/>
          <a:lstStyle/>
          <a:p>
            <a:pPr indent="0" marL="0">
              <a:buNone/>
            </a:pPr>
            <a:r>
              <a:rPr lang="en-US" sz="1500" dirty="0">
                <a:solidFill>
                  <a:srgbClr val="CFE3D6"/>
                </a:solidFill>
                <a:latin typeface="Calibri" pitchFamily="34" charset="0"/>
                <a:ea typeface="Calibri" pitchFamily="34" charset="-122"/>
                <a:cs typeface="Calibri" pitchFamily="34" charset="-120"/>
              </a:rPr>
              <a:t>ExtinGard markası tescil edildi, patent başvurumuz onaylandı.</a:t>
            </a:r>
            <a:endParaRPr lang="en-US" sz="1500" dirty="0"/>
          </a:p>
        </p:txBody>
      </p:sp>
      <p:sp>
        <p:nvSpPr>
          <p:cNvPr id="6" name="Shape 3"/>
          <p:cNvSpPr/>
          <p:nvPr/>
        </p:nvSpPr>
        <p:spPr>
          <a:xfrm>
            <a:off x="685800" y="1874520"/>
            <a:ext cx="5276088" cy="2926080"/>
          </a:xfrm>
          <a:prstGeom prst="roundRect">
            <a:avLst>
              <a:gd name="adj" fmla="val 3438"/>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7" name="Shape 4"/>
          <p:cNvSpPr/>
          <p:nvPr/>
        </p:nvSpPr>
        <p:spPr>
          <a:xfrm>
            <a:off x="1069848" y="2203704"/>
            <a:ext cx="603504" cy="603504"/>
          </a:xfrm>
          <a:prstGeom prst="ellipse">
            <a:avLst/>
          </a:prstGeom>
          <a:solidFill>
            <a:srgbClr val="F07818"/>
          </a:solidFill>
          <a:ln w="12700">
            <a:solidFill>
              <a:srgbClr val="F07818"/>
            </a:solidFill>
            <a:prstDash val="solid"/>
          </a:ln>
        </p:spPr>
      </p:sp>
      <p:pic>
        <p:nvPicPr>
          <p:cNvPr id="8" name="Image 1" descr="img/icons/certificate_w.png">    </p:cNvPr>
          <p:cNvPicPr>
            <a:picLocks noChangeAspect="1"/>
          </p:cNvPicPr>
          <p:nvPr/>
        </p:nvPicPr>
        <p:blipFill>
          <a:blip r:embed="rId2"/>
          <a:stretch>
            <a:fillRect/>
          </a:stretch>
        </p:blipFill>
        <p:spPr>
          <a:xfrm>
            <a:off x="1226759" y="2360615"/>
            <a:ext cx="289682" cy="289682"/>
          </a:xfrm>
          <a:prstGeom prst="rect">
            <a:avLst/>
          </a:prstGeom>
        </p:spPr>
      </p:pic>
      <p:sp>
        <p:nvSpPr>
          <p:cNvPr id="9" name="Text 5"/>
          <p:cNvSpPr txBox="1"/>
          <p:nvPr/>
        </p:nvSpPr>
        <p:spPr>
          <a:xfrm>
            <a:off x="1819656" y="2221992"/>
            <a:ext cx="3904488" cy="237744"/>
          </a:xfrm>
          <a:prstGeom prst="rect">
            <a:avLst/>
          </a:prstGeom>
          <a:noFill/>
          <a:ln/>
        </p:spPr>
        <p:txBody>
          <a:bodyPr wrap="square" lIns="0" tIns="0" rIns="0" bIns="0" rtlCol="0" anchor="ctr"/>
          <a:lstStyle/>
          <a:p>
            <a:pPr indent="0" marL="0">
              <a:buNone/>
            </a:pPr>
            <a:r>
              <a:rPr lang="en-US" sz="1000" b="1" spc="160" kern="0" dirty="0">
                <a:solidFill>
                  <a:srgbClr val="8CC084"/>
                </a:solidFill>
                <a:latin typeface="Calibri" pitchFamily="34" charset="0"/>
                <a:ea typeface="Calibri" pitchFamily="34" charset="-122"/>
                <a:cs typeface="Calibri" pitchFamily="34" charset="-120"/>
              </a:rPr>
              <a:t>MARKA · TESCİL EDİLDİ</a:t>
            </a:r>
            <a:endParaRPr lang="en-US" sz="1000" dirty="0"/>
          </a:p>
        </p:txBody>
      </p:sp>
      <p:sp>
        <p:nvSpPr>
          <p:cNvPr id="10" name="Text 6"/>
          <p:cNvSpPr txBox="1"/>
          <p:nvPr/>
        </p:nvSpPr>
        <p:spPr>
          <a:xfrm>
            <a:off x="1819656" y="2441448"/>
            <a:ext cx="3904488"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ExtinGard</a:t>
            </a:r>
            <a:endParaRPr lang="en-US" sz="2200" dirty="0"/>
          </a:p>
        </p:txBody>
      </p:sp>
      <p:sp>
        <p:nvSpPr>
          <p:cNvPr id="11" name="Text 7"/>
          <p:cNvSpPr txBox="1"/>
          <p:nvPr/>
        </p:nvSpPr>
        <p:spPr>
          <a:xfrm>
            <a:off x="1069848" y="3044952"/>
            <a:ext cx="1325880" cy="384048"/>
          </a:xfrm>
          <a:prstGeom prst="rect">
            <a:avLst/>
          </a:prstGeom>
          <a:noFill/>
          <a:ln/>
        </p:spPr>
        <p:txBody>
          <a:bodyPr wrap="square" lIns="0" tIns="0" rIns="0" bIns="0" rtlCol="0" anchor="ctr"/>
          <a:lstStyle/>
          <a:p>
            <a:pPr indent="0" marL="0">
              <a:buNone/>
            </a:pPr>
            <a:r>
              <a:rPr lang="en-US" sz="1100" b="1" spc="40" kern="0" dirty="0">
                <a:solidFill>
                  <a:srgbClr val="7FA88F"/>
                </a:solidFill>
                <a:latin typeface="Calibri" pitchFamily="34" charset="0"/>
                <a:ea typeface="Calibri" pitchFamily="34" charset="-122"/>
                <a:cs typeface="Calibri" pitchFamily="34" charset="-120"/>
              </a:rPr>
              <a:t>Tescil No</a:t>
            </a:r>
            <a:endParaRPr lang="en-US" sz="1100" dirty="0"/>
          </a:p>
        </p:txBody>
      </p:sp>
      <p:sp>
        <p:nvSpPr>
          <p:cNvPr id="12" name="Text 8"/>
          <p:cNvSpPr txBox="1"/>
          <p:nvPr/>
        </p:nvSpPr>
        <p:spPr>
          <a:xfrm>
            <a:off x="2423160" y="3044952"/>
            <a:ext cx="315468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2026/001631</a:t>
            </a:r>
            <a:endParaRPr lang="en-US" sz="1250" dirty="0"/>
          </a:p>
        </p:txBody>
      </p:sp>
      <p:sp>
        <p:nvSpPr>
          <p:cNvPr id="13" name="Text 9"/>
          <p:cNvSpPr txBox="1"/>
          <p:nvPr/>
        </p:nvSpPr>
        <p:spPr>
          <a:xfrm>
            <a:off x="1069848" y="3465576"/>
            <a:ext cx="1325880" cy="384048"/>
          </a:xfrm>
          <a:prstGeom prst="rect">
            <a:avLst/>
          </a:prstGeom>
          <a:noFill/>
          <a:ln/>
        </p:spPr>
        <p:txBody>
          <a:bodyPr wrap="square" lIns="0" tIns="0" rIns="0" bIns="0" rtlCol="0" anchor="ctr"/>
          <a:lstStyle/>
          <a:p>
            <a:pPr indent="0" marL="0">
              <a:buNone/>
            </a:pPr>
            <a:r>
              <a:rPr lang="en-US" sz="1100" b="1" spc="40" kern="0" dirty="0">
                <a:solidFill>
                  <a:srgbClr val="7FA88F"/>
                </a:solidFill>
                <a:latin typeface="Calibri" pitchFamily="34" charset="0"/>
                <a:ea typeface="Calibri" pitchFamily="34" charset="-122"/>
                <a:cs typeface="Calibri" pitchFamily="34" charset="-120"/>
              </a:rPr>
              <a:t>Tescil Tarihi</a:t>
            </a:r>
            <a:endParaRPr lang="en-US" sz="1100" dirty="0"/>
          </a:p>
        </p:txBody>
      </p:sp>
      <p:sp>
        <p:nvSpPr>
          <p:cNvPr id="14" name="Text 10"/>
          <p:cNvSpPr txBox="1"/>
          <p:nvPr/>
        </p:nvSpPr>
        <p:spPr>
          <a:xfrm>
            <a:off x="2423160" y="3465576"/>
            <a:ext cx="315468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04.06.2026</a:t>
            </a:r>
            <a:endParaRPr lang="en-US" sz="1250" dirty="0"/>
          </a:p>
        </p:txBody>
      </p:sp>
      <p:sp>
        <p:nvSpPr>
          <p:cNvPr id="15" name="Text 11"/>
          <p:cNvSpPr txBox="1"/>
          <p:nvPr/>
        </p:nvSpPr>
        <p:spPr>
          <a:xfrm>
            <a:off x="1069848" y="3886200"/>
            <a:ext cx="1325880" cy="384048"/>
          </a:xfrm>
          <a:prstGeom prst="rect">
            <a:avLst/>
          </a:prstGeom>
          <a:noFill/>
          <a:ln/>
        </p:spPr>
        <p:txBody>
          <a:bodyPr wrap="square" lIns="0" tIns="0" rIns="0" bIns="0" rtlCol="0" anchor="ctr"/>
          <a:lstStyle/>
          <a:p>
            <a:pPr indent="0" marL="0">
              <a:buNone/>
            </a:pPr>
            <a:r>
              <a:rPr lang="en-US" sz="1100" b="1" spc="40" kern="0" dirty="0">
                <a:solidFill>
                  <a:srgbClr val="7FA88F"/>
                </a:solidFill>
                <a:latin typeface="Calibri" pitchFamily="34" charset="0"/>
                <a:ea typeface="Calibri" pitchFamily="34" charset="-122"/>
                <a:cs typeface="Calibri" pitchFamily="34" charset="-120"/>
              </a:rPr>
              <a:t>Nice Sınıfları</a:t>
            </a:r>
            <a:endParaRPr lang="en-US" sz="1100" dirty="0"/>
          </a:p>
        </p:txBody>
      </p:sp>
      <p:sp>
        <p:nvSpPr>
          <p:cNvPr id="16" name="Text 12"/>
          <p:cNvSpPr txBox="1"/>
          <p:nvPr/>
        </p:nvSpPr>
        <p:spPr>
          <a:xfrm>
            <a:off x="2423160" y="3886200"/>
            <a:ext cx="315468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01 · 09 · 35</a:t>
            </a:r>
            <a:endParaRPr lang="en-US" sz="1250" dirty="0"/>
          </a:p>
        </p:txBody>
      </p:sp>
      <p:sp>
        <p:nvSpPr>
          <p:cNvPr id="17" name="Text 13"/>
          <p:cNvSpPr txBox="1"/>
          <p:nvPr/>
        </p:nvSpPr>
        <p:spPr>
          <a:xfrm>
            <a:off x="1069848" y="4306824"/>
            <a:ext cx="1325880" cy="384048"/>
          </a:xfrm>
          <a:prstGeom prst="rect">
            <a:avLst/>
          </a:prstGeom>
          <a:noFill/>
          <a:ln/>
        </p:spPr>
        <p:txBody>
          <a:bodyPr wrap="square" lIns="0" tIns="0" rIns="0" bIns="0" rtlCol="0" anchor="ctr"/>
          <a:lstStyle/>
          <a:p>
            <a:pPr indent="0" marL="0">
              <a:buNone/>
            </a:pPr>
            <a:r>
              <a:rPr lang="en-US" sz="1100" b="1" spc="40" kern="0" dirty="0">
                <a:solidFill>
                  <a:srgbClr val="7FA88F"/>
                </a:solidFill>
                <a:latin typeface="Calibri" pitchFamily="34" charset="0"/>
                <a:ea typeface="Calibri" pitchFamily="34" charset="-122"/>
                <a:cs typeface="Calibri" pitchFamily="34" charset="-120"/>
              </a:rPr>
              <a:t>Koruma Süresi</a:t>
            </a:r>
            <a:endParaRPr lang="en-US" sz="1100" dirty="0"/>
          </a:p>
        </p:txBody>
      </p:sp>
      <p:sp>
        <p:nvSpPr>
          <p:cNvPr id="18" name="Text 14"/>
          <p:cNvSpPr txBox="1"/>
          <p:nvPr/>
        </p:nvSpPr>
        <p:spPr>
          <a:xfrm>
            <a:off x="2423160" y="4306824"/>
            <a:ext cx="315468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06.01.2026 – 06.01.2036</a:t>
            </a:r>
            <a:endParaRPr lang="en-US" sz="1250" dirty="0"/>
          </a:p>
        </p:txBody>
      </p:sp>
      <p:sp>
        <p:nvSpPr>
          <p:cNvPr id="19" name="Shape 15"/>
          <p:cNvSpPr/>
          <p:nvPr/>
        </p:nvSpPr>
        <p:spPr>
          <a:xfrm>
            <a:off x="6227064" y="1874520"/>
            <a:ext cx="5276088" cy="2926080"/>
          </a:xfrm>
          <a:prstGeom prst="roundRect">
            <a:avLst>
              <a:gd name="adj" fmla="val 3438"/>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20" name="Shape 16"/>
          <p:cNvSpPr/>
          <p:nvPr/>
        </p:nvSpPr>
        <p:spPr>
          <a:xfrm>
            <a:off x="6611112" y="2203704"/>
            <a:ext cx="603504" cy="603504"/>
          </a:xfrm>
          <a:prstGeom prst="ellipse">
            <a:avLst/>
          </a:prstGeom>
          <a:solidFill>
            <a:srgbClr val="3E9B5F"/>
          </a:solidFill>
          <a:ln w="12700">
            <a:solidFill>
              <a:srgbClr val="3E9B5F"/>
            </a:solidFill>
            <a:prstDash val="solid"/>
          </a:ln>
        </p:spPr>
      </p:sp>
      <p:pic>
        <p:nvPicPr>
          <p:cNvPr id="21" name="Image 2" descr="img/icons/stamp_w.png">    </p:cNvPr>
          <p:cNvPicPr>
            <a:picLocks noChangeAspect="1"/>
          </p:cNvPicPr>
          <p:nvPr/>
        </p:nvPicPr>
        <p:blipFill>
          <a:blip r:embed="rId3"/>
          <a:stretch>
            <a:fillRect/>
          </a:stretch>
        </p:blipFill>
        <p:spPr>
          <a:xfrm>
            <a:off x="6768023" y="2360615"/>
            <a:ext cx="289682" cy="289682"/>
          </a:xfrm>
          <a:prstGeom prst="rect">
            <a:avLst/>
          </a:prstGeom>
        </p:spPr>
      </p:pic>
      <p:sp>
        <p:nvSpPr>
          <p:cNvPr id="22" name="Text 17"/>
          <p:cNvSpPr txBox="1"/>
          <p:nvPr/>
        </p:nvSpPr>
        <p:spPr>
          <a:xfrm>
            <a:off x="7360920" y="2221992"/>
            <a:ext cx="3904488" cy="237744"/>
          </a:xfrm>
          <a:prstGeom prst="rect">
            <a:avLst/>
          </a:prstGeom>
          <a:noFill/>
          <a:ln/>
        </p:spPr>
        <p:txBody>
          <a:bodyPr wrap="square" lIns="0" tIns="0" rIns="0" bIns="0" rtlCol="0" anchor="ctr"/>
          <a:lstStyle/>
          <a:p>
            <a:pPr indent="0" marL="0">
              <a:buNone/>
            </a:pPr>
            <a:r>
              <a:rPr lang="en-US" sz="1000" b="1" spc="160" kern="0" dirty="0">
                <a:solidFill>
                  <a:srgbClr val="8CC084"/>
                </a:solidFill>
                <a:latin typeface="Calibri" pitchFamily="34" charset="0"/>
                <a:ea typeface="Calibri" pitchFamily="34" charset="-122"/>
                <a:cs typeface="Calibri" pitchFamily="34" charset="-120"/>
              </a:rPr>
              <a:t>PATENT · BELGE KARARI ALINDI</a:t>
            </a:r>
            <a:endParaRPr lang="en-US" sz="1000" dirty="0"/>
          </a:p>
        </p:txBody>
      </p:sp>
      <p:sp>
        <p:nvSpPr>
          <p:cNvPr id="23" name="Text 18"/>
          <p:cNvSpPr txBox="1"/>
          <p:nvPr/>
        </p:nvSpPr>
        <p:spPr>
          <a:xfrm>
            <a:off x="7360920" y="2441448"/>
            <a:ext cx="3904488" cy="402336"/>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Yangın Söndürücü Toz</a:t>
            </a:r>
            <a:endParaRPr lang="en-US" sz="2200" dirty="0"/>
          </a:p>
        </p:txBody>
      </p:sp>
      <p:sp>
        <p:nvSpPr>
          <p:cNvPr id="24" name="Text 19"/>
          <p:cNvSpPr txBox="1"/>
          <p:nvPr/>
        </p:nvSpPr>
        <p:spPr>
          <a:xfrm>
            <a:off x="6611112" y="3044952"/>
            <a:ext cx="1325880" cy="384048"/>
          </a:xfrm>
          <a:prstGeom prst="rect">
            <a:avLst/>
          </a:prstGeom>
          <a:noFill/>
          <a:ln/>
        </p:spPr>
        <p:txBody>
          <a:bodyPr wrap="square" lIns="0" tIns="0" rIns="0" bIns="0" rtlCol="0" anchor="ctr"/>
          <a:lstStyle/>
          <a:p>
            <a:pPr indent="0" marL="0">
              <a:buNone/>
            </a:pPr>
            <a:r>
              <a:rPr lang="en-US" sz="1100" b="1" spc="40" kern="0" dirty="0">
                <a:solidFill>
                  <a:srgbClr val="7FA88F"/>
                </a:solidFill>
                <a:latin typeface="Calibri" pitchFamily="34" charset="0"/>
                <a:ea typeface="Calibri" pitchFamily="34" charset="-122"/>
                <a:cs typeface="Calibri" pitchFamily="34" charset="-120"/>
              </a:rPr>
              <a:t>Başvuru No</a:t>
            </a:r>
            <a:endParaRPr lang="en-US" sz="1100" dirty="0"/>
          </a:p>
        </p:txBody>
      </p:sp>
      <p:sp>
        <p:nvSpPr>
          <p:cNvPr id="25" name="Text 20"/>
          <p:cNvSpPr txBox="1"/>
          <p:nvPr/>
        </p:nvSpPr>
        <p:spPr>
          <a:xfrm>
            <a:off x="7964424" y="3044952"/>
            <a:ext cx="315468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2025/021562</a:t>
            </a:r>
            <a:endParaRPr lang="en-US" sz="1250" dirty="0"/>
          </a:p>
        </p:txBody>
      </p:sp>
      <p:sp>
        <p:nvSpPr>
          <p:cNvPr id="26" name="Text 21"/>
          <p:cNvSpPr txBox="1"/>
          <p:nvPr/>
        </p:nvSpPr>
        <p:spPr>
          <a:xfrm>
            <a:off x="6611112" y="3465576"/>
            <a:ext cx="1325880" cy="384048"/>
          </a:xfrm>
          <a:prstGeom prst="rect">
            <a:avLst/>
          </a:prstGeom>
          <a:noFill/>
          <a:ln/>
        </p:spPr>
        <p:txBody>
          <a:bodyPr wrap="square" lIns="0" tIns="0" rIns="0" bIns="0" rtlCol="0" anchor="ctr"/>
          <a:lstStyle/>
          <a:p>
            <a:pPr indent="0" marL="0">
              <a:buNone/>
            </a:pPr>
            <a:r>
              <a:rPr lang="en-US" sz="1100" b="1" spc="40" kern="0" dirty="0">
                <a:solidFill>
                  <a:srgbClr val="7FA88F"/>
                </a:solidFill>
                <a:latin typeface="Calibri" pitchFamily="34" charset="0"/>
                <a:ea typeface="Calibri" pitchFamily="34" charset="-122"/>
                <a:cs typeface="Calibri" pitchFamily="34" charset="-120"/>
              </a:rPr>
              <a:t>Başvuru Tarihi</a:t>
            </a:r>
            <a:endParaRPr lang="en-US" sz="1100" dirty="0"/>
          </a:p>
        </p:txBody>
      </p:sp>
      <p:sp>
        <p:nvSpPr>
          <p:cNvPr id="27" name="Text 22"/>
          <p:cNvSpPr txBox="1"/>
          <p:nvPr/>
        </p:nvSpPr>
        <p:spPr>
          <a:xfrm>
            <a:off x="7964424" y="3465576"/>
            <a:ext cx="315468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24.12.2025</a:t>
            </a:r>
            <a:endParaRPr lang="en-US" sz="1250" dirty="0"/>
          </a:p>
        </p:txBody>
      </p:sp>
      <p:sp>
        <p:nvSpPr>
          <p:cNvPr id="28" name="Text 23"/>
          <p:cNvSpPr txBox="1"/>
          <p:nvPr/>
        </p:nvSpPr>
        <p:spPr>
          <a:xfrm>
            <a:off x="6611112" y="3886200"/>
            <a:ext cx="1325880" cy="384048"/>
          </a:xfrm>
          <a:prstGeom prst="rect">
            <a:avLst/>
          </a:prstGeom>
          <a:noFill/>
          <a:ln/>
        </p:spPr>
        <p:txBody>
          <a:bodyPr wrap="square" lIns="0" tIns="0" rIns="0" bIns="0" rtlCol="0" anchor="ctr"/>
          <a:lstStyle/>
          <a:p>
            <a:pPr indent="0" marL="0">
              <a:buNone/>
            </a:pPr>
            <a:r>
              <a:rPr lang="en-US" sz="1100" b="1" spc="40" kern="0" dirty="0">
                <a:solidFill>
                  <a:srgbClr val="7FA88F"/>
                </a:solidFill>
                <a:latin typeface="Calibri" pitchFamily="34" charset="0"/>
                <a:ea typeface="Calibri" pitchFamily="34" charset="-122"/>
                <a:cs typeface="Calibri" pitchFamily="34" charset="-120"/>
              </a:rPr>
              <a:t>IPC Sınıfı</a:t>
            </a:r>
            <a:endParaRPr lang="en-US" sz="1100" dirty="0"/>
          </a:p>
        </p:txBody>
      </p:sp>
      <p:sp>
        <p:nvSpPr>
          <p:cNvPr id="29" name="Text 24"/>
          <p:cNvSpPr txBox="1"/>
          <p:nvPr/>
        </p:nvSpPr>
        <p:spPr>
          <a:xfrm>
            <a:off x="7964424" y="3886200"/>
            <a:ext cx="315468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A62D 1/00</a:t>
            </a:r>
            <a:endParaRPr lang="en-US" sz="1250" dirty="0"/>
          </a:p>
        </p:txBody>
      </p:sp>
      <p:sp>
        <p:nvSpPr>
          <p:cNvPr id="30" name="Text 25"/>
          <p:cNvSpPr txBox="1"/>
          <p:nvPr/>
        </p:nvSpPr>
        <p:spPr>
          <a:xfrm>
            <a:off x="6611112" y="4306824"/>
            <a:ext cx="1325880" cy="384048"/>
          </a:xfrm>
          <a:prstGeom prst="rect">
            <a:avLst/>
          </a:prstGeom>
          <a:noFill/>
          <a:ln/>
        </p:spPr>
        <p:txBody>
          <a:bodyPr wrap="square" lIns="0" tIns="0" rIns="0" bIns="0" rtlCol="0" anchor="ctr"/>
          <a:lstStyle/>
          <a:p>
            <a:pPr indent="0" marL="0">
              <a:buNone/>
            </a:pPr>
            <a:r>
              <a:rPr lang="en-US" sz="1100" b="1" spc="40" kern="0" dirty="0">
                <a:solidFill>
                  <a:srgbClr val="7FA88F"/>
                </a:solidFill>
                <a:latin typeface="Calibri" pitchFamily="34" charset="0"/>
                <a:ea typeface="Calibri" pitchFamily="34" charset="-122"/>
                <a:cs typeface="Calibri" pitchFamily="34" charset="-120"/>
              </a:rPr>
              <a:t>Karar</a:t>
            </a:r>
            <a:endParaRPr lang="en-US" sz="1100" dirty="0"/>
          </a:p>
        </p:txBody>
      </p:sp>
      <p:sp>
        <p:nvSpPr>
          <p:cNvPr id="31" name="Text 26"/>
          <p:cNvSpPr txBox="1"/>
          <p:nvPr/>
        </p:nvSpPr>
        <p:spPr>
          <a:xfrm>
            <a:off x="7964424" y="4306824"/>
            <a:ext cx="3154680" cy="3840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25.08.2026 · Patent verilecek</a:t>
            </a:r>
            <a:endParaRPr lang="en-US" sz="1250" dirty="0"/>
          </a:p>
        </p:txBody>
      </p:sp>
      <p:sp>
        <p:nvSpPr>
          <p:cNvPr id="32" name="Shape 27"/>
          <p:cNvSpPr/>
          <p:nvPr/>
        </p:nvSpPr>
        <p:spPr>
          <a:xfrm>
            <a:off x="685800" y="5102352"/>
            <a:ext cx="420624" cy="420624"/>
          </a:xfrm>
          <a:prstGeom prst="ellipse">
            <a:avLst/>
          </a:prstGeom>
          <a:solidFill>
            <a:srgbClr val="17452F"/>
          </a:solidFill>
          <a:ln w="12700">
            <a:solidFill>
              <a:srgbClr val="17452F"/>
            </a:solidFill>
            <a:prstDash val="solid"/>
          </a:ln>
        </p:spPr>
      </p:sp>
      <p:pic>
        <p:nvPicPr>
          <p:cNvPr id="33" name="Image 3" descr="img/icons/users_m.png">    </p:cNvPr>
          <p:cNvPicPr>
            <a:picLocks noChangeAspect="1"/>
          </p:cNvPicPr>
          <p:nvPr/>
        </p:nvPicPr>
        <p:blipFill>
          <a:blip r:embed="rId4"/>
          <a:stretch>
            <a:fillRect/>
          </a:stretch>
        </p:blipFill>
        <p:spPr>
          <a:xfrm>
            <a:off x="790956" y="5207508"/>
            <a:ext cx="210312" cy="210312"/>
          </a:xfrm>
          <a:prstGeom prst="rect">
            <a:avLst/>
          </a:prstGeom>
        </p:spPr>
      </p:pic>
      <p:sp>
        <p:nvSpPr>
          <p:cNvPr id="34" name="Text 28"/>
          <p:cNvSpPr txBox="1"/>
          <p:nvPr/>
        </p:nvSpPr>
        <p:spPr>
          <a:xfrm>
            <a:off x="1252728" y="5029200"/>
            <a:ext cx="4709160" cy="256032"/>
          </a:xfrm>
          <a:prstGeom prst="rect">
            <a:avLst/>
          </a:prstGeom>
          <a:noFill/>
          <a:ln/>
        </p:spPr>
        <p:txBody>
          <a:bodyPr wrap="square" lIns="0" tIns="0" rIns="0" bIns="0" rtlCol="0" anchor="ctr"/>
          <a:lstStyle/>
          <a:p>
            <a:pPr indent="0" marL="0">
              <a:buNone/>
            </a:pPr>
            <a:r>
              <a:rPr lang="en-US" sz="1050" b="1" spc="160" kern="0" dirty="0">
                <a:solidFill>
                  <a:srgbClr val="8CC084"/>
                </a:solidFill>
                <a:latin typeface="Calibri" pitchFamily="34" charset="0"/>
                <a:ea typeface="Calibri" pitchFamily="34" charset="-122"/>
                <a:cs typeface="Calibri" pitchFamily="34" charset="-120"/>
              </a:rPr>
              <a:t>Hak sahipleri</a:t>
            </a:r>
            <a:endParaRPr lang="en-US" sz="1050" dirty="0"/>
          </a:p>
        </p:txBody>
      </p:sp>
      <p:sp>
        <p:nvSpPr>
          <p:cNvPr id="35" name="Text 29"/>
          <p:cNvSpPr txBox="1"/>
          <p:nvPr/>
        </p:nvSpPr>
        <p:spPr>
          <a:xfrm>
            <a:off x="1252728" y="5285232"/>
            <a:ext cx="4709160" cy="512064"/>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Gülçin Sezen · Alp Kayra Erguvan · Ceyda Nur Söylemez · Havva Yaren Aydın</a:t>
            </a:r>
            <a:endParaRPr lang="en-US" sz="1150" dirty="0"/>
          </a:p>
        </p:txBody>
      </p:sp>
      <p:sp>
        <p:nvSpPr>
          <p:cNvPr id="36" name="Shape 30"/>
          <p:cNvSpPr/>
          <p:nvPr/>
        </p:nvSpPr>
        <p:spPr>
          <a:xfrm>
            <a:off x="6227064" y="5102352"/>
            <a:ext cx="420624" cy="420624"/>
          </a:xfrm>
          <a:prstGeom prst="ellipse">
            <a:avLst/>
          </a:prstGeom>
          <a:solidFill>
            <a:srgbClr val="17452F"/>
          </a:solidFill>
          <a:ln w="12700">
            <a:solidFill>
              <a:srgbClr val="17452F"/>
            </a:solidFill>
            <a:prstDash val="solid"/>
          </a:ln>
        </p:spPr>
      </p:sp>
      <p:pic>
        <p:nvPicPr>
          <p:cNvPr id="37" name="Image 4" descr="img/icons/globe_m.png">    </p:cNvPr>
          <p:cNvPicPr>
            <a:picLocks noChangeAspect="1"/>
          </p:cNvPicPr>
          <p:nvPr/>
        </p:nvPicPr>
        <p:blipFill>
          <a:blip r:embed="rId5"/>
          <a:stretch>
            <a:fillRect/>
          </a:stretch>
        </p:blipFill>
        <p:spPr>
          <a:xfrm>
            <a:off x="6332220" y="5207508"/>
            <a:ext cx="210312" cy="210312"/>
          </a:xfrm>
          <a:prstGeom prst="rect">
            <a:avLst/>
          </a:prstGeom>
        </p:spPr>
      </p:pic>
      <p:sp>
        <p:nvSpPr>
          <p:cNvPr id="38" name="Text 31"/>
          <p:cNvSpPr txBox="1"/>
          <p:nvPr/>
        </p:nvSpPr>
        <p:spPr>
          <a:xfrm>
            <a:off x="6793992" y="5029200"/>
            <a:ext cx="4709160" cy="256032"/>
          </a:xfrm>
          <a:prstGeom prst="rect">
            <a:avLst/>
          </a:prstGeom>
          <a:noFill/>
          <a:ln/>
        </p:spPr>
        <p:txBody>
          <a:bodyPr wrap="square" lIns="0" tIns="0" rIns="0" bIns="0" rtlCol="0" anchor="ctr"/>
          <a:lstStyle/>
          <a:p>
            <a:pPr indent="0" marL="0">
              <a:buNone/>
            </a:pPr>
            <a:r>
              <a:rPr lang="en-US" sz="1050" b="1" spc="160" kern="0" dirty="0">
                <a:solidFill>
                  <a:srgbClr val="8CC084"/>
                </a:solidFill>
                <a:latin typeface="Calibri" pitchFamily="34" charset="0"/>
                <a:ea typeface="Calibri" pitchFamily="34" charset="-122"/>
                <a:cs typeface="Calibri" pitchFamily="34" charset="-120"/>
              </a:rPr>
              <a:t>Sonraki adım</a:t>
            </a:r>
            <a:endParaRPr lang="en-US" sz="1050" dirty="0"/>
          </a:p>
        </p:txBody>
      </p:sp>
      <p:sp>
        <p:nvSpPr>
          <p:cNvPr id="39" name="Text 32"/>
          <p:cNvSpPr txBox="1"/>
          <p:nvPr/>
        </p:nvSpPr>
        <p:spPr>
          <a:xfrm>
            <a:off x="6793992" y="5285232"/>
            <a:ext cx="4709160" cy="512064"/>
          </a:xfrm>
          <a:prstGeom prst="rect">
            <a:avLst/>
          </a:prstGeom>
          <a:noFill/>
          <a:ln/>
        </p:spPr>
        <p:txBody>
          <a:bodyPr wrap="square" lIns="0" tIns="0" rIns="0" bIns="0" rtlCol="0" anchor="ctr"/>
          <a:lstStyle/>
          <a:p>
            <a:pPr indent="0" marL="0">
              <a:lnSpc>
                <a:spcPts val="1500"/>
              </a:lnSpc>
              <a:buNone/>
            </a:pPr>
            <a:r>
              <a:rPr lang="en-US" sz="1150" dirty="0">
                <a:solidFill>
                  <a:srgbClr val="FFFFFF"/>
                </a:solidFill>
                <a:latin typeface="Calibri" pitchFamily="34" charset="0"/>
                <a:ea typeface="Calibri" pitchFamily="34" charset="-122"/>
                <a:cs typeface="Calibri" pitchFamily="34" charset="-120"/>
              </a:rPr>
              <a:t>PCT uluslararası başvuru — AB (EPO) ve Körfez pazarları</a:t>
            </a:r>
            <a:endParaRPr lang="en-US" sz="1150" dirty="0"/>
          </a:p>
        </p:txBody>
      </p:sp>
      <p:sp>
        <p:nvSpPr>
          <p:cNvPr id="40" name="Text 33"/>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5E8770"/>
                </a:solidFill>
                <a:latin typeface="Calibri" pitchFamily="34" charset="0"/>
                <a:ea typeface="Calibri" pitchFamily="34" charset="-122"/>
                <a:cs typeface="Calibri" pitchFamily="34" charset="-120"/>
              </a:rPr>
              <a:t>03</a:t>
            </a:r>
            <a:endParaRPr lang="en-US" sz="1000" dirty="0"/>
          </a:p>
        </p:txBody>
      </p:sp>
      <p:sp>
        <p:nvSpPr>
          <p:cNvPr id="41" name="Text 34"/>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5E8770"/>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PROBLEM</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100" b="1" dirty="0">
                <a:solidFill>
                  <a:srgbClr val="07281D"/>
                </a:solidFill>
                <a:latin typeface="Cambria" pitchFamily="34" charset="0"/>
                <a:ea typeface="Cambria" pitchFamily="34" charset="-122"/>
                <a:cs typeface="Cambria" pitchFamily="34" charset="-120"/>
              </a:rPr>
              <a:t>Yangın Krizi Büyüyor — Mevcut Çözümler Kirletiyor</a:t>
            </a:r>
            <a:endParaRPr lang="en-US" sz="3100" dirty="0"/>
          </a:p>
        </p:txBody>
      </p:sp>
      <p:sp>
        <p:nvSpPr>
          <p:cNvPr id="5" name="Shape 2"/>
          <p:cNvSpPr/>
          <p:nvPr/>
        </p:nvSpPr>
        <p:spPr>
          <a:xfrm>
            <a:off x="685800" y="1481328"/>
            <a:ext cx="3456432" cy="1115568"/>
          </a:xfrm>
          <a:prstGeom prst="roundRect">
            <a:avLst>
              <a:gd name="adj" fmla="val 9016"/>
            </a:avLst>
          </a:prstGeom>
          <a:solidFill>
            <a:srgbClr val="F2F6F3"/>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6" name="Text 3"/>
          <p:cNvSpPr txBox="1"/>
          <p:nvPr/>
        </p:nvSpPr>
        <p:spPr>
          <a:xfrm>
            <a:off x="941832" y="1609344"/>
            <a:ext cx="2999232" cy="475488"/>
          </a:xfrm>
          <a:prstGeom prst="rect">
            <a:avLst/>
          </a:prstGeom>
          <a:noFill/>
          <a:ln/>
        </p:spPr>
        <p:txBody>
          <a:bodyPr wrap="square" lIns="0" tIns="0" rIns="0" bIns="0" rtlCol="0" anchor="ctr"/>
          <a:lstStyle/>
          <a:p>
            <a:pPr indent="0" marL="0">
              <a:buNone/>
            </a:pPr>
            <a:r>
              <a:rPr lang="en-US" sz="3100" b="1" dirty="0">
                <a:solidFill>
                  <a:srgbClr val="D9480F"/>
                </a:solidFill>
                <a:latin typeface="Cambria" pitchFamily="34" charset="0"/>
                <a:ea typeface="Cambria" pitchFamily="34" charset="-122"/>
                <a:cs typeface="Cambria" pitchFamily="34" charset="-120"/>
              </a:rPr>
              <a:t>%30</a:t>
            </a:r>
            <a:endParaRPr lang="en-US" sz="3100" dirty="0"/>
          </a:p>
        </p:txBody>
      </p:sp>
      <p:sp>
        <p:nvSpPr>
          <p:cNvPr id="7" name="Text 4"/>
          <p:cNvSpPr txBox="1"/>
          <p:nvPr/>
        </p:nvSpPr>
        <p:spPr>
          <a:xfrm>
            <a:off x="941832" y="2103120"/>
            <a:ext cx="2999232" cy="219456"/>
          </a:xfrm>
          <a:prstGeom prst="rect">
            <a:avLst/>
          </a:prstGeom>
          <a:noFill/>
          <a:ln/>
        </p:spPr>
        <p:txBody>
          <a:bodyPr wrap="square" lIns="0" tIns="0" rIns="0" bIns="0" rtlCol="0" anchor="ctr"/>
          <a:lstStyle/>
          <a:p>
            <a:pPr indent="0" marL="0">
              <a:buNone/>
            </a:pPr>
            <a:r>
              <a:rPr lang="en-US" sz="1150" b="1" dirty="0">
                <a:solidFill>
                  <a:srgbClr val="2C3A33"/>
                </a:solidFill>
                <a:latin typeface="Calibri" pitchFamily="34" charset="0"/>
                <a:ea typeface="Calibri" pitchFamily="34" charset="-122"/>
                <a:cs typeface="Calibri" pitchFamily="34" charset="-120"/>
              </a:rPr>
              <a:t>Küresel yangın sıklığındaki artış</a:t>
            </a:r>
            <a:endParaRPr lang="en-US" sz="1150" dirty="0"/>
          </a:p>
        </p:txBody>
      </p:sp>
      <p:sp>
        <p:nvSpPr>
          <p:cNvPr id="8" name="Text 5"/>
          <p:cNvSpPr txBox="1"/>
          <p:nvPr/>
        </p:nvSpPr>
        <p:spPr>
          <a:xfrm>
            <a:off x="941832" y="2304288"/>
            <a:ext cx="2999232" cy="201168"/>
          </a:xfrm>
          <a:prstGeom prst="rect">
            <a:avLst/>
          </a:prstGeom>
          <a:noFill/>
          <a:ln/>
        </p:spPr>
        <p:txBody>
          <a:bodyPr wrap="square" lIns="0" tIns="0" rIns="0" bIns="0" rtlCol="0" anchor="ctr"/>
          <a:lstStyle/>
          <a:p>
            <a:pPr indent="0" marL="0">
              <a:buNone/>
            </a:pPr>
            <a:r>
              <a:rPr lang="en-US" sz="1000" i="1" dirty="0">
                <a:solidFill>
                  <a:srgbClr val="6F7F76"/>
                </a:solidFill>
                <a:latin typeface="Calibri" pitchFamily="34" charset="0"/>
                <a:ea typeface="Calibri" pitchFamily="34" charset="-122"/>
                <a:cs typeface="Calibri" pitchFamily="34" charset="-120"/>
              </a:rPr>
              <a:t>IPCC, 2023</a:t>
            </a:r>
            <a:endParaRPr lang="en-US" sz="1000" dirty="0"/>
          </a:p>
        </p:txBody>
      </p:sp>
      <p:sp>
        <p:nvSpPr>
          <p:cNvPr id="9" name="Shape 6"/>
          <p:cNvSpPr/>
          <p:nvPr/>
        </p:nvSpPr>
        <p:spPr>
          <a:xfrm>
            <a:off x="4370832" y="1481328"/>
            <a:ext cx="3456432" cy="1115568"/>
          </a:xfrm>
          <a:prstGeom prst="roundRect">
            <a:avLst>
              <a:gd name="adj" fmla="val 9016"/>
            </a:avLst>
          </a:prstGeom>
          <a:solidFill>
            <a:srgbClr val="F2F6F3"/>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10" name="Text 7"/>
          <p:cNvSpPr txBox="1"/>
          <p:nvPr/>
        </p:nvSpPr>
        <p:spPr>
          <a:xfrm>
            <a:off x="4626864" y="1609344"/>
            <a:ext cx="2999232" cy="475488"/>
          </a:xfrm>
          <a:prstGeom prst="rect">
            <a:avLst/>
          </a:prstGeom>
          <a:noFill/>
          <a:ln/>
        </p:spPr>
        <p:txBody>
          <a:bodyPr wrap="square" lIns="0" tIns="0" rIns="0" bIns="0" rtlCol="0" anchor="ctr"/>
          <a:lstStyle/>
          <a:p>
            <a:pPr indent="0" marL="0">
              <a:buNone/>
            </a:pPr>
            <a:r>
              <a:rPr lang="en-US" sz="3100" b="1" dirty="0">
                <a:solidFill>
                  <a:srgbClr val="1B6B3A"/>
                </a:solidFill>
                <a:latin typeface="Cambria" pitchFamily="34" charset="0"/>
                <a:ea typeface="Cambria" pitchFamily="34" charset="-122"/>
                <a:cs typeface="Cambria" pitchFamily="34" charset="-120"/>
              </a:rPr>
              <a:t>328 Mr $</a:t>
            </a:r>
            <a:endParaRPr lang="en-US" sz="3100" dirty="0"/>
          </a:p>
        </p:txBody>
      </p:sp>
      <p:sp>
        <p:nvSpPr>
          <p:cNvPr id="11" name="Text 8"/>
          <p:cNvSpPr txBox="1"/>
          <p:nvPr/>
        </p:nvSpPr>
        <p:spPr>
          <a:xfrm>
            <a:off x="4626864" y="2103120"/>
            <a:ext cx="2999232" cy="219456"/>
          </a:xfrm>
          <a:prstGeom prst="rect">
            <a:avLst/>
          </a:prstGeom>
          <a:noFill/>
          <a:ln/>
        </p:spPr>
        <p:txBody>
          <a:bodyPr wrap="square" lIns="0" tIns="0" rIns="0" bIns="0" rtlCol="0" anchor="ctr"/>
          <a:lstStyle/>
          <a:p>
            <a:pPr indent="0" marL="0">
              <a:buNone/>
            </a:pPr>
            <a:r>
              <a:rPr lang="en-US" sz="1150" b="1" dirty="0">
                <a:solidFill>
                  <a:srgbClr val="2C3A33"/>
                </a:solidFill>
                <a:latin typeface="Calibri" pitchFamily="34" charset="0"/>
                <a:ea typeface="Calibri" pitchFamily="34" charset="-122"/>
                <a:cs typeface="Calibri" pitchFamily="34" charset="-120"/>
              </a:rPr>
              <a:t>Yıllık küresel ekonomik zarar</a:t>
            </a:r>
            <a:endParaRPr lang="en-US" sz="1150" dirty="0"/>
          </a:p>
        </p:txBody>
      </p:sp>
      <p:sp>
        <p:nvSpPr>
          <p:cNvPr id="12" name="Text 9"/>
          <p:cNvSpPr txBox="1"/>
          <p:nvPr/>
        </p:nvSpPr>
        <p:spPr>
          <a:xfrm>
            <a:off x="4626864" y="2304288"/>
            <a:ext cx="2999232" cy="201168"/>
          </a:xfrm>
          <a:prstGeom prst="rect">
            <a:avLst/>
          </a:prstGeom>
          <a:noFill/>
          <a:ln/>
        </p:spPr>
        <p:txBody>
          <a:bodyPr wrap="square" lIns="0" tIns="0" rIns="0" bIns="0" rtlCol="0" anchor="ctr"/>
          <a:lstStyle/>
          <a:p>
            <a:pPr indent="0" marL="0">
              <a:buNone/>
            </a:pPr>
            <a:r>
              <a:rPr lang="en-US" sz="1000" i="1" dirty="0">
                <a:solidFill>
                  <a:srgbClr val="6F7F76"/>
                </a:solidFill>
                <a:latin typeface="Calibri" pitchFamily="34" charset="0"/>
                <a:ea typeface="Calibri" pitchFamily="34" charset="-122"/>
                <a:cs typeface="Calibri" pitchFamily="34" charset="-120"/>
              </a:rPr>
              <a:t>Yangın afetleri</a:t>
            </a:r>
            <a:endParaRPr lang="en-US" sz="1000" dirty="0"/>
          </a:p>
        </p:txBody>
      </p:sp>
      <p:sp>
        <p:nvSpPr>
          <p:cNvPr id="13" name="Shape 10"/>
          <p:cNvSpPr/>
          <p:nvPr/>
        </p:nvSpPr>
        <p:spPr>
          <a:xfrm>
            <a:off x="8055864" y="1481328"/>
            <a:ext cx="3456432" cy="1115568"/>
          </a:xfrm>
          <a:prstGeom prst="roundRect">
            <a:avLst>
              <a:gd name="adj" fmla="val 9016"/>
            </a:avLst>
          </a:prstGeom>
          <a:solidFill>
            <a:srgbClr val="F2F6F3"/>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14" name="Text 11"/>
          <p:cNvSpPr txBox="1"/>
          <p:nvPr/>
        </p:nvSpPr>
        <p:spPr>
          <a:xfrm>
            <a:off x="8311896" y="1609344"/>
            <a:ext cx="2999232" cy="475488"/>
          </a:xfrm>
          <a:prstGeom prst="rect">
            <a:avLst/>
          </a:prstGeom>
          <a:noFill/>
          <a:ln/>
        </p:spPr>
        <p:txBody>
          <a:bodyPr wrap="square" lIns="0" tIns="0" rIns="0" bIns="0" rtlCol="0" anchor="ctr"/>
          <a:lstStyle/>
          <a:p>
            <a:pPr indent="0" marL="0">
              <a:buNone/>
            </a:pPr>
            <a:r>
              <a:rPr lang="en-US" sz="3100" b="1" dirty="0">
                <a:solidFill>
                  <a:srgbClr val="1B6B3A"/>
                </a:solidFill>
                <a:latin typeface="Cambria" pitchFamily="34" charset="0"/>
                <a:ea typeface="Cambria" pitchFamily="34" charset="-122"/>
                <a:cs typeface="Cambria" pitchFamily="34" charset="-120"/>
              </a:rPr>
              <a:t>80.000 ha</a:t>
            </a:r>
            <a:endParaRPr lang="en-US" sz="3100" dirty="0"/>
          </a:p>
        </p:txBody>
      </p:sp>
      <p:sp>
        <p:nvSpPr>
          <p:cNvPr id="15" name="Text 12"/>
          <p:cNvSpPr txBox="1"/>
          <p:nvPr/>
        </p:nvSpPr>
        <p:spPr>
          <a:xfrm>
            <a:off x="8311896" y="2103120"/>
            <a:ext cx="2999232" cy="219456"/>
          </a:xfrm>
          <a:prstGeom prst="rect">
            <a:avLst/>
          </a:prstGeom>
          <a:noFill/>
          <a:ln/>
        </p:spPr>
        <p:txBody>
          <a:bodyPr wrap="square" lIns="0" tIns="0" rIns="0" bIns="0" rtlCol="0" anchor="ctr"/>
          <a:lstStyle/>
          <a:p>
            <a:pPr indent="0" marL="0">
              <a:buNone/>
            </a:pPr>
            <a:r>
              <a:rPr lang="en-US" sz="1150" b="1" dirty="0">
                <a:solidFill>
                  <a:srgbClr val="2C3A33"/>
                </a:solidFill>
                <a:latin typeface="Calibri" pitchFamily="34" charset="0"/>
                <a:ea typeface="Calibri" pitchFamily="34" charset="-122"/>
                <a:cs typeface="Calibri" pitchFamily="34" charset="-120"/>
              </a:rPr>
              <a:t>Türkiye'de yılda yanan orman</a:t>
            </a:r>
            <a:endParaRPr lang="en-US" sz="1150" dirty="0"/>
          </a:p>
        </p:txBody>
      </p:sp>
      <p:sp>
        <p:nvSpPr>
          <p:cNvPr id="16" name="Text 13"/>
          <p:cNvSpPr txBox="1"/>
          <p:nvPr/>
        </p:nvSpPr>
        <p:spPr>
          <a:xfrm>
            <a:off x="8311896" y="2304288"/>
            <a:ext cx="2999232" cy="201168"/>
          </a:xfrm>
          <a:prstGeom prst="rect">
            <a:avLst/>
          </a:prstGeom>
          <a:noFill/>
          <a:ln/>
        </p:spPr>
        <p:txBody>
          <a:bodyPr wrap="square" lIns="0" tIns="0" rIns="0" bIns="0" rtlCol="0" anchor="ctr"/>
          <a:lstStyle/>
          <a:p>
            <a:pPr indent="0" marL="0">
              <a:buNone/>
            </a:pPr>
            <a:r>
              <a:rPr lang="en-US" sz="1000" i="1" dirty="0">
                <a:solidFill>
                  <a:srgbClr val="6F7F76"/>
                </a:solidFill>
                <a:latin typeface="Calibri" pitchFamily="34" charset="0"/>
                <a:ea typeface="Calibri" pitchFamily="34" charset="-122"/>
                <a:cs typeface="Calibri" pitchFamily="34" charset="-120"/>
              </a:rPr>
              <a:t>Ortalama</a:t>
            </a:r>
            <a:endParaRPr lang="en-US" sz="1000" dirty="0"/>
          </a:p>
        </p:txBody>
      </p:sp>
      <p:sp>
        <p:nvSpPr>
          <p:cNvPr id="17" name="Text 14"/>
          <p:cNvSpPr txBox="1"/>
          <p:nvPr/>
        </p:nvSpPr>
        <p:spPr>
          <a:xfrm>
            <a:off x="685800" y="2816352"/>
            <a:ext cx="10058400" cy="274320"/>
          </a:xfrm>
          <a:prstGeom prst="rect">
            <a:avLst/>
          </a:prstGeom>
          <a:noFill/>
          <a:ln/>
        </p:spPr>
        <p:txBody>
          <a:bodyPr wrap="square" lIns="0" tIns="0" rIns="0" bIns="0" rtlCol="0" anchor="ctr"/>
          <a:lstStyle/>
          <a:p>
            <a:pPr indent="0" marL="0">
              <a:buNone/>
            </a:pPr>
            <a:r>
              <a:rPr lang="en-US" sz="1400" b="1" dirty="0">
                <a:solidFill>
                  <a:srgbClr val="2C3A33"/>
                </a:solidFill>
                <a:latin typeface="Calibri" pitchFamily="34" charset="0"/>
                <a:ea typeface="Calibri" pitchFamily="34" charset="-122"/>
                <a:cs typeface="Calibri" pitchFamily="34" charset="-120"/>
              </a:rPr>
              <a:t>Geleneksel söndürücüler yangını bastırırken ikincil bir hasar bırakıyor:</a:t>
            </a:r>
            <a:endParaRPr lang="en-US" sz="1400" dirty="0"/>
          </a:p>
        </p:txBody>
      </p:sp>
      <p:sp>
        <p:nvSpPr>
          <p:cNvPr id="18" name="Shape 15"/>
          <p:cNvSpPr/>
          <p:nvPr/>
        </p:nvSpPr>
        <p:spPr>
          <a:xfrm>
            <a:off x="685800" y="3218688"/>
            <a:ext cx="2512771" cy="2212848"/>
          </a:xfrm>
          <a:prstGeom prst="roundRect">
            <a:avLst>
              <a:gd name="adj" fmla="val 4545"/>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19" name="Shape 16"/>
          <p:cNvSpPr/>
          <p:nvPr/>
        </p:nvSpPr>
        <p:spPr>
          <a:xfrm>
            <a:off x="960120" y="3493008"/>
            <a:ext cx="548640" cy="548640"/>
          </a:xfrm>
          <a:prstGeom prst="ellipse">
            <a:avLst/>
          </a:prstGeom>
          <a:solidFill>
            <a:srgbClr val="D9480F"/>
          </a:solidFill>
          <a:ln w="12700">
            <a:solidFill>
              <a:srgbClr val="D9480F"/>
            </a:solidFill>
            <a:prstDash val="solid"/>
          </a:ln>
        </p:spPr>
      </p:sp>
      <p:pic>
        <p:nvPicPr>
          <p:cNvPr id="20" name="Image 1" descr="img/icons/warning_w.png">    </p:cNvPr>
          <p:cNvPicPr>
            <a:picLocks noChangeAspect="1"/>
          </p:cNvPicPr>
          <p:nvPr/>
        </p:nvPicPr>
        <p:blipFill>
          <a:blip r:embed="rId2"/>
          <a:stretch>
            <a:fillRect/>
          </a:stretch>
        </p:blipFill>
        <p:spPr>
          <a:xfrm>
            <a:off x="1108253" y="3641141"/>
            <a:ext cx="252374" cy="252374"/>
          </a:xfrm>
          <a:prstGeom prst="rect">
            <a:avLst/>
          </a:prstGeom>
        </p:spPr>
      </p:pic>
      <p:sp>
        <p:nvSpPr>
          <p:cNvPr id="21" name="Text 17"/>
          <p:cNvSpPr txBox="1"/>
          <p:nvPr/>
        </p:nvSpPr>
        <p:spPr>
          <a:xfrm>
            <a:off x="960120" y="4114800"/>
            <a:ext cx="1964131" cy="493776"/>
          </a:xfrm>
          <a:prstGeom prst="rect">
            <a:avLst/>
          </a:prstGeom>
          <a:noFill/>
          <a:ln/>
        </p:spPr>
        <p:txBody>
          <a:bodyPr wrap="square" lIns="0" tIns="0" rIns="0" bIns="0" rtlCol="0" anchor="b"/>
          <a:lstStyle/>
          <a:p>
            <a:pPr indent="0" marL="0">
              <a:buNone/>
            </a:pPr>
            <a:r>
              <a:rPr lang="en-US" sz="1500" b="1" dirty="0">
                <a:solidFill>
                  <a:srgbClr val="07281D"/>
                </a:solidFill>
                <a:latin typeface="Cambria" pitchFamily="34" charset="0"/>
                <a:ea typeface="Cambria" pitchFamily="34" charset="-122"/>
                <a:cs typeface="Cambria" pitchFamily="34" charset="-120"/>
              </a:rPr>
              <a:t>ABC Tozu (MAP)</a:t>
            </a:r>
            <a:endParaRPr lang="en-US" sz="1500" dirty="0"/>
          </a:p>
        </p:txBody>
      </p:sp>
      <p:sp>
        <p:nvSpPr>
          <p:cNvPr id="22" name="Text 18"/>
          <p:cNvSpPr txBox="1"/>
          <p:nvPr/>
        </p:nvSpPr>
        <p:spPr>
          <a:xfrm>
            <a:off x="960120" y="4608576"/>
            <a:ext cx="1964131" cy="713232"/>
          </a:xfrm>
          <a:prstGeom prst="rect">
            <a:avLst/>
          </a:prstGeom>
          <a:noFill/>
          <a:ln/>
        </p:spPr>
        <p:txBody>
          <a:bodyPr wrap="square" lIns="0" tIns="0" rIns="0" bIns="0" rtlCol="0" anchor="ctr"/>
          <a:lstStyle/>
          <a:p>
            <a:pPr indent="0" marL="0">
              <a:lnSpc>
                <a:spcPts val="1600"/>
              </a:lnSpc>
              <a:buNone/>
            </a:pPr>
            <a:r>
              <a:rPr lang="en-US" sz="1150" dirty="0">
                <a:solidFill>
                  <a:srgbClr val="6F7F76"/>
                </a:solidFill>
                <a:latin typeface="Calibri" pitchFamily="34" charset="0"/>
                <a:ea typeface="Calibri" pitchFamily="34" charset="-122"/>
                <a:cs typeface="Calibri" pitchFamily="34" charset="-120"/>
              </a:rPr>
              <a:t>Metal yüzeylere zarar verir, toprak yapısını bozar ve su kaynaklarını kirletir.</a:t>
            </a:r>
            <a:endParaRPr lang="en-US" sz="1150" dirty="0"/>
          </a:p>
        </p:txBody>
      </p:sp>
      <p:sp>
        <p:nvSpPr>
          <p:cNvPr id="23" name="Shape 19"/>
          <p:cNvSpPr/>
          <p:nvPr/>
        </p:nvSpPr>
        <p:spPr>
          <a:xfrm>
            <a:off x="3454603" y="3218688"/>
            <a:ext cx="2512771" cy="2212848"/>
          </a:xfrm>
          <a:prstGeom prst="roundRect">
            <a:avLst>
              <a:gd name="adj" fmla="val 4545"/>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24" name="Shape 20"/>
          <p:cNvSpPr/>
          <p:nvPr/>
        </p:nvSpPr>
        <p:spPr>
          <a:xfrm>
            <a:off x="3728923" y="3493008"/>
            <a:ext cx="548640" cy="548640"/>
          </a:xfrm>
          <a:prstGeom prst="ellipse">
            <a:avLst/>
          </a:prstGeom>
          <a:solidFill>
            <a:srgbClr val="1B6B3A"/>
          </a:solidFill>
          <a:ln w="12700">
            <a:solidFill>
              <a:srgbClr val="1B6B3A"/>
            </a:solidFill>
            <a:prstDash val="solid"/>
          </a:ln>
        </p:spPr>
      </p:sp>
      <p:pic>
        <p:nvPicPr>
          <p:cNvPr id="25" name="Image 2" descr="img/icons/lungs_w.png">    </p:cNvPr>
          <p:cNvPicPr>
            <a:picLocks noChangeAspect="1"/>
          </p:cNvPicPr>
          <p:nvPr/>
        </p:nvPicPr>
        <p:blipFill>
          <a:blip r:embed="rId3"/>
          <a:stretch>
            <a:fillRect/>
          </a:stretch>
        </p:blipFill>
        <p:spPr>
          <a:xfrm>
            <a:off x="3877056" y="3641141"/>
            <a:ext cx="252374" cy="252374"/>
          </a:xfrm>
          <a:prstGeom prst="rect">
            <a:avLst/>
          </a:prstGeom>
        </p:spPr>
      </p:pic>
      <p:sp>
        <p:nvSpPr>
          <p:cNvPr id="26" name="Text 21"/>
          <p:cNvSpPr txBox="1"/>
          <p:nvPr/>
        </p:nvSpPr>
        <p:spPr>
          <a:xfrm>
            <a:off x="3728923" y="4114800"/>
            <a:ext cx="1964131" cy="493776"/>
          </a:xfrm>
          <a:prstGeom prst="rect">
            <a:avLst/>
          </a:prstGeom>
          <a:noFill/>
          <a:ln/>
        </p:spPr>
        <p:txBody>
          <a:bodyPr wrap="square" lIns="0" tIns="0" rIns="0" bIns="0" rtlCol="0" anchor="b"/>
          <a:lstStyle/>
          <a:p>
            <a:pPr indent="0" marL="0">
              <a:buNone/>
            </a:pPr>
            <a:r>
              <a:rPr lang="en-US" sz="1500" b="1" dirty="0">
                <a:solidFill>
                  <a:srgbClr val="07281D"/>
                </a:solidFill>
                <a:latin typeface="Cambria" pitchFamily="34" charset="0"/>
                <a:ea typeface="Cambria" pitchFamily="34" charset="-122"/>
                <a:cs typeface="Cambria" pitchFamily="34" charset="-120"/>
              </a:rPr>
              <a:t>CO₂ Söndürücüler</a:t>
            </a:r>
            <a:endParaRPr lang="en-US" sz="1500" dirty="0"/>
          </a:p>
        </p:txBody>
      </p:sp>
      <p:sp>
        <p:nvSpPr>
          <p:cNvPr id="27" name="Text 22"/>
          <p:cNvSpPr txBox="1"/>
          <p:nvPr/>
        </p:nvSpPr>
        <p:spPr>
          <a:xfrm>
            <a:off x="3728923" y="4608576"/>
            <a:ext cx="1964131" cy="713232"/>
          </a:xfrm>
          <a:prstGeom prst="rect">
            <a:avLst/>
          </a:prstGeom>
          <a:noFill/>
          <a:ln/>
        </p:spPr>
        <p:txBody>
          <a:bodyPr wrap="square" lIns="0" tIns="0" rIns="0" bIns="0" rtlCol="0" anchor="ctr"/>
          <a:lstStyle/>
          <a:p>
            <a:pPr indent="0" marL="0">
              <a:lnSpc>
                <a:spcPts val="1600"/>
              </a:lnSpc>
              <a:buNone/>
            </a:pPr>
            <a:r>
              <a:rPr lang="en-US" sz="1150" dirty="0">
                <a:solidFill>
                  <a:srgbClr val="6F7F76"/>
                </a:solidFill>
                <a:latin typeface="Calibri" pitchFamily="34" charset="0"/>
                <a:ea typeface="Calibri" pitchFamily="34" charset="-122"/>
                <a:cs typeface="Calibri" pitchFamily="34" charset="-120"/>
              </a:rPr>
              <a:t>Kapalı alanlarda oksijen konsantrasyonunu tehlikeli seviyelere düşürür.</a:t>
            </a:r>
            <a:endParaRPr lang="en-US" sz="1150" dirty="0"/>
          </a:p>
        </p:txBody>
      </p:sp>
      <p:sp>
        <p:nvSpPr>
          <p:cNvPr id="28" name="Shape 23"/>
          <p:cNvSpPr/>
          <p:nvPr/>
        </p:nvSpPr>
        <p:spPr>
          <a:xfrm>
            <a:off x="6223406" y="3218688"/>
            <a:ext cx="2512771" cy="2212848"/>
          </a:xfrm>
          <a:prstGeom prst="roundRect">
            <a:avLst>
              <a:gd name="adj" fmla="val 4545"/>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29" name="Shape 24"/>
          <p:cNvSpPr/>
          <p:nvPr/>
        </p:nvSpPr>
        <p:spPr>
          <a:xfrm>
            <a:off x="6497726" y="3493008"/>
            <a:ext cx="548640" cy="548640"/>
          </a:xfrm>
          <a:prstGeom prst="ellipse">
            <a:avLst/>
          </a:prstGeom>
          <a:solidFill>
            <a:srgbClr val="1B6B3A"/>
          </a:solidFill>
          <a:ln w="12700">
            <a:solidFill>
              <a:srgbClr val="1B6B3A"/>
            </a:solidFill>
            <a:prstDash val="solid"/>
          </a:ln>
        </p:spPr>
      </p:sp>
      <p:pic>
        <p:nvPicPr>
          <p:cNvPr id="30" name="Image 3" descr="img/icons/earth_w.png">    </p:cNvPr>
          <p:cNvPicPr>
            <a:picLocks noChangeAspect="1"/>
          </p:cNvPicPr>
          <p:nvPr/>
        </p:nvPicPr>
        <p:blipFill>
          <a:blip r:embed="rId4"/>
          <a:stretch>
            <a:fillRect/>
          </a:stretch>
        </p:blipFill>
        <p:spPr>
          <a:xfrm>
            <a:off x="6645859" y="3641141"/>
            <a:ext cx="252374" cy="252374"/>
          </a:xfrm>
          <a:prstGeom prst="rect">
            <a:avLst/>
          </a:prstGeom>
        </p:spPr>
      </p:pic>
      <p:sp>
        <p:nvSpPr>
          <p:cNvPr id="31" name="Text 25"/>
          <p:cNvSpPr txBox="1"/>
          <p:nvPr/>
        </p:nvSpPr>
        <p:spPr>
          <a:xfrm>
            <a:off x="6497726" y="4114800"/>
            <a:ext cx="1964131" cy="493776"/>
          </a:xfrm>
          <a:prstGeom prst="rect">
            <a:avLst/>
          </a:prstGeom>
          <a:noFill/>
          <a:ln/>
        </p:spPr>
        <p:txBody>
          <a:bodyPr wrap="square" lIns="0" tIns="0" rIns="0" bIns="0" rtlCol="0" anchor="b"/>
          <a:lstStyle/>
          <a:p>
            <a:pPr indent="0" marL="0">
              <a:buNone/>
            </a:pPr>
            <a:r>
              <a:rPr lang="en-US" sz="1500" b="1" dirty="0">
                <a:solidFill>
                  <a:srgbClr val="07281D"/>
                </a:solidFill>
                <a:latin typeface="Cambria" pitchFamily="34" charset="0"/>
                <a:ea typeface="Cambria" pitchFamily="34" charset="-122"/>
                <a:cs typeface="Cambria" pitchFamily="34" charset="-120"/>
              </a:rPr>
              <a:t>Halojenli Söndürücüler</a:t>
            </a:r>
            <a:endParaRPr lang="en-US" sz="1500" dirty="0"/>
          </a:p>
        </p:txBody>
      </p:sp>
      <p:sp>
        <p:nvSpPr>
          <p:cNvPr id="32" name="Text 26"/>
          <p:cNvSpPr txBox="1"/>
          <p:nvPr/>
        </p:nvSpPr>
        <p:spPr>
          <a:xfrm>
            <a:off x="6497726" y="4608576"/>
            <a:ext cx="1964131" cy="713232"/>
          </a:xfrm>
          <a:prstGeom prst="rect">
            <a:avLst/>
          </a:prstGeom>
          <a:noFill/>
          <a:ln/>
        </p:spPr>
        <p:txBody>
          <a:bodyPr wrap="square" lIns="0" tIns="0" rIns="0" bIns="0" rtlCol="0" anchor="ctr"/>
          <a:lstStyle/>
          <a:p>
            <a:pPr indent="0" marL="0">
              <a:lnSpc>
                <a:spcPts val="1600"/>
              </a:lnSpc>
              <a:buNone/>
            </a:pPr>
            <a:r>
              <a:rPr lang="en-US" sz="1150" dirty="0">
                <a:solidFill>
                  <a:srgbClr val="6F7F76"/>
                </a:solidFill>
                <a:latin typeface="Calibri" pitchFamily="34" charset="0"/>
                <a:ea typeface="Calibri" pitchFamily="34" charset="-122"/>
                <a:cs typeface="Calibri" pitchFamily="34" charset="-120"/>
              </a:rPr>
              <a:t>Ozon tabakasına zarar verir; Montreal Protokolü ile kısıtlanmıştır.</a:t>
            </a:r>
            <a:endParaRPr lang="en-US" sz="1150" dirty="0"/>
          </a:p>
        </p:txBody>
      </p:sp>
      <p:sp>
        <p:nvSpPr>
          <p:cNvPr id="33" name="Shape 27"/>
          <p:cNvSpPr/>
          <p:nvPr/>
        </p:nvSpPr>
        <p:spPr>
          <a:xfrm>
            <a:off x="8992210" y="3218688"/>
            <a:ext cx="2512771" cy="2212848"/>
          </a:xfrm>
          <a:prstGeom prst="roundRect">
            <a:avLst>
              <a:gd name="adj" fmla="val 4545"/>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34" name="Shape 28"/>
          <p:cNvSpPr/>
          <p:nvPr/>
        </p:nvSpPr>
        <p:spPr>
          <a:xfrm>
            <a:off x="9266530" y="3493008"/>
            <a:ext cx="548640" cy="548640"/>
          </a:xfrm>
          <a:prstGeom prst="ellipse">
            <a:avLst/>
          </a:prstGeom>
          <a:solidFill>
            <a:srgbClr val="1B6B3A"/>
          </a:solidFill>
          <a:ln w="12700">
            <a:solidFill>
              <a:srgbClr val="1B6B3A"/>
            </a:solidFill>
            <a:prstDash val="solid"/>
          </a:ln>
        </p:spPr>
      </p:sp>
      <p:pic>
        <p:nvPicPr>
          <p:cNvPr id="35" name="Image 4" descr="img/icons/coins_w.png">    </p:cNvPr>
          <p:cNvPicPr>
            <a:picLocks noChangeAspect="1"/>
          </p:cNvPicPr>
          <p:nvPr/>
        </p:nvPicPr>
        <p:blipFill>
          <a:blip r:embed="rId5"/>
          <a:stretch>
            <a:fillRect/>
          </a:stretch>
        </p:blipFill>
        <p:spPr>
          <a:xfrm>
            <a:off x="9414662" y="3641141"/>
            <a:ext cx="252374" cy="252374"/>
          </a:xfrm>
          <a:prstGeom prst="rect">
            <a:avLst/>
          </a:prstGeom>
        </p:spPr>
      </p:pic>
      <p:sp>
        <p:nvSpPr>
          <p:cNvPr id="36" name="Text 29"/>
          <p:cNvSpPr txBox="1"/>
          <p:nvPr/>
        </p:nvSpPr>
        <p:spPr>
          <a:xfrm>
            <a:off x="9266530" y="4114800"/>
            <a:ext cx="1964131" cy="493776"/>
          </a:xfrm>
          <a:prstGeom prst="rect">
            <a:avLst/>
          </a:prstGeom>
          <a:noFill/>
          <a:ln/>
        </p:spPr>
        <p:txBody>
          <a:bodyPr wrap="square" lIns="0" tIns="0" rIns="0" bIns="0" rtlCol="0" anchor="b"/>
          <a:lstStyle/>
          <a:p>
            <a:pPr indent="0" marL="0">
              <a:buNone/>
            </a:pPr>
            <a:r>
              <a:rPr lang="en-US" sz="1500" b="1" dirty="0">
                <a:solidFill>
                  <a:srgbClr val="07281D"/>
                </a:solidFill>
                <a:latin typeface="Cambria" pitchFamily="34" charset="0"/>
                <a:ea typeface="Cambria" pitchFamily="34" charset="-122"/>
                <a:cs typeface="Cambria" pitchFamily="34" charset="-120"/>
              </a:rPr>
              <a:t>Dışa Bağımlılık</a:t>
            </a:r>
            <a:endParaRPr lang="en-US" sz="1500" dirty="0"/>
          </a:p>
        </p:txBody>
      </p:sp>
      <p:sp>
        <p:nvSpPr>
          <p:cNvPr id="37" name="Text 30"/>
          <p:cNvSpPr txBox="1"/>
          <p:nvPr/>
        </p:nvSpPr>
        <p:spPr>
          <a:xfrm>
            <a:off x="9266530" y="4608576"/>
            <a:ext cx="1964131" cy="713232"/>
          </a:xfrm>
          <a:prstGeom prst="rect">
            <a:avLst/>
          </a:prstGeom>
          <a:noFill/>
          <a:ln/>
        </p:spPr>
        <p:txBody>
          <a:bodyPr wrap="square" lIns="0" tIns="0" rIns="0" bIns="0" rtlCol="0" anchor="ctr"/>
          <a:lstStyle/>
          <a:p>
            <a:pPr indent="0" marL="0">
              <a:lnSpc>
                <a:spcPts val="1600"/>
              </a:lnSpc>
              <a:buNone/>
            </a:pPr>
            <a:r>
              <a:rPr lang="en-US" sz="1150" dirty="0">
                <a:solidFill>
                  <a:srgbClr val="6F7F76"/>
                </a:solidFill>
                <a:latin typeface="Calibri" pitchFamily="34" charset="0"/>
                <a:ea typeface="Calibri" pitchFamily="34" charset="-122"/>
                <a:cs typeface="Calibri" pitchFamily="34" charset="-120"/>
              </a:rPr>
              <a:t>İthal hammadde, büyük ölçekli afet müdahalesini maliyetli hale getirir.</a:t>
            </a:r>
            <a:endParaRPr lang="en-US" sz="1150" dirty="0"/>
          </a:p>
        </p:txBody>
      </p:sp>
      <p:sp>
        <p:nvSpPr>
          <p:cNvPr id="38" name="Text 31"/>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04</a:t>
            </a:r>
            <a:endParaRPr lang="en-US" sz="1000" dirty="0"/>
          </a:p>
        </p:txBody>
      </p:sp>
      <p:sp>
        <p:nvSpPr>
          <p:cNvPr id="39" name="Text 32"/>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img/powder_dark.jpg">    </p:cNvPr>
          <p:cNvPicPr>
            <a:picLocks noChangeAspect="1"/>
          </p:cNvPicPr>
          <p:nvPr/>
        </p:nvPicPr>
        <p:blipFill>
          <a:blip r:embed="rId2"/>
          <a:srcRect l="0" r="0" t="0" b="0"/>
          <a:stretch/>
        </p:blipFill>
        <p:spPr>
          <a:xfrm>
            <a:off x="0" y="0"/>
            <a:ext cx="5029200" cy="6858000"/>
          </a:xfrm>
          <a:prstGeom prst="rect">
            <a:avLst/>
          </a:prstGeom>
        </p:spPr>
      </p:pic>
      <p:sp>
        <p:nvSpPr>
          <p:cNvPr id="4" name="Shape 0"/>
          <p:cNvSpPr/>
          <p:nvPr/>
        </p:nvSpPr>
        <p:spPr>
          <a:xfrm>
            <a:off x="0" y="5943600"/>
            <a:ext cx="5029200" cy="914400"/>
          </a:xfrm>
          <a:prstGeom prst="rect">
            <a:avLst/>
          </a:prstGeom>
          <a:solidFill>
            <a:srgbClr val="07281D">
              <a:alpha val="75000"/>
            </a:srgbClr>
          </a:solidFill>
          <a:ln w="12700">
            <a:solidFill>
              <a:srgbClr val="07281D">
                <a:alpha val="0"/>
              </a:srgbClr>
            </a:solidFill>
            <a:prstDash val="solid"/>
          </a:ln>
        </p:spPr>
        <p:txBody>
          <a:bodyPr/>
          <a:p/>
        </p:txBody>
      </p:sp>
      <p:sp>
        <p:nvSpPr>
          <p:cNvPr id="5" name="Text 1"/>
          <p:cNvSpPr txBox="1"/>
          <p:nvPr/>
        </p:nvSpPr>
        <p:spPr>
          <a:xfrm>
            <a:off x="457200" y="6181344"/>
            <a:ext cx="4206240" cy="274320"/>
          </a:xfrm>
          <a:prstGeom prst="rect">
            <a:avLst/>
          </a:prstGeom>
          <a:noFill/>
          <a:ln/>
        </p:spPr>
        <p:txBody>
          <a:bodyPr wrap="square" lIns="0" tIns="0" rIns="0" bIns="0" rtlCol="0" anchor="ctr"/>
          <a:lstStyle/>
          <a:p>
            <a:pPr indent="0" marL="0">
              <a:buNone/>
            </a:pPr>
            <a:r>
              <a:rPr lang="en-US" sz="1100" i="1" dirty="0">
                <a:solidFill>
                  <a:srgbClr val="DCEADF"/>
                </a:solidFill>
                <a:latin typeface="Calibri" pitchFamily="34" charset="0"/>
                <a:ea typeface="Calibri" pitchFamily="34" charset="-122"/>
                <a:cs typeface="Calibri" pitchFamily="34" charset="-120"/>
              </a:rPr>
              <a:t>ExtinGard tozu — laboratuvar üretimi</a:t>
            </a:r>
            <a:endParaRPr lang="en-US" sz="1100" dirty="0"/>
          </a:p>
        </p:txBody>
      </p:sp>
      <p:sp>
        <p:nvSpPr>
          <p:cNvPr id="6" name="Text 2"/>
          <p:cNvSpPr txBox="1"/>
          <p:nvPr/>
        </p:nvSpPr>
        <p:spPr>
          <a:xfrm>
            <a:off x="5669280" y="457200"/>
            <a:ext cx="583661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ÇÖZÜM</a:t>
            </a:r>
            <a:endParaRPr lang="en-US" sz="1100" dirty="0"/>
          </a:p>
        </p:txBody>
      </p:sp>
      <p:sp>
        <p:nvSpPr>
          <p:cNvPr id="7" name="Text 3"/>
          <p:cNvSpPr txBox="1"/>
          <p:nvPr/>
        </p:nvSpPr>
        <p:spPr>
          <a:xfrm>
            <a:off x="5669280" y="694944"/>
            <a:ext cx="5836615" cy="749808"/>
          </a:xfrm>
          <a:prstGeom prst="rect">
            <a:avLst/>
          </a:prstGeom>
          <a:noFill/>
          <a:ln/>
        </p:spPr>
        <p:txBody>
          <a:bodyPr wrap="square" lIns="0" tIns="0" rIns="0" bIns="0" rtlCol="0" anchor="t"/>
          <a:lstStyle/>
          <a:p>
            <a:pPr indent="0" marL="0">
              <a:buNone/>
            </a:pPr>
            <a:r>
              <a:rPr lang="en-US" sz="4000" b="1" dirty="0">
                <a:solidFill>
                  <a:srgbClr val="07281D"/>
                </a:solidFill>
                <a:latin typeface="Cambria" pitchFamily="34" charset="0"/>
                <a:ea typeface="Cambria" pitchFamily="34" charset="-122"/>
                <a:cs typeface="Cambria" pitchFamily="34" charset="-120"/>
              </a:rPr>
              <a:t>ExtinGard</a:t>
            </a:r>
            <a:endParaRPr lang="en-US" sz="4000" dirty="0"/>
          </a:p>
        </p:txBody>
      </p:sp>
      <p:sp>
        <p:nvSpPr>
          <p:cNvPr id="8" name="Text 4"/>
          <p:cNvSpPr txBox="1"/>
          <p:nvPr/>
        </p:nvSpPr>
        <p:spPr>
          <a:xfrm>
            <a:off x="5669280" y="1481328"/>
            <a:ext cx="5836615" cy="566928"/>
          </a:xfrm>
          <a:prstGeom prst="rect">
            <a:avLst/>
          </a:prstGeom>
          <a:noFill/>
          <a:ln/>
        </p:spPr>
        <p:txBody>
          <a:bodyPr wrap="square" lIns="0" tIns="0" rIns="0" bIns="0" rtlCol="0" anchor="ctr"/>
          <a:lstStyle/>
          <a:p>
            <a:pPr indent="0" marL="0">
              <a:lnSpc>
                <a:spcPts val="2000"/>
              </a:lnSpc>
              <a:buNone/>
            </a:pPr>
            <a:r>
              <a:rPr lang="en-US" sz="1400" dirty="0">
                <a:solidFill>
                  <a:srgbClr val="6F7F76"/>
                </a:solidFill>
                <a:latin typeface="Calibri" pitchFamily="34" charset="0"/>
                <a:ea typeface="Calibri" pitchFamily="34" charset="-122"/>
                <a:cs typeface="Calibri" pitchFamily="34" charset="-120"/>
              </a:rPr>
              <a:t>Yanma üçgeninin üç köşesine eş zamanlı müdahale eden, tamamen doğal içerikli yeni nesil söndürme tozu.</a:t>
            </a:r>
            <a:endParaRPr lang="en-US" sz="1400" dirty="0"/>
          </a:p>
        </p:txBody>
      </p:sp>
      <p:sp>
        <p:nvSpPr>
          <p:cNvPr id="9" name="Shape 5"/>
          <p:cNvSpPr/>
          <p:nvPr/>
        </p:nvSpPr>
        <p:spPr>
          <a:xfrm>
            <a:off x="5669280" y="2395728"/>
            <a:ext cx="548640" cy="548640"/>
          </a:xfrm>
          <a:prstGeom prst="ellipse">
            <a:avLst/>
          </a:prstGeom>
          <a:solidFill>
            <a:srgbClr val="1B6B3A"/>
          </a:solidFill>
          <a:ln w="12700">
            <a:solidFill>
              <a:srgbClr val="1B6B3A"/>
            </a:solidFill>
            <a:prstDash val="solid"/>
          </a:ln>
        </p:spPr>
      </p:sp>
      <p:pic>
        <p:nvPicPr>
          <p:cNvPr id="10" name="Image 2" descr="img/icons/leaf_w.png">    </p:cNvPr>
          <p:cNvPicPr>
            <a:picLocks noChangeAspect="1"/>
          </p:cNvPicPr>
          <p:nvPr/>
        </p:nvPicPr>
        <p:blipFill>
          <a:blip r:embed="rId3"/>
          <a:stretch>
            <a:fillRect/>
          </a:stretch>
        </p:blipFill>
        <p:spPr>
          <a:xfrm>
            <a:off x="5817413" y="2543861"/>
            <a:ext cx="252374" cy="252374"/>
          </a:xfrm>
          <a:prstGeom prst="rect">
            <a:avLst/>
          </a:prstGeom>
        </p:spPr>
      </p:pic>
      <p:sp>
        <p:nvSpPr>
          <p:cNvPr id="11" name="Text 6"/>
          <p:cNvSpPr txBox="1"/>
          <p:nvPr/>
        </p:nvSpPr>
        <p:spPr>
          <a:xfrm>
            <a:off x="6419088" y="2377440"/>
            <a:ext cx="5086807" cy="310896"/>
          </a:xfrm>
          <a:prstGeom prst="rect">
            <a:avLst/>
          </a:prstGeom>
          <a:noFill/>
          <a:ln/>
        </p:spPr>
        <p:txBody>
          <a:bodyPr wrap="square" lIns="0" tIns="0" rIns="0" bIns="0" rtlCol="0" anchor="ctr"/>
          <a:lstStyle/>
          <a:p>
            <a:pPr indent="0" marL="0">
              <a:buNone/>
            </a:pPr>
            <a:r>
              <a:rPr lang="en-US" sz="1700" b="1" dirty="0">
                <a:solidFill>
                  <a:srgbClr val="07281D"/>
                </a:solidFill>
                <a:latin typeface="Cambria" pitchFamily="34" charset="0"/>
                <a:ea typeface="Cambria" pitchFamily="34" charset="-122"/>
                <a:cs typeface="Cambria" pitchFamily="34" charset="-120"/>
              </a:rPr>
              <a:t>%50 Biyo-atık, %100 Doğal</a:t>
            </a:r>
            <a:endParaRPr lang="en-US" sz="1700" dirty="0"/>
          </a:p>
        </p:txBody>
      </p:sp>
      <p:sp>
        <p:nvSpPr>
          <p:cNvPr id="12" name="Text 7"/>
          <p:cNvSpPr txBox="1"/>
          <p:nvPr/>
        </p:nvSpPr>
        <p:spPr>
          <a:xfrm>
            <a:off x="6419088" y="2706624"/>
            <a:ext cx="5086807" cy="786384"/>
          </a:xfrm>
          <a:prstGeom prst="rect">
            <a:avLst/>
          </a:prstGeom>
          <a:noFill/>
          <a:ln/>
        </p:spPr>
        <p:txBody>
          <a:bodyPr wrap="square" lIns="0" tIns="0" rIns="0" bIns="0" rtlCol="0" anchor="ctr"/>
          <a:lstStyle/>
          <a:p>
            <a:pPr indent="0" marL="0">
              <a:lnSpc>
                <a:spcPts val="1700"/>
              </a:lnSpc>
              <a:buNone/>
            </a:pPr>
            <a:r>
              <a:rPr lang="en-US" sz="1200" dirty="0">
                <a:solidFill>
                  <a:srgbClr val="6F7F76"/>
                </a:solidFill>
                <a:latin typeface="Calibri" pitchFamily="34" charset="0"/>
                <a:ea typeface="Calibri" pitchFamily="34" charset="-122"/>
                <a:cs typeface="Calibri" pitchFamily="34" charset="-120"/>
              </a:rPr>
              <a:t>Geri dönüştürülmüş yumurta kabuğu ve doğal minerallerden oluşur. Toksik gaz salmaz, PFAS içermez.</a:t>
            </a:r>
            <a:endParaRPr lang="en-US" sz="1200" dirty="0"/>
          </a:p>
        </p:txBody>
      </p:sp>
      <p:sp>
        <p:nvSpPr>
          <p:cNvPr id="13" name="Shape 8"/>
          <p:cNvSpPr/>
          <p:nvPr/>
        </p:nvSpPr>
        <p:spPr>
          <a:xfrm>
            <a:off x="5669280" y="3840480"/>
            <a:ext cx="548640" cy="548640"/>
          </a:xfrm>
          <a:prstGeom prst="ellipse">
            <a:avLst/>
          </a:prstGeom>
          <a:solidFill>
            <a:srgbClr val="F07818"/>
          </a:solidFill>
          <a:ln w="12700">
            <a:solidFill>
              <a:srgbClr val="F07818"/>
            </a:solidFill>
            <a:prstDash val="solid"/>
          </a:ln>
        </p:spPr>
      </p:sp>
      <p:pic>
        <p:nvPicPr>
          <p:cNvPr id="14" name="Image 3" descr="img/icons/shield_w.png">    </p:cNvPr>
          <p:cNvPicPr>
            <a:picLocks noChangeAspect="1"/>
          </p:cNvPicPr>
          <p:nvPr/>
        </p:nvPicPr>
        <p:blipFill>
          <a:blip r:embed="rId4"/>
          <a:stretch>
            <a:fillRect/>
          </a:stretch>
        </p:blipFill>
        <p:spPr>
          <a:xfrm>
            <a:off x="5817413" y="3988613"/>
            <a:ext cx="252374" cy="252374"/>
          </a:xfrm>
          <a:prstGeom prst="rect">
            <a:avLst/>
          </a:prstGeom>
        </p:spPr>
      </p:pic>
      <p:sp>
        <p:nvSpPr>
          <p:cNvPr id="15" name="Text 9"/>
          <p:cNvSpPr txBox="1"/>
          <p:nvPr/>
        </p:nvSpPr>
        <p:spPr>
          <a:xfrm>
            <a:off x="6419088" y="3822192"/>
            <a:ext cx="5086807" cy="310896"/>
          </a:xfrm>
          <a:prstGeom prst="rect">
            <a:avLst/>
          </a:prstGeom>
          <a:noFill/>
          <a:ln/>
        </p:spPr>
        <p:txBody>
          <a:bodyPr wrap="square" lIns="0" tIns="0" rIns="0" bIns="0" rtlCol="0" anchor="ctr"/>
          <a:lstStyle/>
          <a:p>
            <a:pPr indent="0" marL="0">
              <a:buNone/>
            </a:pPr>
            <a:r>
              <a:rPr lang="en-US" sz="1700" b="1" dirty="0">
                <a:solidFill>
                  <a:srgbClr val="07281D"/>
                </a:solidFill>
                <a:latin typeface="Cambria" pitchFamily="34" charset="0"/>
                <a:ea typeface="Cambria" pitchFamily="34" charset="-122"/>
                <a:cs typeface="Cambria" pitchFamily="34" charset="-120"/>
              </a:rPr>
              <a:t>A · B · C · F Tam Kapsam</a:t>
            </a:r>
            <a:endParaRPr lang="en-US" sz="1700" dirty="0"/>
          </a:p>
        </p:txBody>
      </p:sp>
      <p:sp>
        <p:nvSpPr>
          <p:cNvPr id="16" name="Text 10"/>
          <p:cNvSpPr txBox="1"/>
          <p:nvPr/>
        </p:nvSpPr>
        <p:spPr>
          <a:xfrm>
            <a:off x="6419088" y="4151376"/>
            <a:ext cx="5086807" cy="786384"/>
          </a:xfrm>
          <a:prstGeom prst="rect">
            <a:avLst/>
          </a:prstGeom>
          <a:noFill/>
          <a:ln/>
        </p:spPr>
        <p:txBody>
          <a:bodyPr wrap="square" lIns="0" tIns="0" rIns="0" bIns="0" rtlCol="0" anchor="ctr"/>
          <a:lstStyle/>
          <a:p>
            <a:pPr indent="0" marL="0">
              <a:lnSpc>
                <a:spcPts val="1700"/>
              </a:lnSpc>
              <a:buNone/>
            </a:pPr>
            <a:r>
              <a:rPr lang="en-US" sz="1200" dirty="0">
                <a:solidFill>
                  <a:srgbClr val="6F7F76"/>
                </a:solidFill>
                <a:latin typeface="Calibri" pitchFamily="34" charset="0"/>
                <a:ea typeface="Calibri" pitchFamily="34" charset="-122"/>
                <a:cs typeface="Calibri" pitchFamily="34" charset="-120"/>
              </a:rPr>
              <a:t>Katı, sıvı, gaz ve bitkisel yağ yangınlarında etkin. Piyasadaki en geniş kapsamlı sınıf profili.</a:t>
            </a:r>
            <a:endParaRPr lang="en-US" sz="1200" dirty="0"/>
          </a:p>
        </p:txBody>
      </p:sp>
      <p:sp>
        <p:nvSpPr>
          <p:cNvPr id="17" name="Shape 11"/>
          <p:cNvSpPr/>
          <p:nvPr/>
        </p:nvSpPr>
        <p:spPr>
          <a:xfrm>
            <a:off x="5669280" y="5285232"/>
            <a:ext cx="548640" cy="548640"/>
          </a:xfrm>
          <a:prstGeom prst="ellipse">
            <a:avLst/>
          </a:prstGeom>
          <a:solidFill>
            <a:srgbClr val="1B6B3A"/>
          </a:solidFill>
          <a:ln w="12700">
            <a:solidFill>
              <a:srgbClr val="1B6B3A"/>
            </a:solidFill>
            <a:prstDash val="solid"/>
          </a:ln>
        </p:spPr>
      </p:sp>
      <p:pic>
        <p:nvPicPr>
          <p:cNvPr id="18" name="Image 4" descr="img/icons/coins_w.png">    </p:cNvPr>
          <p:cNvPicPr>
            <a:picLocks noChangeAspect="1"/>
          </p:cNvPicPr>
          <p:nvPr/>
        </p:nvPicPr>
        <p:blipFill>
          <a:blip r:embed="rId5"/>
          <a:stretch>
            <a:fillRect/>
          </a:stretch>
        </p:blipFill>
        <p:spPr>
          <a:xfrm>
            <a:off x="5817413" y="5433365"/>
            <a:ext cx="252374" cy="252374"/>
          </a:xfrm>
          <a:prstGeom prst="rect">
            <a:avLst/>
          </a:prstGeom>
        </p:spPr>
      </p:pic>
      <p:sp>
        <p:nvSpPr>
          <p:cNvPr id="19" name="Text 12"/>
          <p:cNvSpPr txBox="1"/>
          <p:nvPr/>
        </p:nvSpPr>
        <p:spPr>
          <a:xfrm>
            <a:off x="6419088" y="5266944"/>
            <a:ext cx="5086807" cy="310896"/>
          </a:xfrm>
          <a:prstGeom prst="rect">
            <a:avLst/>
          </a:prstGeom>
          <a:noFill/>
          <a:ln/>
        </p:spPr>
        <p:txBody>
          <a:bodyPr wrap="square" lIns="0" tIns="0" rIns="0" bIns="0" rtlCol="0" anchor="ctr"/>
          <a:lstStyle/>
          <a:p>
            <a:pPr indent="0" marL="0">
              <a:buNone/>
            </a:pPr>
            <a:r>
              <a:rPr lang="en-US" sz="1700" b="1" dirty="0">
                <a:solidFill>
                  <a:srgbClr val="07281D"/>
                </a:solidFill>
                <a:latin typeface="Cambria" pitchFamily="34" charset="0"/>
                <a:ea typeface="Cambria" pitchFamily="34" charset="-122"/>
                <a:cs typeface="Cambria" pitchFamily="34" charset="-120"/>
              </a:rPr>
              <a:t>Maliyet Liderliği</a:t>
            </a:r>
            <a:endParaRPr lang="en-US" sz="1700" dirty="0"/>
          </a:p>
        </p:txBody>
      </p:sp>
      <p:sp>
        <p:nvSpPr>
          <p:cNvPr id="20" name="Text 13"/>
          <p:cNvSpPr txBox="1"/>
          <p:nvPr/>
        </p:nvSpPr>
        <p:spPr>
          <a:xfrm>
            <a:off x="6419088" y="5596128"/>
            <a:ext cx="5086807" cy="786384"/>
          </a:xfrm>
          <a:prstGeom prst="rect">
            <a:avLst/>
          </a:prstGeom>
          <a:noFill/>
          <a:ln/>
        </p:spPr>
        <p:txBody>
          <a:bodyPr wrap="square" lIns="0" tIns="0" rIns="0" bIns="0" rtlCol="0" anchor="ctr"/>
          <a:lstStyle/>
          <a:p>
            <a:pPr indent="0" marL="0">
              <a:lnSpc>
                <a:spcPts val="1700"/>
              </a:lnSpc>
              <a:buNone/>
            </a:pPr>
            <a:r>
              <a:rPr lang="en-US" sz="1200" dirty="0">
                <a:solidFill>
                  <a:srgbClr val="6F7F76"/>
                </a:solidFill>
                <a:latin typeface="Calibri" pitchFamily="34" charset="0"/>
                <a:ea typeface="Calibri" pitchFamily="34" charset="-122"/>
                <a:cs typeface="Calibri" pitchFamily="34" charset="-120"/>
              </a:rPr>
              <a:t>0,0497 TL/g birim maliyet — ABC tozundan 5–6 kat, BC tozundan 3 kat daha ucuz.</a:t>
            </a:r>
            <a:endParaRPr lang="en-US" sz="1200" dirty="0"/>
          </a:p>
        </p:txBody>
      </p:sp>
      <p:sp>
        <p:nvSpPr>
          <p:cNvPr id="21" name="Text 14"/>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8CC084"/>
                </a:solidFill>
                <a:latin typeface="Calibri" pitchFamily="34" charset="0"/>
                <a:ea typeface="Calibri" pitchFamily="34" charset="-122"/>
                <a:cs typeface="Calibri" pitchFamily="34" charset="-120"/>
              </a:rPr>
              <a:t>TEKNOLOJİ</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Üçlü Söndürme Mekanizması</a:t>
            </a:r>
            <a:endParaRPr lang="en-US" sz="3300" dirty="0"/>
          </a:p>
        </p:txBody>
      </p:sp>
      <p:sp>
        <p:nvSpPr>
          <p:cNvPr id="5" name="Text 2"/>
          <p:cNvSpPr txBox="1"/>
          <p:nvPr/>
        </p:nvSpPr>
        <p:spPr>
          <a:xfrm>
            <a:off x="685800" y="1316736"/>
            <a:ext cx="9601200" cy="292608"/>
          </a:xfrm>
          <a:prstGeom prst="rect">
            <a:avLst/>
          </a:prstGeom>
          <a:noFill/>
          <a:ln/>
        </p:spPr>
        <p:txBody>
          <a:bodyPr wrap="square" lIns="0" tIns="0" rIns="0" bIns="0" rtlCol="0" anchor="ctr"/>
          <a:lstStyle/>
          <a:p>
            <a:pPr indent="0" marL="0">
              <a:buNone/>
            </a:pPr>
            <a:r>
              <a:rPr lang="en-US" sz="1450" dirty="0">
                <a:solidFill>
                  <a:srgbClr val="CFE3D6"/>
                </a:solidFill>
                <a:latin typeface="Calibri" pitchFamily="34" charset="0"/>
                <a:ea typeface="Calibri" pitchFamily="34" charset="-122"/>
                <a:cs typeface="Calibri" pitchFamily="34" charset="-120"/>
              </a:rPr>
              <a:t>Patentli bileşim, ısıyı emer · su buharı açığa çıkarır · oksijeni seyreltir — üçü aynı anda.</a:t>
            </a:r>
            <a:endParaRPr lang="en-US" sz="1450" dirty="0"/>
          </a:p>
        </p:txBody>
      </p:sp>
      <p:sp>
        <p:nvSpPr>
          <p:cNvPr id="6" name="Shape 3"/>
          <p:cNvSpPr/>
          <p:nvPr/>
        </p:nvSpPr>
        <p:spPr>
          <a:xfrm>
            <a:off x="685800" y="1847088"/>
            <a:ext cx="2512771" cy="2788920"/>
          </a:xfrm>
          <a:prstGeom prst="roundRect">
            <a:avLst>
              <a:gd name="adj" fmla="val 4003"/>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7" name="Shape 4"/>
          <p:cNvSpPr/>
          <p:nvPr/>
        </p:nvSpPr>
        <p:spPr>
          <a:xfrm>
            <a:off x="960120" y="2139696"/>
            <a:ext cx="530352" cy="530352"/>
          </a:xfrm>
          <a:prstGeom prst="ellipse">
            <a:avLst/>
          </a:prstGeom>
          <a:solidFill>
            <a:srgbClr val="3E9B5F"/>
          </a:solidFill>
          <a:ln w="12700">
            <a:solidFill>
              <a:srgbClr val="3E9B5F"/>
            </a:solidFill>
            <a:prstDash val="solid"/>
          </a:ln>
        </p:spPr>
      </p:sp>
      <p:pic>
        <p:nvPicPr>
          <p:cNvPr id="8" name="Image 1" descr="img/icons/cool_w.png">    </p:cNvPr>
          <p:cNvPicPr>
            <a:picLocks noChangeAspect="1"/>
          </p:cNvPicPr>
          <p:nvPr/>
        </p:nvPicPr>
        <p:blipFill>
          <a:blip r:embed="rId2"/>
          <a:stretch>
            <a:fillRect/>
          </a:stretch>
        </p:blipFill>
        <p:spPr>
          <a:xfrm>
            <a:off x="1103315" y="2282891"/>
            <a:ext cx="243962" cy="243962"/>
          </a:xfrm>
          <a:prstGeom prst="rect">
            <a:avLst/>
          </a:prstGeom>
        </p:spPr>
      </p:pic>
      <p:sp>
        <p:nvSpPr>
          <p:cNvPr id="9" name="Text 5"/>
          <p:cNvSpPr txBox="1"/>
          <p:nvPr/>
        </p:nvSpPr>
        <p:spPr>
          <a:xfrm>
            <a:off x="2174443" y="2176272"/>
            <a:ext cx="786384" cy="292608"/>
          </a:xfrm>
          <a:prstGeom prst="rect">
            <a:avLst/>
          </a:prstGeom>
          <a:noFill/>
          <a:ln/>
        </p:spPr>
        <p:txBody>
          <a:bodyPr wrap="square" lIns="0" tIns="0" rIns="0" bIns="0" rtlCol="0" anchor="ctr"/>
          <a:lstStyle/>
          <a:p>
            <a:pPr algn="r" indent="0" marL="0">
              <a:buNone/>
            </a:pPr>
            <a:r>
              <a:rPr lang="en-US" sz="1500" b="1" dirty="0">
                <a:solidFill>
                  <a:srgbClr val="8CC084"/>
                </a:solidFill>
                <a:latin typeface="Cambria" pitchFamily="34" charset="0"/>
                <a:ea typeface="Cambria" pitchFamily="34" charset="-122"/>
                <a:cs typeface="Cambria" pitchFamily="34" charset="-120"/>
              </a:rPr>
              <a:t>350 °C</a:t>
            </a:r>
            <a:endParaRPr lang="en-US" sz="1500" dirty="0"/>
          </a:p>
        </p:txBody>
      </p:sp>
      <p:sp>
        <p:nvSpPr>
          <p:cNvPr id="10" name="Text 6"/>
          <p:cNvSpPr txBox="1"/>
          <p:nvPr/>
        </p:nvSpPr>
        <p:spPr>
          <a:xfrm>
            <a:off x="960120" y="2779776"/>
            <a:ext cx="1964131"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Termal Absorbsiyon</a:t>
            </a:r>
            <a:endParaRPr lang="en-US" sz="1450" dirty="0"/>
          </a:p>
        </p:txBody>
      </p:sp>
      <p:sp>
        <p:nvSpPr>
          <p:cNvPr id="11" name="Text 7"/>
          <p:cNvSpPr txBox="1"/>
          <p:nvPr/>
        </p:nvSpPr>
        <p:spPr>
          <a:xfrm>
            <a:off x="960120" y="3127248"/>
            <a:ext cx="1964131" cy="402336"/>
          </a:xfrm>
          <a:prstGeom prst="rect">
            <a:avLst/>
          </a:prstGeom>
          <a:noFill/>
          <a:ln/>
        </p:spPr>
        <p:txBody>
          <a:bodyPr wrap="square" lIns="0" tIns="0" rIns="0" bIns="0" rtlCol="0" anchor="ctr"/>
          <a:lstStyle/>
          <a:p>
            <a:pPr indent="0" marL="0">
              <a:lnSpc>
                <a:spcPts val="1400"/>
              </a:lnSpc>
              <a:buNone/>
            </a:pPr>
            <a:r>
              <a:rPr lang="en-US" sz="1150" b="1" dirty="0">
                <a:solidFill>
                  <a:srgbClr val="8CC084"/>
                </a:solidFill>
                <a:latin typeface="Calibri" pitchFamily="34" charset="0"/>
                <a:ea typeface="Calibri" pitchFamily="34" charset="-122"/>
                <a:cs typeface="Calibri" pitchFamily="34" charset="-120"/>
              </a:rPr>
              <a:t>Mg(OH)₂  ·  %20</a:t>
            </a:r>
            <a:endParaRPr lang="en-US" sz="1150" dirty="0"/>
          </a:p>
        </p:txBody>
      </p:sp>
      <p:sp>
        <p:nvSpPr>
          <p:cNvPr id="12" name="Text 8"/>
          <p:cNvSpPr txBox="1"/>
          <p:nvPr/>
        </p:nvSpPr>
        <p:spPr>
          <a:xfrm>
            <a:off x="960120" y="3566160"/>
            <a:ext cx="1964131" cy="914400"/>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Endotermik bozunur; ısıyı emerek ortamı soğutur ve su buharı açığa çıkarır.</a:t>
            </a:r>
            <a:endParaRPr lang="en-US" sz="1100" dirty="0"/>
          </a:p>
        </p:txBody>
      </p:sp>
      <p:sp>
        <p:nvSpPr>
          <p:cNvPr id="13" name="Shape 9"/>
          <p:cNvSpPr/>
          <p:nvPr/>
        </p:nvSpPr>
        <p:spPr>
          <a:xfrm>
            <a:off x="3454603" y="1847088"/>
            <a:ext cx="2512771" cy="2788920"/>
          </a:xfrm>
          <a:prstGeom prst="roundRect">
            <a:avLst>
              <a:gd name="adj" fmla="val 4003"/>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14" name="Shape 10"/>
          <p:cNvSpPr/>
          <p:nvPr/>
        </p:nvSpPr>
        <p:spPr>
          <a:xfrm>
            <a:off x="3728923" y="2139696"/>
            <a:ext cx="530352" cy="530352"/>
          </a:xfrm>
          <a:prstGeom prst="ellipse">
            <a:avLst/>
          </a:prstGeom>
          <a:solidFill>
            <a:srgbClr val="3E9B5F"/>
          </a:solidFill>
          <a:ln w="12700">
            <a:solidFill>
              <a:srgbClr val="3E9B5F"/>
            </a:solidFill>
            <a:prstDash val="solid"/>
          </a:ln>
        </p:spPr>
      </p:sp>
      <p:pic>
        <p:nvPicPr>
          <p:cNvPr id="15" name="Image 2" descr="img/icons/cool_w.png">    </p:cNvPr>
          <p:cNvPicPr>
            <a:picLocks noChangeAspect="1"/>
          </p:cNvPicPr>
          <p:nvPr/>
        </p:nvPicPr>
        <p:blipFill>
          <a:blip r:embed="rId3"/>
          <a:stretch>
            <a:fillRect/>
          </a:stretch>
        </p:blipFill>
        <p:spPr>
          <a:xfrm>
            <a:off x="3872118" y="2282891"/>
            <a:ext cx="243962" cy="243962"/>
          </a:xfrm>
          <a:prstGeom prst="rect">
            <a:avLst/>
          </a:prstGeom>
        </p:spPr>
      </p:pic>
      <p:sp>
        <p:nvSpPr>
          <p:cNvPr id="16" name="Text 11"/>
          <p:cNvSpPr txBox="1"/>
          <p:nvPr/>
        </p:nvSpPr>
        <p:spPr>
          <a:xfrm>
            <a:off x="4943246" y="2176272"/>
            <a:ext cx="786384" cy="292608"/>
          </a:xfrm>
          <a:prstGeom prst="rect">
            <a:avLst/>
          </a:prstGeom>
          <a:noFill/>
          <a:ln/>
        </p:spPr>
        <p:txBody>
          <a:bodyPr wrap="square" lIns="0" tIns="0" rIns="0" bIns="0" rtlCol="0" anchor="ctr"/>
          <a:lstStyle/>
          <a:p>
            <a:pPr algn="r" indent="0" marL="0">
              <a:buNone/>
            </a:pPr>
            <a:r>
              <a:rPr lang="en-US" sz="1500" b="1" dirty="0">
                <a:solidFill>
                  <a:srgbClr val="8CC084"/>
                </a:solidFill>
                <a:latin typeface="Cambria" pitchFamily="34" charset="0"/>
                <a:ea typeface="Cambria" pitchFamily="34" charset="-122"/>
                <a:cs typeface="Cambria" pitchFamily="34" charset="-120"/>
              </a:rPr>
              <a:t>512 °C</a:t>
            </a:r>
            <a:endParaRPr lang="en-US" sz="1500" dirty="0"/>
          </a:p>
        </p:txBody>
      </p:sp>
      <p:sp>
        <p:nvSpPr>
          <p:cNvPr id="17" name="Text 12"/>
          <p:cNvSpPr txBox="1"/>
          <p:nvPr/>
        </p:nvSpPr>
        <p:spPr>
          <a:xfrm>
            <a:off x="3728923" y="2779776"/>
            <a:ext cx="1964131"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İkinci Isı Dalgası</a:t>
            </a:r>
            <a:endParaRPr lang="en-US" sz="1450" dirty="0"/>
          </a:p>
        </p:txBody>
      </p:sp>
      <p:sp>
        <p:nvSpPr>
          <p:cNvPr id="18" name="Text 13"/>
          <p:cNvSpPr txBox="1"/>
          <p:nvPr/>
        </p:nvSpPr>
        <p:spPr>
          <a:xfrm>
            <a:off x="3728923" y="3127248"/>
            <a:ext cx="1964131" cy="402336"/>
          </a:xfrm>
          <a:prstGeom prst="rect">
            <a:avLst/>
          </a:prstGeom>
          <a:noFill/>
          <a:ln/>
        </p:spPr>
        <p:txBody>
          <a:bodyPr wrap="square" lIns="0" tIns="0" rIns="0" bIns="0" rtlCol="0" anchor="ctr"/>
          <a:lstStyle/>
          <a:p>
            <a:pPr indent="0" marL="0">
              <a:lnSpc>
                <a:spcPts val="1400"/>
              </a:lnSpc>
              <a:buNone/>
            </a:pPr>
            <a:r>
              <a:rPr lang="en-US" sz="1150" b="1" dirty="0">
                <a:solidFill>
                  <a:srgbClr val="8CC084"/>
                </a:solidFill>
                <a:latin typeface="Calibri" pitchFamily="34" charset="0"/>
                <a:ea typeface="Calibri" pitchFamily="34" charset="-122"/>
                <a:cs typeface="Calibri" pitchFamily="34" charset="-120"/>
              </a:rPr>
              <a:t>Ca(OH)₂  ·  %10</a:t>
            </a:r>
            <a:endParaRPr lang="en-US" sz="1150" dirty="0"/>
          </a:p>
        </p:txBody>
      </p:sp>
      <p:sp>
        <p:nvSpPr>
          <p:cNvPr id="19" name="Text 14"/>
          <p:cNvSpPr txBox="1"/>
          <p:nvPr/>
        </p:nvSpPr>
        <p:spPr>
          <a:xfrm>
            <a:off x="3728923" y="3566160"/>
            <a:ext cx="1964131" cy="914400"/>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Daha yüksek sıcaklıkta devreye girer; soğutmayı sürdürür.</a:t>
            </a:r>
            <a:endParaRPr lang="en-US" sz="1100" dirty="0"/>
          </a:p>
        </p:txBody>
      </p:sp>
      <p:sp>
        <p:nvSpPr>
          <p:cNvPr id="20" name="Shape 15"/>
          <p:cNvSpPr/>
          <p:nvPr/>
        </p:nvSpPr>
        <p:spPr>
          <a:xfrm>
            <a:off x="6223406" y="1847088"/>
            <a:ext cx="2512771" cy="2788920"/>
          </a:xfrm>
          <a:prstGeom prst="roundRect">
            <a:avLst>
              <a:gd name="adj" fmla="val 4003"/>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21" name="Shape 16"/>
          <p:cNvSpPr/>
          <p:nvPr/>
        </p:nvSpPr>
        <p:spPr>
          <a:xfrm>
            <a:off x="6497726" y="2139696"/>
            <a:ext cx="530352" cy="530352"/>
          </a:xfrm>
          <a:prstGeom prst="ellipse">
            <a:avLst/>
          </a:prstGeom>
          <a:solidFill>
            <a:srgbClr val="F07818"/>
          </a:solidFill>
          <a:ln w="12700">
            <a:solidFill>
              <a:srgbClr val="F07818"/>
            </a:solidFill>
            <a:prstDash val="solid"/>
          </a:ln>
        </p:spPr>
      </p:sp>
      <p:pic>
        <p:nvPicPr>
          <p:cNvPr id="22" name="Image 3" descr="img/icons/wind_w.png">    </p:cNvPr>
          <p:cNvPicPr>
            <a:picLocks noChangeAspect="1"/>
          </p:cNvPicPr>
          <p:nvPr/>
        </p:nvPicPr>
        <p:blipFill>
          <a:blip r:embed="rId4"/>
          <a:stretch>
            <a:fillRect/>
          </a:stretch>
        </p:blipFill>
        <p:spPr>
          <a:xfrm>
            <a:off x="6640921" y="2282891"/>
            <a:ext cx="243962" cy="243962"/>
          </a:xfrm>
          <a:prstGeom prst="rect">
            <a:avLst/>
          </a:prstGeom>
        </p:spPr>
      </p:pic>
      <p:sp>
        <p:nvSpPr>
          <p:cNvPr id="23" name="Text 17"/>
          <p:cNvSpPr txBox="1"/>
          <p:nvPr/>
        </p:nvSpPr>
        <p:spPr>
          <a:xfrm>
            <a:off x="7712050" y="2176272"/>
            <a:ext cx="786384" cy="292608"/>
          </a:xfrm>
          <a:prstGeom prst="rect">
            <a:avLst/>
          </a:prstGeom>
          <a:noFill/>
          <a:ln/>
        </p:spPr>
        <p:txBody>
          <a:bodyPr wrap="square" lIns="0" tIns="0" rIns="0" bIns="0" rtlCol="0" anchor="ctr"/>
          <a:lstStyle/>
          <a:p>
            <a:pPr algn="r" indent="0" marL="0">
              <a:buNone/>
            </a:pPr>
            <a:r>
              <a:rPr lang="en-US" sz="1500" b="1" dirty="0">
                <a:solidFill>
                  <a:srgbClr val="8CC084"/>
                </a:solidFill>
                <a:latin typeface="Cambria" pitchFamily="34" charset="0"/>
                <a:ea typeface="Cambria" pitchFamily="34" charset="-122"/>
                <a:cs typeface="Cambria" pitchFamily="34" charset="-120"/>
              </a:rPr>
              <a:t>840 °C</a:t>
            </a:r>
            <a:endParaRPr lang="en-US" sz="1500" dirty="0"/>
          </a:p>
        </p:txBody>
      </p:sp>
      <p:sp>
        <p:nvSpPr>
          <p:cNvPr id="24" name="Text 18"/>
          <p:cNvSpPr txBox="1"/>
          <p:nvPr/>
        </p:nvSpPr>
        <p:spPr>
          <a:xfrm>
            <a:off x="6497726" y="2779776"/>
            <a:ext cx="1964131"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Oksijen Seyreltme</a:t>
            </a:r>
            <a:endParaRPr lang="en-US" sz="1450" dirty="0"/>
          </a:p>
        </p:txBody>
      </p:sp>
      <p:sp>
        <p:nvSpPr>
          <p:cNvPr id="25" name="Text 19"/>
          <p:cNvSpPr txBox="1"/>
          <p:nvPr/>
        </p:nvSpPr>
        <p:spPr>
          <a:xfrm>
            <a:off x="6497726" y="3127248"/>
            <a:ext cx="1964131" cy="402336"/>
          </a:xfrm>
          <a:prstGeom prst="rect">
            <a:avLst/>
          </a:prstGeom>
          <a:noFill/>
          <a:ln/>
        </p:spPr>
        <p:txBody>
          <a:bodyPr wrap="square" lIns="0" tIns="0" rIns="0" bIns="0" rtlCol="0" anchor="ctr"/>
          <a:lstStyle/>
          <a:p>
            <a:pPr indent="0" marL="0">
              <a:lnSpc>
                <a:spcPts val="1400"/>
              </a:lnSpc>
              <a:buNone/>
            </a:pPr>
            <a:r>
              <a:rPr lang="en-US" sz="1150" b="1" dirty="0">
                <a:solidFill>
                  <a:srgbClr val="8CC084"/>
                </a:solidFill>
                <a:latin typeface="Calibri" pitchFamily="34" charset="0"/>
                <a:ea typeface="Calibri" pitchFamily="34" charset="-122"/>
                <a:cs typeface="Calibri" pitchFamily="34" charset="-120"/>
              </a:rPr>
              <a:t>Yumurta kabuğu  ·  %50</a:t>
            </a:r>
            <a:endParaRPr lang="en-US" sz="1150" dirty="0"/>
          </a:p>
        </p:txBody>
      </p:sp>
      <p:sp>
        <p:nvSpPr>
          <p:cNvPr id="26" name="Text 20"/>
          <p:cNvSpPr txBox="1"/>
          <p:nvPr/>
        </p:nvSpPr>
        <p:spPr>
          <a:xfrm>
            <a:off x="6497726" y="3566160"/>
            <a:ext cx="1964131" cy="914400"/>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CaCO₃ bozunur; açığa çıkan CO₂ ortam oksijenini düşürerek alevi boğar.</a:t>
            </a:r>
            <a:endParaRPr lang="en-US" sz="1100" dirty="0"/>
          </a:p>
        </p:txBody>
      </p:sp>
      <p:sp>
        <p:nvSpPr>
          <p:cNvPr id="27" name="Shape 21"/>
          <p:cNvSpPr/>
          <p:nvPr/>
        </p:nvSpPr>
        <p:spPr>
          <a:xfrm>
            <a:off x="8992210" y="1847088"/>
            <a:ext cx="2512771" cy="2788920"/>
          </a:xfrm>
          <a:prstGeom prst="roundRect">
            <a:avLst>
              <a:gd name="adj" fmla="val 4003"/>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28" name="Shape 22"/>
          <p:cNvSpPr/>
          <p:nvPr/>
        </p:nvSpPr>
        <p:spPr>
          <a:xfrm>
            <a:off x="9266530" y="2139696"/>
            <a:ext cx="530352" cy="530352"/>
          </a:xfrm>
          <a:prstGeom prst="ellipse">
            <a:avLst/>
          </a:prstGeom>
          <a:solidFill>
            <a:srgbClr val="F07818"/>
          </a:solidFill>
          <a:ln w="12700">
            <a:solidFill>
              <a:srgbClr val="F07818"/>
            </a:solidFill>
            <a:prstDash val="solid"/>
          </a:ln>
        </p:spPr>
      </p:sp>
      <p:pic>
        <p:nvPicPr>
          <p:cNvPr id="29" name="Image 4" descr="img/icons/layers_w.png">    </p:cNvPr>
          <p:cNvPicPr>
            <a:picLocks noChangeAspect="1"/>
          </p:cNvPicPr>
          <p:nvPr/>
        </p:nvPicPr>
        <p:blipFill>
          <a:blip r:embed="rId5"/>
          <a:stretch>
            <a:fillRect/>
          </a:stretch>
        </p:blipFill>
        <p:spPr>
          <a:xfrm>
            <a:off x="9409725" y="2282891"/>
            <a:ext cx="243962" cy="243962"/>
          </a:xfrm>
          <a:prstGeom prst="rect">
            <a:avLst/>
          </a:prstGeom>
        </p:spPr>
      </p:pic>
      <p:sp>
        <p:nvSpPr>
          <p:cNvPr id="30" name="Text 23"/>
          <p:cNvSpPr txBox="1"/>
          <p:nvPr/>
        </p:nvSpPr>
        <p:spPr>
          <a:xfrm>
            <a:off x="10480853" y="2176272"/>
            <a:ext cx="786384" cy="292608"/>
          </a:xfrm>
          <a:prstGeom prst="rect">
            <a:avLst/>
          </a:prstGeom>
          <a:noFill/>
          <a:ln/>
        </p:spPr>
        <p:txBody>
          <a:bodyPr wrap="square" lIns="0" tIns="0" rIns="0" bIns="0" rtlCol="0" anchor="ctr"/>
          <a:lstStyle/>
          <a:p>
            <a:pPr algn="r" indent="0" marL="0">
              <a:buNone/>
            </a:pPr>
            <a:r>
              <a:rPr lang="en-US" sz="1500" b="1" dirty="0">
                <a:solidFill>
                  <a:srgbClr val="8CC084"/>
                </a:solidFill>
                <a:latin typeface="Cambria" pitchFamily="34" charset="0"/>
                <a:ea typeface="Cambria" pitchFamily="34" charset="-122"/>
                <a:cs typeface="Cambria" pitchFamily="34" charset="-120"/>
              </a:rPr>
              <a:t>~200 °C</a:t>
            </a:r>
            <a:endParaRPr lang="en-US" sz="1500" dirty="0"/>
          </a:p>
        </p:txBody>
      </p:sp>
      <p:sp>
        <p:nvSpPr>
          <p:cNvPr id="31" name="Text 24"/>
          <p:cNvSpPr txBox="1"/>
          <p:nvPr/>
        </p:nvSpPr>
        <p:spPr>
          <a:xfrm>
            <a:off x="9266530" y="2779776"/>
            <a:ext cx="1964131" cy="329184"/>
          </a:xfrm>
          <a:prstGeom prst="rect">
            <a:avLst/>
          </a:prstGeom>
          <a:noFill/>
          <a:ln/>
        </p:spPr>
        <p:txBody>
          <a:bodyPr wrap="square" lIns="0" tIns="0" rIns="0" bIns="0" rtlCol="0" anchor="ctr"/>
          <a:lstStyle/>
          <a:p>
            <a:pPr indent="0" marL="0">
              <a:buNone/>
            </a:pPr>
            <a:r>
              <a:rPr lang="en-US" sz="1450" b="1" dirty="0">
                <a:solidFill>
                  <a:srgbClr val="FFFFFF"/>
                </a:solidFill>
                <a:latin typeface="Cambria" pitchFamily="34" charset="0"/>
                <a:ea typeface="Cambria" pitchFamily="34" charset="-122"/>
                <a:cs typeface="Cambria" pitchFamily="34" charset="-120"/>
              </a:rPr>
              <a:t>Mineral Örtü</a:t>
            </a:r>
            <a:endParaRPr lang="en-US" sz="1450" dirty="0"/>
          </a:p>
        </p:txBody>
      </p:sp>
      <p:sp>
        <p:nvSpPr>
          <p:cNvPr id="32" name="Text 25"/>
          <p:cNvSpPr txBox="1"/>
          <p:nvPr/>
        </p:nvSpPr>
        <p:spPr>
          <a:xfrm>
            <a:off x="9266530" y="3127248"/>
            <a:ext cx="1964131" cy="402336"/>
          </a:xfrm>
          <a:prstGeom prst="rect">
            <a:avLst/>
          </a:prstGeom>
          <a:noFill/>
          <a:ln/>
        </p:spPr>
        <p:txBody>
          <a:bodyPr wrap="square" lIns="0" tIns="0" rIns="0" bIns="0" rtlCol="0" anchor="ctr"/>
          <a:lstStyle/>
          <a:p>
            <a:pPr indent="0" marL="0">
              <a:lnSpc>
                <a:spcPts val="1400"/>
              </a:lnSpc>
              <a:buNone/>
            </a:pPr>
            <a:r>
              <a:rPr lang="en-US" sz="1150" b="1" dirty="0">
                <a:solidFill>
                  <a:srgbClr val="8CC084"/>
                </a:solidFill>
                <a:latin typeface="Calibri" pitchFamily="34" charset="0"/>
                <a:ea typeface="Calibri" pitchFamily="34" charset="-122"/>
                <a:cs typeface="Calibri" pitchFamily="34" charset="-120"/>
              </a:rPr>
              <a:t>Al(OH)₃ + Kaolin  ·  %18</a:t>
            </a:r>
            <a:endParaRPr lang="en-US" sz="1150" dirty="0"/>
          </a:p>
        </p:txBody>
      </p:sp>
      <p:sp>
        <p:nvSpPr>
          <p:cNvPr id="33" name="Text 26"/>
          <p:cNvSpPr txBox="1"/>
          <p:nvPr/>
        </p:nvSpPr>
        <p:spPr>
          <a:xfrm>
            <a:off x="9266530" y="3566160"/>
            <a:ext cx="1964131" cy="914400"/>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Su buharı salar ve yüzeyde ısıya dayanıklı bir örtü tabakası oluşturur.</a:t>
            </a:r>
            <a:endParaRPr lang="en-US" sz="1100" dirty="0"/>
          </a:p>
        </p:txBody>
      </p:sp>
      <p:sp>
        <p:nvSpPr>
          <p:cNvPr id="34" name="Text 27"/>
          <p:cNvSpPr txBox="1"/>
          <p:nvPr/>
        </p:nvSpPr>
        <p:spPr>
          <a:xfrm>
            <a:off x="685800" y="4919472"/>
            <a:ext cx="2743200" cy="237744"/>
          </a:xfrm>
          <a:prstGeom prst="rect">
            <a:avLst/>
          </a:prstGeom>
          <a:noFill/>
          <a:ln/>
        </p:spPr>
        <p:txBody>
          <a:bodyPr wrap="square" lIns="0" tIns="0" rIns="0" bIns="0" rtlCol="0" anchor="ctr"/>
          <a:lstStyle/>
          <a:p>
            <a:pPr indent="0" marL="0">
              <a:buNone/>
            </a:pPr>
            <a:r>
              <a:rPr lang="en-US" sz="1000" b="1" spc="180" kern="0" dirty="0">
                <a:solidFill>
                  <a:srgbClr val="7FA88F"/>
                </a:solidFill>
                <a:latin typeface="Calibri" pitchFamily="34" charset="0"/>
                <a:ea typeface="Calibri" pitchFamily="34" charset="-122"/>
                <a:cs typeface="Calibri" pitchFamily="34" charset="-120"/>
              </a:rPr>
              <a:t>PATENTLİ BİLEŞİM</a:t>
            </a:r>
            <a:endParaRPr lang="en-US" sz="1000" dirty="0"/>
          </a:p>
        </p:txBody>
      </p:sp>
      <p:sp>
        <p:nvSpPr>
          <p:cNvPr id="35" name="Text 28"/>
          <p:cNvSpPr txBox="1"/>
          <p:nvPr/>
        </p:nvSpPr>
        <p:spPr>
          <a:xfrm>
            <a:off x="685800" y="5157216"/>
            <a:ext cx="10820095" cy="31089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%50 yumurta kabuğu  ·  %20 Mg(OH)₂  ·  %10 Ca(OH)₂  ·  %10 Al(OH)₃  ·  %8 kaolin  ·  %2 magnezyum stearat</a:t>
            </a:r>
            <a:endParaRPr lang="en-US" sz="1300" dirty="0"/>
          </a:p>
        </p:txBody>
      </p:sp>
      <p:sp>
        <p:nvSpPr>
          <p:cNvPr id="36" name="Text 29"/>
          <p:cNvSpPr txBox="1"/>
          <p:nvPr/>
        </p:nvSpPr>
        <p:spPr>
          <a:xfrm>
            <a:off x="685800" y="5504688"/>
            <a:ext cx="10820095" cy="310896"/>
          </a:xfrm>
          <a:prstGeom prst="rect">
            <a:avLst/>
          </a:prstGeom>
          <a:noFill/>
          <a:ln/>
        </p:spPr>
        <p:txBody>
          <a:bodyPr wrap="square" lIns="0" tIns="0" rIns="0" bIns="0" rtlCol="0" anchor="ctr"/>
          <a:lstStyle/>
          <a:p>
            <a:pPr indent="0" marL="0">
              <a:buNone/>
            </a:pPr>
            <a:r>
              <a:rPr lang="en-US" sz="1150" i="1" dirty="0">
                <a:solidFill>
                  <a:srgbClr val="8CC084"/>
                </a:solidFill>
                <a:latin typeface="Calibri" pitchFamily="34" charset="0"/>
                <a:ea typeface="Calibri" pitchFamily="34" charset="-122"/>
                <a:cs typeface="Calibri" pitchFamily="34" charset="-120"/>
              </a:rPr>
              <a:t>TÜRKPATENT inceleme raporu, 11 istemin tamamında yenilik, buluş basamağı ve sanayiye uygulanabilirlik kriterlerini olumlu değerlendirdi.</a:t>
            </a:r>
            <a:endParaRPr lang="en-US" sz="1150" dirty="0"/>
          </a:p>
        </p:txBody>
      </p:sp>
      <p:sp>
        <p:nvSpPr>
          <p:cNvPr id="37" name="Text 30"/>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5E8770"/>
                </a:solidFill>
                <a:latin typeface="Calibri" pitchFamily="34" charset="0"/>
                <a:ea typeface="Calibri" pitchFamily="34" charset="-122"/>
                <a:cs typeface="Calibri" pitchFamily="34" charset="-120"/>
              </a:rPr>
              <a:t>06</a:t>
            </a:r>
            <a:endParaRPr lang="en-US" sz="1000" dirty="0"/>
          </a:p>
        </p:txBody>
      </p:sp>
      <p:sp>
        <p:nvSpPr>
          <p:cNvPr id="38" name="Text 31"/>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5E8770"/>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ÜRETİM</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Dört Adımda Üretim Protokolü</a:t>
            </a:r>
            <a:endParaRPr lang="en-US" sz="3300" dirty="0"/>
          </a:p>
        </p:txBody>
      </p:sp>
      <p:sp>
        <p:nvSpPr>
          <p:cNvPr id="5" name="Shape 2"/>
          <p:cNvSpPr/>
          <p:nvPr/>
        </p:nvSpPr>
        <p:spPr>
          <a:xfrm>
            <a:off x="685800" y="1700784"/>
            <a:ext cx="493776" cy="493776"/>
          </a:xfrm>
          <a:prstGeom prst="ellipse">
            <a:avLst/>
          </a:prstGeom>
          <a:solidFill>
            <a:srgbClr val="1B6B3A"/>
          </a:solidFill>
          <a:ln w="12700">
            <a:solidFill>
              <a:srgbClr val="1B6B3A"/>
            </a:solidFill>
            <a:prstDash val="solid"/>
          </a:ln>
        </p:spPr>
      </p:sp>
      <p:sp>
        <p:nvSpPr>
          <p:cNvPr id="6" name="Text 3"/>
          <p:cNvSpPr txBox="1"/>
          <p:nvPr/>
        </p:nvSpPr>
        <p:spPr>
          <a:xfrm>
            <a:off x="685800" y="170078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01</a:t>
            </a:r>
            <a:endParaRPr lang="en-US" sz="1300" dirty="0"/>
          </a:p>
        </p:txBody>
      </p:sp>
      <p:sp>
        <p:nvSpPr>
          <p:cNvPr id="7" name="Text 4"/>
          <p:cNvSpPr txBox="1"/>
          <p:nvPr/>
        </p:nvSpPr>
        <p:spPr>
          <a:xfrm>
            <a:off x="1399032" y="1673352"/>
            <a:ext cx="5029200" cy="310896"/>
          </a:xfrm>
          <a:prstGeom prst="rect">
            <a:avLst/>
          </a:prstGeom>
          <a:noFill/>
          <a:ln/>
        </p:spPr>
        <p:txBody>
          <a:bodyPr wrap="square" lIns="0" tIns="0" rIns="0" bIns="0" rtlCol="0" anchor="ctr"/>
          <a:lstStyle/>
          <a:p>
            <a:pPr indent="0" marL="0">
              <a:buNone/>
            </a:pPr>
            <a:r>
              <a:rPr lang="en-US" sz="1600" b="1" dirty="0">
                <a:solidFill>
                  <a:srgbClr val="07281D"/>
                </a:solidFill>
                <a:latin typeface="Cambria" pitchFamily="34" charset="0"/>
                <a:ea typeface="Cambria" pitchFamily="34" charset="-122"/>
                <a:cs typeface="Cambria" pitchFamily="34" charset="-120"/>
              </a:rPr>
              <a:t>Yumurta kabuğu temizleme</a:t>
            </a:r>
            <a:endParaRPr lang="en-US" sz="1600" dirty="0"/>
          </a:p>
        </p:txBody>
      </p:sp>
      <p:sp>
        <p:nvSpPr>
          <p:cNvPr id="8" name="Text 5"/>
          <p:cNvSpPr txBox="1"/>
          <p:nvPr/>
        </p:nvSpPr>
        <p:spPr>
          <a:xfrm>
            <a:off x="1399032" y="1984248"/>
            <a:ext cx="5120640" cy="493776"/>
          </a:xfrm>
          <a:prstGeom prst="rect">
            <a:avLst/>
          </a:prstGeom>
          <a:noFill/>
          <a:ln/>
        </p:spPr>
        <p:txBody>
          <a:bodyPr wrap="square" lIns="0" tIns="0" rIns="0" bIns="0" rtlCol="0" anchor="ctr"/>
          <a:lstStyle/>
          <a:p>
            <a:pPr indent="0" marL="0">
              <a:lnSpc>
                <a:spcPts val="1600"/>
              </a:lnSpc>
              <a:buNone/>
            </a:pPr>
            <a:r>
              <a:rPr lang="en-US" sz="1200" dirty="0">
                <a:solidFill>
                  <a:srgbClr val="6F7F76"/>
                </a:solidFill>
                <a:latin typeface="Calibri" pitchFamily="34" charset="0"/>
                <a:ea typeface="Calibri" pitchFamily="34" charset="-122"/>
                <a:cs typeface="Calibri" pitchFamily="34" charset="-120"/>
              </a:rPr>
              <a:t>Geri dönüştürülmüş kabuklar zarlarından ayrılıp temizlenir.</a:t>
            </a:r>
            <a:endParaRPr lang="en-US" sz="1200" dirty="0"/>
          </a:p>
        </p:txBody>
      </p:sp>
      <p:sp>
        <p:nvSpPr>
          <p:cNvPr id="9" name="Shape 6"/>
          <p:cNvSpPr/>
          <p:nvPr/>
        </p:nvSpPr>
        <p:spPr>
          <a:xfrm>
            <a:off x="685800" y="2688336"/>
            <a:ext cx="493776" cy="493776"/>
          </a:xfrm>
          <a:prstGeom prst="ellipse">
            <a:avLst/>
          </a:prstGeom>
          <a:solidFill>
            <a:srgbClr val="F07818"/>
          </a:solidFill>
          <a:ln w="12700">
            <a:solidFill>
              <a:srgbClr val="F07818"/>
            </a:solidFill>
            <a:prstDash val="solid"/>
          </a:ln>
        </p:spPr>
      </p:sp>
      <p:sp>
        <p:nvSpPr>
          <p:cNvPr id="10" name="Text 7"/>
          <p:cNvSpPr txBox="1"/>
          <p:nvPr/>
        </p:nvSpPr>
        <p:spPr>
          <a:xfrm>
            <a:off x="685800" y="2688336"/>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02</a:t>
            </a:r>
            <a:endParaRPr lang="en-US" sz="1300" dirty="0"/>
          </a:p>
        </p:txBody>
      </p:sp>
      <p:sp>
        <p:nvSpPr>
          <p:cNvPr id="11" name="Text 8"/>
          <p:cNvSpPr txBox="1"/>
          <p:nvPr/>
        </p:nvSpPr>
        <p:spPr>
          <a:xfrm>
            <a:off x="1399032" y="2660904"/>
            <a:ext cx="5029200" cy="310896"/>
          </a:xfrm>
          <a:prstGeom prst="rect">
            <a:avLst/>
          </a:prstGeom>
          <a:noFill/>
          <a:ln/>
        </p:spPr>
        <p:txBody>
          <a:bodyPr wrap="square" lIns="0" tIns="0" rIns="0" bIns="0" rtlCol="0" anchor="ctr"/>
          <a:lstStyle/>
          <a:p>
            <a:pPr indent="0" marL="0">
              <a:buNone/>
            </a:pPr>
            <a:r>
              <a:rPr lang="en-US" sz="1600" b="1" dirty="0">
                <a:solidFill>
                  <a:srgbClr val="07281D"/>
                </a:solidFill>
                <a:latin typeface="Cambria" pitchFamily="34" charset="0"/>
                <a:ea typeface="Cambria" pitchFamily="34" charset="-122"/>
                <a:cs typeface="Cambria" pitchFamily="34" charset="-120"/>
              </a:rPr>
              <a:t>Kurutma</a:t>
            </a:r>
            <a:endParaRPr lang="en-US" sz="1600" dirty="0"/>
          </a:p>
        </p:txBody>
      </p:sp>
      <p:sp>
        <p:nvSpPr>
          <p:cNvPr id="12" name="Text 9"/>
          <p:cNvSpPr txBox="1"/>
          <p:nvPr/>
        </p:nvSpPr>
        <p:spPr>
          <a:xfrm>
            <a:off x="1399032" y="2971800"/>
            <a:ext cx="5120640" cy="493776"/>
          </a:xfrm>
          <a:prstGeom prst="rect">
            <a:avLst/>
          </a:prstGeom>
          <a:noFill/>
          <a:ln/>
        </p:spPr>
        <p:txBody>
          <a:bodyPr wrap="square" lIns="0" tIns="0" rIns="0" bIns="0" rtlCol="0" anchor="ctr"/>
          <a:lstStyle/>
          <a:p>
            <a:pPr indent="0" marL="0">
              <a:lnSpc>
                <a:spcPts val="1600"/>
              </a:lnSpc>
              <a:buNone/>
            </a:pPr>
            <a:r>
              <a:rPr lang="en-US" sz="1200" dirty="0">
                <a:solidFill>
                  <a:srgbClr val="6F7F76"/>
                </a:solidFill>
                <a:latin typeface="Calibri" pitchFamily="34" charset="0"/>
                <a:ea typeface="Calibri" pitchFamily="34" charset="-122"/>
                <a:cs typeface="Calibri" pitchFamily="34" charset="-120"/>
              </a:rPr>
              <a:t>Temizlenen kabuklar nem içeriği kontrollü biçimde kurutulur.</a:t>
            </a:r>
            <a:endParaRPr lang="en-US" sz="1200" dirty="0"/>
          </a:p>
        </p:txBody>
      </p:sp>
      <p:sp>
        <p:nvSpPr>
          <p:cNvPr id="13" name="Shape 10"/>
          <p:cNvSpPr/>
          <p:nvPr/>
        </p:nvSpPr>
        <p:spPr>
          <a:xfrm>
            <a:off x="685800" y="3675888"/>
            <a:ext cx="493776" cy="493776"/>
          </a:xfrm>
          <a:prstGeom prst="ellipse">
            <a:avLst/>
          </a:prstGeom>
          <a:solidFill>
            <a:srgbClr val="1B6B3A"/>
          </a:solidFill>
          <a:ln w="12700">
            <a:solidFill>
              <a:srgbClr val="1B6B3A"/>
            </a:solidFill>
            <a:prstDash val="solid"/>
          </a:ln>
        </p:spPr>
      </p:sp>
      <p:sp>
        <p:nvSpPr>
          <p:cNvPr id="14" name="Text 11"/>
          <p:cNvSpPr txBox="1"/>
          <p:nvPr/>
        </p:nvSpPr>
        <p:spPr>
          <a:xfrm>
            <a:off x="685800" y="3675888"/>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03</a:t>
            </a:r>
            <a:endParaRPr lang="en-US" sz="1300" dirty="0"/>
          </a:p>
        </p:txBody>
      </p:sp>
      <p:sp>
        <p:nvSpPr>
          <p:cNvPr id="15" name="Text 12"/>
          <p:cNvSpPr txBox="1"/>
          <p:nvPr/>
        </p:nvSpPr>
        <p:spPr>
          <a:xfrm>
            <a:off x="1399032" y="3648456"/>
            <a:ext cx="5029200" cy="310896"/>
          </a:xfrm>
          <a:prstGeom prst="rect">
            <a:avLst/>
          </a:prstGeom>
          <a:noFill/>
          <a:ln/>
        </p:spPr>
        <p:txBody>
          <a:bodyPr wrap="square" lIns="0" tIns="0" rIns="0" bIns="0" rtlCol="0" anchor="ctr"/>
          <a:lstStyle/>
          <a:p>
            <a:pPr indent="0" marL="0">
              <a:buNone/>
            </a:pPr>
            <a:r>
              <a:rPr lang="en-US" sz="1600" b="1" dirty="0">
                <a:solidFill>
                  <a:srgbClr val="07281D"/>
                </a:solidFill>
                <a:latin typeface="Cambria" pitchFamily="34" charset="0"/>
                <a:ea typeface="Cambria" pitchFamily="34" charset="-122"/>
                <a:cs typeface="Cambria" pitchFamily="34" charset="-120"/>
              </a:rPr>
              <a:t>Öğütme</a:t>
            </a:r>
            <a:endParaRPr lang="en-US" sz="1600" dirty="0"/>
          </a:p>
        </p:txBody>
      </p:sp>
      <p:sp>
        <p:nvSpPr>
          <p:cNvPr id="16" name="Text 13"/>
          <p:cNvSpPr txBox="1"/>
          <p:nvPr/>
        </p:nvSpPr>
        <p:spPr>
          <a:xfrm>
            <a:off x="1399032" y="3959352"/>
            <a:ext cx="5120640" cy="493776"/>
          </a:xfrm>
          <a:prstGeom prst="rect">
            <a:avLst/>
          </a:prstGeom>
          <a:noFill/>
          <a:ln/>
        </p:spPr>
        <p:txBody>
          <a:bodyPr wrap="square" lIns="0" tIns="0" rIns="0" bIns="0" rtlCol="0" anchor="ctr"/>
          <a:lstStyle/>
          <a:p>
            <a:pPr indent="0" marL="0">
              <a:lnSpc>
                <a:spcPts val="1600"/>
              </a:lnSpc>
              <a:buNone/>
            </a:pPr>
            <a:r>
              <a:rPr lang="en-US" sz="1200" dirty="0">
                <a:solidFill>
                  <a:srgbClr val="6F7F76"/>
                </a:solidFill>
                <a:latin typeface="Calibri" pitchFamily="34" charset="0"/>
                <a:ea typeface="Calibri" pitchFamily="34" charset="-122"/>
                <a:cs typeface="Calibri" pitchFamily="34" charset="-120"/>
              </a:rPr>
              <a:t>Kurutulmuş kabuklar ve kaolin birlikte öğütülerek toz hâline getirilir.</a:t>
            </a:r>
            <a:endParaRPr lang="en-US" sz="1200" dirty="0"/>
          </a:p>
        </p:txBody>
      </p:sp>
      <p:sp>
        <p:nvSpPr>
          <p:cNvPr id="17" name="Shape 14"/>
          <p:cNvSpPr/>
          <p:nvPr/>
        </p:nvSpPr>
        <p:spPr>
          <a:xfrm>
            <a:off x="685800" y="4663440"/>
            <a:ext cx="493776" cy="493776"/>
          </a:xfrm>
          <a:prstGeom prst="ellipse">
            <a:avLst/>
          </a:prstGeom>
          <a:solidFill>
            <a:srgbClr val="F07818"/>
          </a:solidFill>
          <a:ln w="12700">
            <a:solidFill>
              <a:srgbClr val="F07818"/>
            </a:solidFill>
            <a:prstDash val="solid"/>
          </a:ln>
        </p:spPr>
      </p:sp>
      <p:sp>
        <p:nvSpPr>
          <p:cNvPr id="18" name="Text 15"/>
          <p:cNvSpPr txBox="1"/>
          <p:nvPr/>
        </p:nvSpPr>
        <p:spPr>
          <a:xfrm>
            <a:off x="685800" y="4663440"/>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04</a:t>
            </a:r>
            <a:endParaRPr lang="en-US" sz="1300" dirty="0"/>
          </a:p>
        </p:txBody>
      </p:sp>
      <p:sp>
        <p:nvSpPr>
          <p:cNvPr id="19" name="Text 16"/>
          <p:cNvSpPr txBox="1"/>
          <p:nvPr/>
        </p:nvSpPr>
        <p:spPr>
          <a:xfrm>
            <a:off x="1399032" y="4636008"/>
            <a:ext cx="5029200" cy="310896"/>
          </a:xfrm>
          <a:prstGeom prst="rect">
            <a:avLst/>
          </a:prstGeom>
          <a:noFill/>
          <a:ln/>
        </p:spPr>
        <p:txBody>
          <a:bodyPr wrap="square" lIns="0" tIns="0" rIns="0" bIns="0" rtlCol="0" anchor="ctr"/>
          <a:lstStyle/>
          <a:p>
            <a:pPr indent="0" marL="0">
              <a:buNone/>
            </a:pPr>
            <a:r>
              <a:rPr lang="en-US" sz="1600" b="1" dirty="0">
                <a:solidFill>
                  <a:srgbClr val="07281D"/>
                </a:solidFill>
                <a:latin typeface="Cambria" pitchFamily="34" charset="0"/>
                <a:ea typeface="Cambria" pitchFamily="34" charset="-122"/>
                <a:cs typeface="Cambria" pitchFamily="34" charset="-120"/>
              </a:rPr>
              <a:t>Karıştırma ve eleme</a:t>
            </a:r>
            <a:endParaRPr lang="en-US" sz="1600" dirty="0"/>
          </a:p>
        </p:txBody>
      </p:sp>
      <p:sp>
        <p:nvSpPr>
          <p:cNvPr id="20" name="Text 17"/>
          <p:cNvSpPr txBox="1"/>
          <p:nvPr/>
        </p:nvSpPr>
        <p:spPr>
          <a:xfrm>
            <a:off x="1399032" y="4946904"/>
            <a:ext cx="5120640" cy="493776"/>
          </a:xfrm>
          <a:prstGeom prst="rect">
            <a:avLst/>
          </a:prstGeom>
          <a:noFill/>
          <a:ln/>
        </p:spPr>
        <p:txBody>
          <a:bodyPr wrap="square" lIns="0" tIns="0" rIns="0" bIns="0" rtlCol="0" anchor="ctr"/>
          <a:lstStyle/>
          <a:p>
            <a:pPr indent="0" marL="0">
              <a:lnSpc>
                <a:spcPts val="1600"/>
              </a:lnSpc>
              <a:buNone/>
            </a:pPr>
            <a:r>
              <a:rPr lang="en-US" sz="1200" dirty="0">
                <a:solidFill>
                  <a:srgbClr val="6F7F76"/>
                </a:solidFill>
                <a:latin typeface="Calibri" pitchFamily="34" charset="0"/>
                <a:ea typeface="Calibri" pitchFamily="34" charset="-122"/>
                <a:cs typeface="Calibri" pitchFamily="34" charset="-120"/>
              </a:rPr>
              <a:t>Mg(OH)₂, Ca(OH)₂, Al(OH)₃ ve magnezyum stearat belirlenen oranlarda eklenip homojen olana dek elenir.</a:t>
            </a:r>
            <a:endParaRPr lang="en-US" sz="1200" dirty="0"/>
          </a:p>
        </p:txBody>
      </p:sp>
      <p:sp>
        <p:nvSpPr>
          <p:cNvPr id="21" name="Shape 18"/>
          <p:cNvSpPr/>
          <p:nvPr/>
        </p:nvSpPr>
        <p:spPr>
          <a:xfrm>
            <a:off x="6967728" y="1700784"/>
            <a:ext cx="4535424" cy="3063240"/>
          </a:xfrm>
          <a:prstGeom prst="roundRect">
            <a:avLst>
              <a:gd name="adj" fmla="val 2985"/>
            </a:avLst>
          </a:prstGeom>
          <a:solidFill>
            <a:srgbClr val="F2F6F3"/>
          </a:solidFill>
          <a:ln w="12700">
            <a:solidFill>
              <a:srgbClr val="DCE6DE"/>
            </a:solidFill>
            <a:prstDash val="solid"/>
          </a:ln>
          <a:effectLst>
            <a:outerShdw sx="100000" sy="100000" kx="0" ky="0" algn="bl" rotWithShape="0" blurRad="177800" dist="38100" dir="5400000">
              <a:srgbClr val="0B2E22">
                <a:alpha val="12000"/>
              </a:srgbClr>
            </a:outerShdw>
          </a:effectLst>
        </p:spPr>
      </p:sp>
      <p:pic>
        <p:nvPicPr>
          <p:cNvPr id="22" name="Image 1" descr="img/powder.jpg">    </p:cNvPr>
          <p:cNvPicPr>
            <a:picLocks noChangeAspect="1"/>
          </p:cNvPicPr>
          <p:nvPr/>
        </p:nvPicPr>
        <p:blipFill>
          <a:blip r:embed="rId2"/>
          <a:srcRect l="0" r="0" t="0" b="0"/>
          <a:stretch/>
        </p:blipFill>
        <p:spPr>
          <a:xfrm>
            <a:off x="7031736" y="1764792"/>
            <a:ext cx="4407408" cy="2935224"/>
          </a:xfrm>
          <a:prstGeom prst="rect">
            <a:avLst/>
          </a:prstGeom>
        </p:spPr>
      </p:pic>
      <p:sp>
        <p:nvSpPr>
          <p:cNvPr id="23" name="Text 19"/>
          <p:cNvSpPr txBox="1"/>
          <p:nvPr/>
        </p:nvSpPr>
        <p:spPr>
          <a:xfrm>
            <a:off x="6967728" y="4837176"/>
            <a:ext cx="4535424" cy="237744"/>
          </a:xfrm>
          <a:prstGeom prst="rect">
            <a:avLst/>
          </a:prstGeom>
          <a:noFill/>
          <a:ln/>
        </p:spPr>
        <p:txBody>
          <a:bodyPr wrap="square" lIns="0" tIns="0" rIns="0" bIns="0" rtlCol="0" anchor="ctr"/>
          <a:lstStyle/>
          <a:p>
            <a:pPr indent="0" marL="0">
              <a:buNone/>
            </a:pPr>
            <a:r>
              <a:rPr lang="en-US" sz="1000" i="1" dirty="0">
                <a:solidFill>
                  <a:srgbClr val="6F7F76"/>
                </a:solidFill>
                <a:latin typeface="Calibri" pitchFamily="34" charset="0"/>
                <a:ea typeface="Calibri" pitchFamily="34" charset="-122"/>
                <a:cs typeface="Calibri" pitchFamily="34" charset="-120"/>
              </a:rPr>
              <a:t>Protokole göre üretilen ExtinGard tozu</a:t>
            </a:r>
            <a:endParaRPr lang="en-US" sz="1000" dirty="0"/>
          </a:p>
        </p:txBody>
      </p:sp>
      <p:sp>
        <p:nvSpPr>
          <p:cNvPr id="24" name="Shape 20"/>
          <p:cNvSpPr/>
          <p:nvPr/>
        </p:nvSpPr>
        <p:spPr>
          <a:xfrm>
            <a:off x="6967728" y="5047488"/>
            <a:ext cx="4535424" cy="841248"/>
          </a:xfrm>
          <a:prstGeom prst="roundRect">
            <a:avLst>
              <a:gd name="adj" fmla="val 11957"/>
            </a:avLst>
          </a:prstGeom>
          <a:solidFill>
            <a:srgbClr val="F2F6F3"/>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25" name="Text 21"/>
          <p:cNvSpPr txBox="1"/>
          <p:nvPr/>
        </p:nvSpPr>
        <p:spPr>
          <a:xfrm>
            <a:off x="7242048" y="5175504"/>
            <a:ext cx="3986784" cy="585216"/>
          </a:xfrm>
          <a:prstGeom prst="rect">
            <a:avLst/>
          </a:prstGeom>
          <a:noFill/>
          <a:ln/>
        </p:spPr>
        <p:txBody>
          <a:bodyPr wrap="square" lIns="0" tIns="0" rIns="0" bIns="0" rtlCol="0" anchor="ctr"/>
          <a:lstStyle/>
          <a:p>
            <a:pPr indent="0" marL="0">
              <a:lnSpc>
                <a:spcPts val="1700"/>
              </a:lnSpc>
              <a:buNone/>
            </a:pPr>
            <a:r>
              <a:rPr lang="en-US" sz="1250" b="1" dirty="0">
                <a:solidFill>
                  <a:srgbClr val="1B6B3A"/>
                </a:solidFill>
                <a:latin typeface="Calibri" pitchFamily="34" charset="0"/>
                <a:ea typeface="Calibri" pitchFamily="34" charset="-122"/>
                <a:cs typeface="Calibri" pitchFamily="34" charset="-120"/>
              </a:rPr>
              <a:t>%100 yerli hammadde — tedarik zinciri tamamen Türkiye içinde.</a:t>
            </a:r>
            <a:endParaRPr lang="en-US" sz="1250" dirty="0"/>
          </a:p>
        </p:txBody>
      </p:sp>
      <p:sp>
        <p:nvSpPr>
          <p:cNvPr id="26" name="Text 22"/>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07</a:t>
            </a:r>
            <a:endParaRPr lang="en-US" sz="1000" dirty="0"/>
          </a:p>
        </p:txBody>
      </p:sp>
      <p:sp>
        <p:nvSpPr>
          <p:cNvPr id="27" name="Text 23"/>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DOĞRULAMA</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Test Sonuçları: 7 Materyal, 7 Başarı</a:t>
            </a:r>
            <a:endParaRPr lang="en-US" sz="3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10820095" cy="914400"/>
        </p:xfrm>
        <a:graphic>
          <a:graphicData uri="http://schemas.openxmlformats.org/drawingml/2006/table">
            <a:tbl>
              <a:tblPr/>
              <a:tblGrid>
                <a:gridCol w="2331720"/>
                <a:gridCol w="914400"/>
                <a:gridCol w="1417320"/>
                <a:gridCol w="6156655"/>
              </a:tblGrid>
              <a:tr h="34747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Yanıcı Malzeme</a:t>
                      </a:r>
                      <a:endParaRPr lang="en-US" sz="1200" dirty="0">
                        <a:latin typeface="Calibri" charset="0"/>
                        <a:ea typeface="Calibri" charset="0"/>
                        <a:cs typeface="Calibri" charset="0"/>
                      </a:endParaRPr>
                    </a:p>
                  </a:txBody>
                  <a:tcPr marL="109728" marR="109728" marT="54864" marB="54864"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1B6B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Sınıf</a:t>
                      </a:r>
                      <a:endParaRPr lang="en-US" sz="1200" dirty="0">
                        <a:latin typeface="Calibri" charset="0"/>
                        <a:ea typeface="Calibri" charset="0"/>
                        <a:cs typeface="Calibri" charset="0"/>
                      </a:endParaRPr>
                    </a:p>
                  </a:txBody>
                  <a:tcPr marL="109728" marR="109728" marT="54864" marB="54864"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1B6B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Sonuç</a:t>
                      </a:r>
                      <a:endParaRPr lang="en-US" sz="1200" dirty="0">
                        <a:latin typeface="Calibri" charset="0"/>
                        <a:ea typeface="Calibri" charset="0"/>
                        <a:cs typeface="Calibri" charset="0"/>
                      </a:endParaRPr>
                    </a:p>
                  </a:txBody>
                  <a:tcPr marL="109728" marR="109728" marT="54864" marB="54864"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1B6B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Kritik Gözlem</a:t>
                      </a:r>
                      <a:endParaRPr lang="en-US" sz="1200" dirty="0">
                        <a:latin typeface="Calibri" charset="0"/>
                        <a:ea typeface="Calibri" charset="0"/>
                        <a:cs typeface="Calibri" charset="0"/>
                      </a:endParaRPr>
                    </a:p>
                  </a:txBody>
                  <a:tcPr marL="109728" marR="109728" marT="54864" marB="54864"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1B6B3A"/>
                    </a:solidFill>
                  </a:tcPr>
                </a:tc>
              </a:tr>
              <a:tr h="402336">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Kâğıt / Karton</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07818"/>
                          </a:solidFill>
                          <a:latin typeface="Cambria" pitchFamily="34" charset="0"/>
                          <a:ea typeface="Cambria" pitchFamily="34" charset="-122"/>
                          <a:cs typeface="Cambria" pitchFamily="34" charset="-120"/>
                        </a:rPr>
                        <a:t>A</a:t>
                      </a:r>
                      <a:endParaRPr lang="en-US" sz="1300" dirty="0">
                        <a:latin typeface="Cambria" charset="0"/>
                        <a:ea typeface="Cambria" charset="0"/>
                        <a:cs typeface="Cambria" charset="0"/>
                      </a:endParaRPr>
                    </a:p>
                  </a:txBody>
                  <a:tcPr marL="91440" marR="91440"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  Başarılı</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150" dirty="0">
                          <a:solidFill>
                            <a:srgbClr val="2C3A33"/>
                          </a:solidFill>
                          <a:latin typeface="Calibri" pitchFamily="34" charset="0"/>
                          <a:ea typeface="Calibri" pitchFamily="34" charset="-122"/>
                          <a:cs typeface="Calibri" pitchFamily="34" charset="-120"/>
                        </a:rPr>
                        <a:t>Alev yayılımı anında durdu</a:t>
                      </a:r>
                      <a:endParaRPr lang="en-US" sz="115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Pamuk</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algn="ctr" indent="0" marL="0">
                        <a:buNone/>
                      </a:pPr>
                      <a:r>
                        <a:rPr lang="en-US" sz="1300" b="1" dirty="0">
                          <a:solidFill>
                            <a:srgbClr val="F07818"/>
                          </a:solidFill>
                          <a:latin typeface="Cambria" pitchFamily="34" charset="0"/>
                          <a:ea typeface="Cambria" pitchFamily="34" charset="-122"/>
                          <a:cs typeface="Cambria" pitchFamily="34" charset="-120"/>
                        </a:rPr>
                        <a:t>A</a:t>
                      </a:r>
                      <a:endParaRPr lang="en-US" sz="1300" dirty="0">
                        <a:latin typeface="Cambria" charset="0"/>
                        <a:ea typeface="Cambria" charset="0"/>
                        <a:cs typeface="Cambria" charset="0"/>
                      </a:endParaRPr>
                    </a:p>
                  </a:txBody>
                  <a:tcPr marL="91440" marR="91440"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  Başarılı</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150" dirty="0">
                          <a:solidFill>
                            <a:srgbClr val="2C3A33"/>
                          </a:solidFill>
                          <a:latin typeface="Calibri" pitchFamily="34" charset="0"/>
                          <a:ea typeface="Calibri" pitchFamily="34" charset="-122"/>
                          <a:cs typeface="Calibri" pitchFamily="34" charset="-120"/>
                        </a:rPr>
                        <a:t>Hızlı sönme gözlemlendi</a:t>
                      </a:r>
                      <a:endParaRPr lang="en-US" sz="115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r>
              <a:tr h="402336">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Polyester Kumaş</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07818"/>
                          </a:solidFill>
                          <a:latin typeface="Cambria" pitchFamily="34" charset="0"/>
                          <a:ea typeface="Cambria" pitchFamily="34" charset="-122"/>
                          <a:cs typeface="Cambria" pitchFamily="34" charset="-120"/>
                        </a:rPr>
                        <a:t>A</a:t>
                      </a:r>
                      <a:endParaRPr lang="en-US" sz="1300" dirty="0">
                        <a:latin typeface="Cambria" charset="0"/>
                        <a:ea typeface="Cambria" charset="0"/>
                        <a:cs typeface="Cambria" charset="0"/>
                      </a:endParaRPr>
                    </a:p>
                  </a:txBody>
                  <a:tcPr marL="91440" marR="91440"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  Başarılı</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150" dirty="0">
                          <a:solidFill>
                            <a:srgbClr val="2C3A33"/>
                          </a:solidFill>
                          <a:latin typeface="Calibri" pitchFamily="34" charset="0"/>
                          <a:ea typeface="Calibri" pitchFamily="34" charset="-122"/>
                          <a:cs typeface="Calibri" pitchFamily="34" charset="-120"/>
                        </a:rPr>
                        <a:t>Sentetik yapıya rağmen etkili söndürme</a:t>
                      </a:r>
                      <a:endParaRPr lang="en-US" sz="115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Tiner</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algn="ctr" indent="0" marL="0">
                        <a:buNone/>
                      </a:pPr>
                      <a:r>
                        <a:rPr lang="en-US" sz="1300" b="1" dirty="0">
                          <a:solidFill>
                            <a:srgbClr val="F07818"/>
                          </a:solidFill>
                          <a:latin typeface="Cambria" pitchFamily="34" charset="0"/>
                          <a:ea typeface="Cambria" pitchFamily="34" charset="-122"/>
                          <a:cs typeface="Cambria" pitchFamily="34" charset="-120"/>
                        </a:rPr>
                        <a:t>B</a:t>
                      </a:r>
                      <a:endParaRPr lang="en-US" sz="1300" dirty="0">
                        <a:latin typeface="Cambria" charset="0"/>
                        <a:ea typeface="Cambria" charset="0"/>
                        <a:cs typeface="Cambria" charset="0"/>
                      </a:endParaRPr>
                    </a:p>
                  </a:txBody>
                  <a:tcPr marL="91440" marR="91440"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  Başarılı</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150" dirty="0">
                          <a:solidFill>
                            <a:srgbClr val="2C3A33"/>
                          </a:solidFill>
                          <a:latin typeface="Calibri" pitchFamily="34" charset="0"/>
                          <a:ea typeface="Calibri" pitchFamily="34" charset="-122"/>
                          <a:cs typeface="Calibri" pitchFamily="34" charset="-120"/>
                        </a:rPr>
                        <a:t>Yüzey filmlenmesiyle alev ~5 sn'de baskılandı</a:t>
                      </a:r>
                      <a:endParaRPr lang="en-US" sz="115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r>
              <a:tr h="402336">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Benzin</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07818"/>
                          </a:solidFill>
                          <a:latin typeface="Cambria" pitchFamily="34" charset="0"/>
                          <a:ea typeface="Cambria" pitchFamily="34" charset="-122"/>
                          <a:cs typeface="Cambria" pitchFamily="34" charset="-120"/>
                        </a:rPr>
                        <a:t>B</a:t>
                      </a:r>
                      <a:endParaRPr lang="en-US" sz="1300" dirty="0">
                        <a:latin typeface="Cambria" charset="0"/>
                        <a:ea typeface="Cambria" charset="0"/>
                        <a:cs typeface="Cambria" charset="0"/>
                      </a:endParaRPr>
                    </a:p>
                  </a:txBody>
                  <a:tcPr marL="91440" marR="91440"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  Başarılı</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150" dirty="0">
                          <a:solidFill>
                            <a:srgbClr val="2C3A33"/>
                          </a:solidFill>
                          <a:latin typeface="Calibri" pitchFamily="34" charset="0"/>
                          <a:ea typeface="Calibri" pitchFamily="34" charset="-122"/>
                          <a:cs typeface="Calibri" pitchFamily="34" charset="-120"/>
                        </a:rPr>
                        <a:t>Sıvı yüzeyde yayılma engellendi; 6–8 sn'de söndürüldü</a:t>
                      </a:r>
                      <a:endParaRPr lang="en-US" sz="115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r>
              <a:tr h="402336">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LPG</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algn="ctr" indent="0" marL="0">
                        <a:buNone/>
                      </a:pPr>
                      <a:r>
                        <a:rPr lang="en-US" sz="1300" b="1" dirty="0">
                          <a:solidFill>
                            <a:srgbClr val="F07818"/>
                          </a:solidFill>
                          <a:latin typeface="Cambria" pitchFamily="34" charset="0"/>
                          <a:ea typeface="Cambria" pitchFamily="34" charset="-122"/>
                          <a:cs typeface="Cambria" pitchFamily="34" charset="-120"/>
                        </a:rPr>
                        <a:t>C</a:t>
                      </a:r>
                      <a:endParaRPr lang="en-US" sz="1300" dirty="0">
                        <a:latin typeface="Cambria" charset="0"/>
                        <a:ea typeface="Cambria" charset="0"/>
                        <a:cs typeface="Cambria" charset="0"/>
                      </a:endParaRPr>
                    </a:p>
                  </a:txBody>
                  <a:tcPr marL="91440" marR="91440"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  Başarılı</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150" dirty="0">
                          <a:solidFill>
                            <a:srgbClr val="2C3A33"/>
                          </a:solidFill>
                          <a:latin typeface="Calibri" pitchFamily="34" charset="0"/>
                          <a:ea typeface="Calibri" pitchFamily="34" charset="-122"/>
                          <a:cs typeface="Calibri" pitchFamily="34" charset="-120"/>
                        </a:rPr>
                        <a:t>Gaz alevi 3–4 sn'de kesildi</a:t>
                      </a:r>
                      <a:endParaRPr lang="en-US" sz="115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r>
              <a:tr h="402336">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Sıvı Yağ</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F07818"/>
                          </a:solidFill>
                          <a:latin typeface="Cambria" pitchFamily="34" charset="0"/>
                          <a:ea typeface="Cambria" pitchFamily="34" charset="-122"/>
                          <a:cs typeface="Cambria" pitchFamily="34" charset="-120"/>
                        </a:rPr>
                        <a:t>F</a:t>
                      </a:r>
                      <a:endParaRPr lang="en-US" sz="1300" dirty="0">
                        <a:latin typeface="Cambria" charset="0"/>
                        <a:ea typeface="Cambria" charset="0"/>
                        <a:cs typeface="Cambria" charset="0"/>
                      </a:endParaRPr>
                    </a:p>
                  </a:txBody>
                  <a:tcPr marL="91440" marR="91440"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  Başarılı</a:t>
                      </a:r>
                      <a:endParaRPr lang="en-US" sz="120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150" dirty="0">
                          <a:solidFill>
                            <a:srgbClr val="2C3A33"/>
                          </a:solidFill>
                          <a:latin typeface="Calibri" pitchFamily="34" charset="0"/>
                          <a:ea typeface="Calibri" pitchFamily="34" charset="-122"/>
                          <a:cs typeface="Calibri" pitchFamily="34" charset="-120"/>
                        </a:rPr>
                        <a:t>Yağ yüzeyi soğutulup izole edildi; tam söndürme</a:t>
                      </a:r>
                      <a:endParaRPr lang="en-US" sz="1150" dirty="0">
                        <a:latin typeface="Calibri" charset="0"/>
                        <a:ea typeface="Calibri" charset="0"/>
                        <a:cs typeface="Calibri" charset="0"/>
                      </a:endParaRPr>
                    </a:p>
                  </a:txBody>
                  <a:tcPr marL="109728" marR="109728" marT="36576" marB="36576"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r>
            </a:tbl>
          </a:graphicData>
        </a:graphic>
      </p:graphicFrame>
      <p:sp>
        <p:nvSpPr>
          <p:cNvPr id="6" name="Shape 2"/>
          <p:cNvSpPr/>
          <p:nvPr/>
        </p:nvSpPr>
        <p:spPr>
          <a:xfrm>
            <a:off x="685800" y="5138928"/>
            <a:ext cx="10820095" cy="822960"/>
          </a:xfrm>
          <a:prstGeom prst="roundRect">
            <a:avLst>
              <a:gd name="adj" fmla="val 12222"/>
            </a:avLst>
          </a:prstGeom>
          <a:solidFill>
            <a:srgbClr val="FFF6EC"/>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7" name="Shape 3"/>
          <p:cNvSpPr/>
          <p:nvPr/>
        </p:nvSpPr>
        <p:spPr>
          <a:xfrm>
            <a:off x="923544" y="5340096"/>
            <a:ext cx="420624" cy="420624"/>
          </a:xfrm>
          <a:prstGeom prst="ellipse">
            <a:avLst/>
          </a:prstGeom>
          <a:solidFill>
            <a:srgbClr val="F07818"/>
          </a:solidFill>
          <a:ln w="12700">
            <a:solidFill>
              <a:srgbClr val="F07818"/>
            </a:solidFill>
            <a:prstDash val="solid"/>
          </a:ln>
        </p:spPr>
      </p:sp>
      <p:pic>
        <p:nvPicPr>
          <p:cNvPr id="8" name="Image 1" descr="img/icons/clipboard_w.png">    </p:cNvPr>
          <p:cNvPicPr>
            <a:picLocks noChangeAspect="1"/>
          </p:cNvPicPr>
          <p:nvPr/>
        </p:nvPicPr>
        <p:blipFill>
          <a:blip r:embed="rId2"/>
          <a:stretch>
            <a:fillRect/>
          </a:stretch>
        </p:blipFill>
        <p:spPr>
          <a:xfrm>
            <a:off x="1028700" y="5445252"/>
            <a:ext cx="210312" cy="210312"/>
          </a:xfrm>
          <a:prstGeom prst="rect">
            <a:avLst/>
          </a:prstGeom>
        </p:spPr>
      </p:pic>
      <p:sp>
        <p:nvSpPr>
          <p:cNvPr id="9" name="Text 4"/>
          <p:cNvSpPr txBox="1"/>
          <p:nvPr/>
        </p:nvSpPr>
        <p:spPr>
          <a:xfrm>
            <a:off x="1472184" y="5248656"/>
            <a:ext cx="9722815" cy="603504"/>
          </a:xfrm>
          <a:prstGeom prst="rect">
            <a:avLst/>
          </a:prstGeom>
          <a:noFill/>
          <a:ln/>
        </p:spPr>
        <p:txBody>
          <a:bodyPr wrap="square" lIns="0" tIns="0" rIns="0" bIns="0" rtlCol="0" anchor="ctr"/>
          <a:lstStyle/>
          <a:p>
            <a:pPr indent="0" marL="0">
              <a:lnSpc>
                <a:spcPts val="1600"/>
              </a:lnSpc>
              <a:buNone/>
            </a:pPr>
            <a:r>
              <a:rPr lang="en-US" sz="1150" dirty="0">
                <a:solidFill>
                  <a:srgbClr val="8A4B12"/>
                </a:solidFill>
                <a:latin typeface="Calibri" pitchFamily="34" charset="0"/>
                <a:ea typeface="Calibri" pitchFamily="34" charset="-122"/>
                <a:cs typeface="Calibri" pitchFamily="34" charset="-120"/>
              </a:rPr>
              <a:t>Testler kendi imkânlarımızla ve Bursa İtfaiye ile ortaklaşa yürütülmüştür. TS EN 615 sertifikasyon testleri henüz tamamlanmamıştır — sertifikasyon başvurusu yol haritamızda yer almaktadır.</a:t>
            </a:r>
            <a:endParaRPr lang="en-US" sz="1150" dirty="0"/>
          </a:p>
        </p:txBody>
      </p:sp>
      <p:sp>
        <p:nvSpPr>
          <p:cNvPr id="10" name="Text 5"/>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08</a:t>
            </a:r>
            <a:endParaRPr lang="en-US" sz="1000" dirty="0"/>
          </a:p>
        </p:txBody>
      </p:sp>
      <p:sp>
        <p:nvSpPr>
          <p:cNvPr id="11" name="Text 6"/>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img/fieldtest_dim.jpg">    </p:cNvPr>
          <p:cNvPicPr>
            <a:picLocks noChangeAspect="1"/>
          </p:cNvPicPr>
          <p:nvPr/>
        </p:nvPicPr>
        <p:blipFill>
          <a:blip r:embed="rId2"/>
          <a:srcRect l="0" r="0" t="0" b="0"/>
          <a:stretch/>
        </p:blipFill>
        <p:spPr>
          <a:xfrm>
            <a:off x="5897880" y="0"/>
            <a:ext cx="6293815" cy="6858000"/>
          </a:xfrm>
          <a:prstGeom prst="rect">
            <a:avLst/>
          </a:prstGeom>
        </p:spPr>
      </p:pic>
      <p:sp>
        <p:nvSpPr>
          <p:cNvPr id="4" name="Text 0"/>
          <p:cNvSpPr txBox="1"/>
          <p:nvPr/>
        </p:nvSpPr>
        <p:spPr>
          <a:xfrm>
            <a:off x="685800" y="457200"/>
            <a:ext cx="4800600" cy="237744"/>
          </a:xfrm>
          <a:prstGeom prst="rect">
            <a:avLst/>
          </a:prstGeom>
          <a:noFill/>
          <a:ln/>
        </p:spPr>
        <p:txBody>
          <a:bodyPr wrap="square" lIns="0" tIns="0" rIns="0" bIns="0" rtlCol="0" anchor="ctr"/>
          <a:lstStyle/>
          <a:p>
            <a:pPr indent="0" marL="0">
              <a:buNone/>
            </a:pPr>
            <a:r>
              <a:rPr lang="en-US" sz="1100" b="1" spc="240" kern="0" dirty="0">
                <a:solidFill>
                  <a:srgbClr val="8CC084"/>
                </a:solidFill>
                <a:latin typeface="Calibri" pitchFamily="34" charset="0"/>
                <a:ea typeface="Calibri" pitchFamily="34" charset="-122"/>
                <a:cs typeface="Calibri" pitchFamily="34" charset="-120"/>
              </a:rPr>
              <a:t>SAHA DOĞRULAMASI</a:t>
            </a:r>
            <a:endParaRPr lang="en-US" sz="1100" dirty="0"/>
          </a:p>
        </p:txBody>
      </p:sp>
      <p:sp>
        <p:nvSpPr>
          <p:cNvPr id="5" name="Text 1"/>
          <p:cNvSpPr txBox="1"/>
          <p:nvPr/>
        </p:nvSpPr>
        <p:spPr>
          <a:xfrm>
            <a:off x="685800" y="694944"/>
            <a:ext cx="4800600" cy="914400"/>
          </a:xfrm>
          <a:prstGeom prst="rect">
            <a:avLst/>
          </a:prstGeom>
          <a:noFill/>
          <a:ln/>
        </p:spPr>
        <p:txBody>
          <a:bodyPr wrap="square" lIns="0" tIns="0" rIns="0" bIns="0" rtlCol="0" anchor="t"/>
          <a:lstStyle/>
          <a:p>
            <a:pPr indent="0" marL="0">
              <a:buNone/>
            </a:pPr>
            <a:r>
              <a:rPr lang="en-US" sz="2900" b="1" dirty="0">
                <a:solidFill>
                  <a:srgbClr val="FFFFFF"/>
                </a:solidFill>
                <a:latin typeface="Cambria" pitchFamily="34" charset="0"/>
                <a:ea typeface="Cambria" pitchFamily="34" charset="-122"/>
                <a:cs typeface="Cambria" pitchFamily="34" charset="-120"/>
              </a:rPr>
              <a:t>Sahada, İtfaiye ile Birlikte Test Edildi</a:t>
            </a:r>
            <a:endParaRPr lang="en-US" sz="2900" dirty="0"/>
          </a:p>
        </p:txBody>
      </p:sp>
      <p:sp>
        <p:nvSpPr>
          <p:cNvPr id="6" name="Shape 2"/>
          <p:cNvSpPr/>
          <p:nvPr/>
        </p:nvSpPr>
        <p:spPr>
          <a:xfrm>
            <a:off x="685800" y="1938528"/>
            <a:ext cx="402336" cy="402336"/>
          </a:xfrm>
          <a:prstGeom prst="ellipse">
            <a:avLst/>
          </a:prstGeom>
          <a:solidFill>
            <a:srgbClr val="3E9B5F"/>
          </a:solidFill>
          <a:ln w="12700">
            <a:solidFill>
              <a:srgbClr val="3E9B5F"/>
            </a:solidFill>
            <a:prstDash val="solid"/>
          </a:ln>
        </p:spPr>
      </p:sp>
      <p:pic>
        <p:nvPicPr>
          <p:cNvPr id="7" name="Image 2" descr="img/icons/check_w.png">    </p:cNvPr>
          <p:cNvPicPr>
            <a:picLocks noChangeAspect="1"/>
          </p:cNvPicPr>
          <p:nvPr/>
        </p:nvPicPr>
        <p:blipFill>
          <a:blip r:embed="rId3"/>
          <a:stretch>
            <a:fillRect/>
          </a:stretch>
        </p:blipFill>
        <p:spPr>
          <a:xfrm>
            <a:off x="798454" y="2051182"/>
            <a:ext cx="177028" cy="177028"/>
          </a:xfrm>
          <a:prstGeom prst="rect">
            <a:avLst/>
          </a:prstGeom>
        </p:spPr>
      </p:pic>
      <p:sp>
        <p:nvSpPr>
          <p:cNvPr id="8" name="Text 3"/>
          <p:cNvSpPr txBox="1"/>
          <p:nvPr/>
        </p:nvSpPr>
        <p:spPr>
          <a:xfrm>
            <a:off x="1289304" y="1901952"/>
            <a:ext cx="4197096" cy="749808"/>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Bursa İtfaiye Arama Kurtarma ve Müdahale Birimleri ile ortak saha testleri gerçekleştirildi.</a:t>
            </a:r>
            <a:endParaRPr lang="en-US" sz="1250" dirty="0"/>
          </a:p>
        </p:txBody>
      </p:sp>
      <p:sp>
        <p:nvSpPr>
          <p:cNvPr id="9" name="Shape 4"/>
          <p:cNvSpPr/>
          <p:nvPr/>
        </p:nvSpPr>
        <p:spPr>
          <a:xfrm>
            <a:off x="685800" y="2852928"/>
            <a:ext cx="402336" cy="402336"/>
          </a:xfrm>
          <a:prstGeom prst="ellipse">
            <a:avLst/>
          </a:prstGeom>
          <a:solidFill>
            <a:srgbClr val="3E9B5F"/>
          </a:solidFill>
          <a:ln w="12700">
            <a:solidFill>
              <a:srgbClr val="3E9B5F"/>
            </a:solidFill>
            <a:prstDash val="solid"/>
          </a:ln>
        </p:spPr>
      </p:sp>
      <p:pic>
        <p:nvPicPr>
          <p:cNvPr id="10" name="Image 3" descr="img/icons/check_w.png">    </p:cNvPr>
          <p:cNvPicPr>
            <a:picLocks noChangeAspect="1"/>
          </p:cNvPicPr>
          <p:nvPr/>
        </p:nvPicPr>
        <p:blipFill>
          <a:blip r:embed="rId4"/>
          <a:stretch>
            <a:fillRect/>
          </a:stretch>
        </p:blipFill>
        <p:spPr>
          <a:xfrm>
            <a:off x="798454" y="2965582"/>
            <a:ext cx="177028" cy="177028"/>
          </a:xfrm>
          <a:prstGeom prst="rect">
            <a:avLst/>
          </a:prstGeom>
        </p:spPr>
      </p:pic>
      <p:sp>
        <p:nvSpPr>
          <p:cNvPr id="11" name="Text 5"/>
          <p:cNvSpPr txBox="1"/>
          <p:nvPr/>
        </p:nvSpPr>
        <p:spPr>
          <a:xfrm>
            <a:off x="1289304" y="2816352"/>
            <a:ext cx="4197096" cy="749808"/>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Tatbikat sahası kullanımı için niyet mektubu görüşmeleri başlatıldı.</a:t>
            </a:r>
            <a:endParaRPr lang="en-US" sz="1250" dirty="0"/>
          </a:p>
        </p:txBody>
      </p:sp>
      <p:sp>
        <p:nvSpPr>
          <p:cNvPr id="12" name="Shape 6"/>
          <p:cNvSpPr/>
          <p:nvPr/>
        </p:nvSpPr>
        <p:spPr>
          <a:xfrm>
            <a:off x="685800" y="3767328"/>
            <a:ext cx="402336" cy="402336"/>
          </a:xfrm>
          <a:prstGeom prst="ellipse">
            <a:avLst/>
          </a:prstGeom>
          <a:solidFill>
            <a:srgbClr val="3E9B5F"/>
          </a:solidFill>
          <a:ln w="12700">
            <a:solidFill>
              <a:srgbClr val="3E9B5F"/>
            </a:solidFill>
            <a:prstDash val="solid"/>
          </a:ln>
        </p:spPr>
      </p:sp>
      <p:pic>
        <p:nvPicPr>
          <p:cNvPr id="13" name="Image 4" descr="img/icons/check_w.png">    </p:cNvPr>
          <p:cNvPicPr>
            <a:picLocks noChangeAspect="1"/>
          </p:cNvPicPr>
          <p:nvPr/>
        </p:nvPicPr>
        <p:blipFill>
          <a:blip r:embed="rId5"/>
          <a:stretch>
            <a:fillRect/>
          </a:stretch>
        </p:blipFill>
        <p:spPr>
          <a:xfrm>
            <a:off x="798454" y="3879982"/>
            <a:ext cx="177028" cy="177028"/>
          </a:xfrm>
          <a:prstGeom prst="rect">
            <a:avLst/>
          </a:prstGeom>
        </p:spPr>
      </p:pic>
      <p:sp>
        <p:nvSpPr>
          <p:cNvPr id="14" name="Text 7"/>
          <p:cNvSpPr txBox="1"/>
          <p:nvPr/>
        </p:nvSpPr>
        <p:spPr>
          <a:xfrm>
            <a:off x="1289304" y="3730752"/>
            <a:ext cx="4197096" cy="749808"/>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Testlerin büyük bölümü tekrarlanabilirlik kanıtı olarak video kaydına alındı.</a:t>
            </a:r>
            <a:endParaRPr lang="en-US" sz="1250" dirty="0"/>
          </a:p>
        </p:txBody>
      </p:sp>
      <p:sp>
        <p:nvSpPr>
          <p:cNvPr id="15" name="Shape 8"/>
          <p:cNvSpPr/>
          <p:nvPr/>
        </p:nvSpPr>
        <p:spPr>
          <a:xfrm>
            <a:off x="685800" y="4681728"/>
            <a:ext cx="402336" cy="402336"/>
          </a:xfrm>
          <a:prstGeom prst="ellipse">
            <a:avLst/>
          </a:prstGeom>
          <a:solidFill>
            <a:srgbClr val="3E9B5F"/>
          </a:solidFill>
          <a:ln w="12700">
            <a:solidFill>
              <a:srgbClr val="3E9B5F"/>
            </a:solidFill>
            <a:prstDash val="solid"/>
          </a:ln>
        </p:spPr>
      </p:sp>
      <p:pic>
        <p:nvPicPr>
          <p:cNvPr id="16" name="Image 5" descr="img/icons/check_w.png">    </p:cNvPr>
          <p:cNvPicPr>
            <a:picLocks noChangeAspect="1"/>
          </p:cNvPicPr>
          <p:nvPr/>
        </p:nvPicPr>
        <p:blipFill>
          <a:blip r:embed="rId6"/>
          <a:stretch>
            <a:fillRect/>
          </a:stretch>
        </p:blipFill>
        <p:spPr>
          <a:xfrm>
            <a:off x="798454" y="4794382"/>
            <a:ext cx="177028" cy="177028"/>
          </a:xfrm>
          <a:prstGeom prst="rect">
            <a:avLst/>
          </a:prstGeom>
        </p:spPr>
      </p:pic>
      <p:sp>
        <p:nvSpPr>
          <p:cNvPr id="17" name="Text 9"/>
          <p:cNvSpPr txBox="1"/>
          <p:nvPr/>
        </p:nvSpPr>
        <p:spPr>
          <a:xfrm>
            <a:off x="1289304" y="4645152"/>
            <a:ext cx="4197096" cy="749808"/>
          </a:xfrm>
          <a:prstGeom prst="rect">
            <a:avLst/>
          </a:prstGeom>
          <a:noFill/>
          <a:ln/>
        </p:spPr>
        <p:txBody>
          <a:bodyPr wrap="square" lIns="0" tIns="0" rIns="0" bIns="0" rtlCol="0" anchor="ctr"/>
          <a:lstStyle/>
          <a:p>
            <a:pPr indent="0" marL="0">
              <a:lnSpc>
                <a:spcPts val="1800"/>
              </a:lnSpc>
              <a:buNone/>
            </a:pPr>
            <a:r>
              <a:rPr lang="en-US" sz="1250" dirty="0">
                <a:solidFill>
                  <a:srgbClr val="FFFFFF"/>
                </a:solidFill>
                <a:latin typeface="Calibri" pitchFamily="34" charset="0"/>
                <a:ea typeface="Calibri" pitchFamily="34" charset="-122"/>
                <a:cs typeface="Calibri" pitchFamily="34" charset="-120"/>
              </a:rPr>
              <a:t>T3 Girişim Merkezi DENEYAP Girişim Programı'nda iş modeli ve IP stratejisi değerlendirmesi alındı.</a:t>
            </a:r>
            <a:endParaRPr lang="en-US" sz="1250" dirty="0"/>
          </a:p>
        </p:txBody>
      </p:sp>
      <p:sp>
        <p:nvSpPr>
          <p:cNvPr id="18" name="Text 10"/>
          <p:cNvSpPr txBox="1"/>
          <p:nvPr/>
        </p:nvSpPr>
        <p:spPr>
          <a:xfrm>
            <a:off x="685800" y="5596128"/>
            <a:ext cx="4800600" cy="457200"/>
          </a:xfrm>
          <a:prstGeom prst="rect">
            <a:avLst/>
          </a:prstGeom>
          <a:noFill/>
          <a:ln/>
        </p:spPr>
        <p:txBody>
          <a:bodyPr wrap="square" lIns="0" tIns="0" rIns="0" bIns="0" rtlCol="0" anchor="ctr"/>
          <a:lstStyle/>
          <a:p>
            <a:pPr indent="0" marL="0">
              <a:lnSpc>
                <a:spcPts val="1600"/>
              </a:lnSpc>
              <a:buNone/>
            </a:pPr>
            <a:r>
              <a:rPr lang="en-US" sz="1100" i="1" dirty="0">
                <a:solidFill>
                  <a:srgbClr val="8CC084"/>
                </a:solidFill>
                <a:latin typeface="Calibri" pitchFamily="34" charset="0"/>
                <a:ea typeface="Calibri" pitchFamily="34" charset="-122"/>
                <a:cs typeface="Calibri" pitchFamily="34" charset="-120"/>
              </a:rPr>
              <a:t>Saha testi parametreleri: söndürme süresi · alev yayılım hızı · CO₂ salınımı · güvenlik etkisi</a:t>
            </a:r>
            <a:endParaRPr lang="en-US" sz="1100" dirty="0"/>
          </a:p>
        </p:txBody>
      </p:sp>
      <p:sp>
        <p:nvSpPr>
          <p:cNvPr id="19" name="Text 11"/>
          <p:cNvSpPr txBox="1"/>
          <p:nvPr/>
        </p:nvSpPr>
        <p:spPr>
          <a:xfrm>
            <a:off x="4343400" y="6291072"/>
            <a:ext cx="822960" cy="274320"/>
          </a:xfrm>
          <a:prstGeom prst="rect">
            <a:avLst/>
          </a:prstGeom>
          <a:noFill/>
          <a:ln/>
        </p:spPr>
        <p:txBody>
          <a:bodyPr wrap="square" lIns="0" tIns="0" rIns="0" bIns="0" rtlCol="0" anchor="ctr"/>
          <a:lstStyle/>
          <a:p>
            <a:pPr algn="r" indent="0" marL="0">
              <a:buNone/>
            </a:pPr>
            <a:r>
              <a:rPr lang="en-US" sz="1000" b="1" dirty="0">
                <a:solidFill>
                  <a:srgbClr val="5E8770"/>
                </a:solidFill>
                <a:latin typeface="Calibri" pitchFamily="34" charset="0"/>
                <a:ea typeface="Calibri" pitchFamily="34" charset="-122"/>
                <a:cs typeface="Calibri" pitchFamily="34" charset="-120"/>
              </a:rPr>
              <a:t>09</a:t>
            </a:r>
            <a:endParaRPr lang="en-US" sz="1000" dirty="0"/>
          </a:p>
        </p:txBody>
      </p:sp>
      <p:sp>
        <p:nvSpPr>
          <p:cNvPr id="20" name="Text 12"/>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5E8770"/>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REKABET</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Piyasa Ürünleriyle Karşılaştırma</a:t>
            </a:r>
            <a:endParaRPr lang="en-US" sz="3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627632"/>
          <a:ext cx="10820095" cy="914400"/>
        </p:xfrm>
        <a:graphic>
          <a:graphicData uri="http://schemas.openxmlformats.org/drawingml/2006/table">
            <a:tbl>
              <a:tblPr/>
              <a:tblGrid>
                <a:gridCol w="2404872"/>
                <a:gridCol w="2880360"/>
                <a:gridCol w="2761488"/>
                <a:gridCol w="2773375"/>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Özellik</a:t>
                      </a:r>
                      <a:endParaRPr lang="en-US" sz="1200" dirty="0">
                        <a:latin typeface="Calibri" charset="0"/>
                        <a:ea typeface="Calibri" charset="0"/>
                        <a:cs typeface="Calibri" charset="0"/>
                      </a:endParaRPr>
                    </a:p>
                  </a:txBody>
                  <a:tcPr marL="128016" marR="128016" marT="54864" marB="54864"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2C3A33"/>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ExtinGard</a:t>
                      </a:r>
                      <a:endParaRPr lang="en-US" sz="1400" dirty="0">
                        <a:latin typeface="Cambria" charset="0"/>
                        <a:ea typeface="Cambria" charset="0"/>
                        <a:cs typeface="Cambria" charset="0"/>
                      </a:endParaRPr>
                    </a:p>
                  </a:txBody>
                  <a:tcPr marL="128016" marR="128016" marT="54864" marB="54864"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1B6B3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BC Tozu (NaHCO₃)</a:t>
                      </a:r>
                      <a:endParaRPr lang="en-US" sz="1200" dirty="0">
                        <a:latin typeface="Calibri" charset="0"/>
                        <a:ea typeface="Calibri" charset="0"/>
                        <a:cs typeface="Calibri" charset="0"/>
                      </a:endParaRPr>
                    </a:p>
                  </a:txBody>
                  <a:tcPr marL="128016" marR="128016" marT="54864" marB="54864"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2C3A33"/>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ABC Tozu (MAP)</a:t>
                      </a:r>
                      <a:endParaRPr lang="en-US" sz="1200" dirty="0">
                        <a:latin typeface="Calibri" charset="0"/>
                        <a:ea typeface="Calibri" charset="0"/>
                        <a:cs typeface="Calibri" charset="0"/>
                      </a:endParaRPr>
                    </a:p>
                  </a:txBody>
                  <a:tcPr marL="128016" marR="128016" marT="54864" marB="54864"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2C3A33"/>
                    </a:solidFill>
                  </a:tcPr>
                </a:tc>
              </a:tr>
              <a:tr h="566928">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Yangın sınıfı etkisi</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A, B, C ve F — en geniş kapsam</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E8F2EA"/>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Yalnızca B, C</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A, B, C — F sınıfında etkisiz</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Birim maliyet</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0,0497 TL/g</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E8F2EA"/>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0,12 – 0,15 TL/g (≈3× pahalı)</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0,25 – 0,30 TL/g (≈5–6× pahalı)</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r>
              <a:tr h="566928">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Çevresel etki</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Biyobozunur, kalıntı bırakmaz</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E8F2EA"/>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Zararlı kalıntı bırakır</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Toprak ve suya zararlı kalıntı</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İnsan sağlığı</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Toksik gaz salmaz</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E8F2EA"/>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Solunum ve cilt için tahriş edici</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Solunum ve cilt için tahriş edici</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r>
              <a:tr h="566928">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Kapsama alanı</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Evsel + endüstriyel</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E8F2EA"/>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Sınırlı kullanım</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Geniş, ancak F sınıfında etkisiz</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7281D"/>
                          </a:solidFill>
                          <a:latin typeface="Calibri" pitchFamily="34" charset="0"/>
                          <a:ea typeface="Calibri" pitchFamily="34" charset="-122"/>
                          <a:cs typeface="Calibri" pitchFamily="34" charset="-120"/>
                        </a:rPr>
                        <a:t>Yerlilik</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200" b="1" dirty="0">
                          <a:solidFill>
                            <a:srgbClr val="1B6B3A"/>
                          </a:solidFill>
                          <a:latin typeface="Calibri" pitchFamily="34" charset="0"/>
                          <a:ea typeface="Calibri" pitchFamily="34" charset="-122"/>
                          <a:cs typeface="Calibri" pitchFamily="34" charset="-120"/>
                        </a:rPr>
                        <a:t>%100 yerli hammadde</a:t>
                      </a:r>
                      <a:endParaRPr lang="en-US" sz="120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E8F2EA"/>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Dışa bağımlı</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c>
                  <a:txBody>
                    <a:bodyPr/>
                    <a:lstStyle/>
                    <a:p>
                      <a:pPr indent="0" marL="0">
                        <a:buNone/>
                      </a:pPr>
                      <a:r>
                        <a:rPr lang="en-US" sz="1150" dirty="0">
                          <a:solidFill>
                            <a:srgbClr val="6F7F76"/>
                          </a:solidFill>
                          <a:latin typeface="Calibri" pitchFamily="34" charset="0"/>
                          <a:ea typeface="Calibri" pitchFamily="34" charset="-122"/>
                          <a:cs typeface="Calibri" pitchFamily="34" charset="-120"/>
                        </a:rPr>
                        <a:t>Dışa bağımlı</a:t>
                      </a:r>
                      <a:endParaRPr lang="en-US" sz="1150" dirty="0">
                        <a:latin typeface="Calibri" charset="0"/>
                        <a:ea typeface="Calibri" charset="0"/>
                        <a:cs typeface="Calibri" charset="0"/>
                      </a:endParaRPr>
                    </a:p>
                  </a:txBody>
                  <a:tcPr marL="128016" marR="128016" marT="45720" marB="45720" anchor="ctr">
                    <a:lnL w="12700" cap="flat" cmpd="sng" algn="ctr">
                      <a:solidFill>
                        <a:srgbClr val="DCE6DE"/>
                      </a:solidFill>
                      <a:prstDash val="solid"/>
                      <a:round/>
                      <a:headEnd type="none" w="med" len="med"/>
                      <a:tailEnd type="none" w="med" len="med"/>
                    </a:lnL>
                    <a:lnR w="12700" cap="flat" cmpd="sng" algn="ctr">
                      <a:solidFill>
                        <a:srgbClr val="DCE6DE"/>
                      </a:solidFill>
                      <a:prstDash val="solid"/>
                      <a:round/>
                      <a:headEnd type="none" w="med" len="med"/>
                      <a:tailEnd type="none" w="med" len="med"/>
                    </a:lnR>
                    <a:lnT w="12700" cap="flat" cmpd="sng" algn="ctr">
                      <a:solidFill>
                        <a:srgbClr val="DCE6DE"/>
                      </a:solidFill>
                      <a:prstDash val="solid"/>
                      <a:round/>
                      <a:headEnd type="none" w="med" len="med"/>
                      <a:tailEnd type="none" w="med" len="med"/>
                    </a:lnT>
                    <a:lnB w="12700" cap="flat" cmpd="sng" algn="ctr">
                      <a:solidFill>
                        <a:srgbClr val="DCE6DE"/>
                      </a:solidFill>
                      <a:prstDash val="solid"/>
                      <a:round/>
                      <a:headEnd type="none" w="med" len="med"/>
                      <a:tailEnd type="none" w="med" len="med"/>
                    </a:lnB>
                    <a:solidFill>
                      <a:srgbClr val="F2F6F3"/>
                    </a:solidFill>
                  </a:tcPr>
                </a:tc>
              </a:tr>
            </a:tbl>
          </a:graphicData>
        </a:graphic>
      </p:graphicFrame>
      <p:sp>
        <p:nvSpPr>
          <p:cNvPr id="6" name="Text 2"/>
          <p:cNvSpPr txBox="1"/>
          <p:nvPr/>
        </p:nvSpPr>
        <p:spPr>
          <a:xfrm>
            <a:off x="685800" y="5724144"/>
            <a:ext cx="10820095" cy="310896"/>
          </a:xfrm>
          <a:prstGeom prst="rect">
            <a:avLst/>
          </a:prstGeom>
          <a:noFill/>
          <a:ln/>
        </p:spPr>
        <p:txBody>
          <a:bodyPr wrap="square" lIns="0" tIns="0" rIns="0" bIns="0" rtlCol="0" anchor="ctr"/>
          <a:lstStyle/>
          <a:p>
            <a:pPr indent="0" marL="0">
              <a:buNone/>
            </a:pPr>
            <a:r>
              <a:rPr lang="en-US" sz="1250" b="1" i="1" dirty="0">
                <a:solidFill>
                  <a:srgbClr val="1B6B3A"/>
                </a:solidFill>
                <a:latin typeface="Calibri" pitchFamily="34" charset="0"/>
                <a:ea typeface="Calibri" pitchFamily="34" charset="-122"/>
                <a:cs typeface="Calibri" pitchFamily="34" charset="-120"/>
              </a:rPr>
              <a:t>ExtinGard, üç eksende aynı anda üstün olan tek seçenek: kapsam, maliyet ve çevresel etki.</a:t>
            </a:r>
            <a:endParaRPr lang="en-US" sz="1250" dirty="0"/>
          </a:p>
        </p:txBody>
      </p:sp>
      <p:sp>
        <p:nvSpPr>
          <p:cNvPr id="7" name="Text 3"/>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10</a:t>
            </a:r>
            <a:endParaRPr lang="en-US" sz="1000" dirty="0"/>
          </a:p>
        </p:txBody>
      </p:sp>
      <p:sp>
        <p:nvSpPr>
          <p:cNvPr id="8" name="Text 4"/>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EKONOMİ</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Birim Maliyette Açık Farkla Lider</a:t>
            </a:r>
            <a:endParaRPr lang="en-US" sz="3300" dirty="0"/>
          </a:p>
        </p:txBody>
      </p:sp>
      <p:graphicFrame>
        <p:nvGraphicFramePr>
          <p:cNvPr id="5" name="Chart 0" descr=""/>
          <p:cNvGraphicFramePr/>
          <p:nvPr/>
        </p:nvGraphicFramePr>
        <p:xfrm>
          <a:off x="685800" y="1609344"/>
          <a:ext cx="6903720" cy="3931920"/>
        </p:xfrm>
        <a:graphic xmlns:a="http://schemas.openxmlformats.org/drawingml/2006/main">
          <a:graphicData uri="http://schemas.openxmlformats.org/drawingml/2006/chart">
            <c:chart xmlns:c="http://schemas.openxmlformats.org/drawingml/2006/chart" r:id="rId2"/>
          </a:graphicData>
        </a:graphic>
      </p:graphicFrame>
      <p:sp>
        <p:nvSpPr>
          <p:cNvPr id="6" name="Shape 2"/>
          <p:cNvSpPr/>
          <p:nvPr/>
        </p:nvSpPr>
        <p:spPr>
          <a:xfrm>
            <a:off x="7882128" y="1609344"/>
            <a:ext cx="3623767" cy="1225296"/>
          </a:xfrm>
          <a:prstGeom prst="roundRect">
            <a:avLst>
              <a:gd name="adj" fmla="val 8209"/>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txBody>
          <a:bodyPr/>
          <a:p/>
        </p:txBody>
      </p:sp>
      <p:sp>
        <p:nvSpPr>
          <p:cNvPr id="7" name="Shape 3"/>
          <p:cNvSpPr/>
          <p:nvPr/>
        </p:nvSpPr>
        <p:spPr>
          <a:xfrm>
            <a:off x="8119872" y="1828800"/>
            <a:ext cx="402336" cy="402336"/>
          </a:xfrm>
          <a:prstGeom prst="ellipse">
            <a:avLst/>
          </a:prstGeom>
          <a:solidFill>
            <a:srgbClr val="1B6B3A"/>
          </a:solidFill>
          <a:ln w="12700">
            <a:solidFill>
              <a:srgbClr val="1B6B3A"/>
            </a:solidFill>
            <a:prstDash val="solid"/>
          </a:ln>
        </p:spPr>
        <p:txBody>
          <a:bodyPr/>
          <a:p/>
        </p:txBody>
      </p:sp>
      <p:pic>
        <p:nvPicPr>
          <p:cNvPr id="8" name="Image 1" descr="img/icons/money_w.png">    </p:cNvPr>
          <p:cNvPicPr>
            <a:picLocks noChangeAspect="1"/>
          </p:cNvPicPr>
          <p:nvPr/>
        </p:nvPicPr>
        <p:blipFill>
          <a:blip r:embed="rId3"/>
          <a:stretch>
            <a:fillRect/>
          </a:stretch>
        </p:blipFill>
        <p:spPr>
          <a:xfrm>
            <a:off x="8224479" y="1933407"/>
            <a:ext cx="193121" cy="193121"/>
          </a:xfrm>
          <a:prstGeom prst="rect">
            <a:avLst/>
          </a:prstGeom>
        </p:spPr>
      </p:pic>
      <p:sp>
        <p:nvSpPr>
          <p:cNvPr id="9" name="Text 4"/>
          <p:cNvSpPr txBox="1"/>
          <p:nvPr/>
        </p:nvSpPr>
        <p:spPr>
          <a:xfrm>
            <a:off x="8631936" y="1792224"/>
            <a:ext cx="2663647" cy="420624"/>
          </a:xfrm>
          <a:prstGeom prst="rect">
            <a:avLst/>
          </a:prstGeom>
          <a:noFill/>
          <a:ln/>
        </p:spPr>
        <p:txBody>
          <a:bodyPr wrap="square" lIns="0" tIns="0" rIns="0" bIns="0" rtlCol="0" anchor="ctr"/>
          <a:lstStyle/>
          <a:p>
            <a:pPr indent="0" marL="0">
              <a:buNone/>
            </a:pPr>
            <a:r>
              <a:rPr lang="en-US" sz="2200" b="1" dirty="0">
                <a:solidFill>
                  <a:srgbClr val="1B6B3A"/>
                </a:solidFill>
                <a:latin typeface="Cambria" pitchFamily="34" charset="0"/>
                <a:ea typeface="Cambria" pitchFamily="34" charset="-122"/>
                <a:cs typeface="Cambria" pitchFamily="34" charset="-120"/>
              </a:rPr>
              <a:t>≈ 225.000 TL</a:t>
            </a:r>
            <a:endParaRPr lang="en-US" sz="2200" dirty="0"/>
          </a:p>
        </p:txBody>
      </p:sp>
      <p:sp>
        <p:nvSpPr>
          <p:cNvPr id="10" name="Text 5"/>
          <p:cNvSpPr txBox="1"/>
          <p:nvPr/>
        </p:nvSpPr>
        <p:spPr>
          <a:xfrm>
            <a:off x="8119872" y="2286000"/>
            <a:ext cx="3166567" cy="457200"/>
          </a:xfrm>
          <a:prstGeom prst="rect">
            <a:avLst/>
          </a:prstGeom>
          <a:noFill/>
          <a:ln/>
        </p:spPr>
        <p:txBody>
          <a:bodyPr wrap="square" lIns="0" tIns="0" rIns="0" bIns="0" rtlCol="0" anchor="ctr"/>
          <a:lstStyle/>
          <a:p>
            <a:pPr indent="0" marL="0">
              <a:lnSpc>
                <a:spcPts val="1500"/>
              </a:lnSpc>
              <a:buNone/>
            </a:pPr>
            <a:r>
              <a:rPr lang="en-US" sz="1100" dirty="0">
                <a:solidFill>
                  <a:srgbClr val="6F7F76"/>
                </a:solidFill>
                <a:latin typeface="Calibri" pitchFamily="34" charset="0"/>
                <a:ea typeface="Calibri" pitchFamily="34" charset="-122"/>
                <a:cs typeface="Calibri" pitchFamily="34" charset="-120"/>
              </a:rPr>
              <a:t>1 ton/yıl kullanımda ABC tozuna kıyasla yıllık tasarruf (%82)</a:t>
            </a:r>
            <a:endParaRPr lang="en-US" sz="1100" dirty="0"/>
          </a:p>
        </p:txBody>
      </p:sp>
      <p:sp>
        <p:nvSpPr>
          <p:cNvPr id="11" name="Shape 6"/>
          <p:cNvSpPr/>
          <p:nvPr/>
        </p:nvSpPr>
        <p:spPr>
          <a:xfrm>
            <a:off x="7882128" y="2999232"/>
            <a:ext cx="3623767" cy="1225296"/>
          </a:xfrm>
          <a:prstGeom prst="roundRect">
            <a:avLst>
              <a:gd name="adj" fmla="val 8209"/>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txBody>
          <a:bodyPr/>
          <a:p/>
        </p:txBody>
      </p:sp>
      <p:sp>
        <p:nvSpPr>
          <p:cNvPr id="12" name="Shape 7"/>
          <p:cNvSpPr/>
          <p:nvPr/>
        </p:nvSpPr>
        <p:spPr>
          <a:xfrm>
            <a:off x="8119872" y="3218688"/>
            <a:ext cx="402336" cy="402336"/>
          </a:xfrm>
          <a:prstGeom prst="ellipse">
            <a:avLst/>
          </a:prstGeom>
          <a:solidFill>
            <a:srgbClr val="F07818"/>
          </a:solidFill>
          <a:ln w="12700">
            <a:solidFill>
              <a:srgbClr val="F07818"/>
            </a:solidFill>
            <a:prstDash val="solid"/>
          </a:ln>
        </p:spPr>
        <p:txBody>
          <a:bodyPr/>
          <a:p/>
        </p:txBody>
      </p:sp>
      <p:pic>
        <p:nvPicPr>
          <p:cNvPr id="13" name="Image 2" descr="img/icons/scale_w.png">    </p:cNvPr>
          <p:cNvPicPr>
            <a:picLocks noChangeAspect="1"/>
          </p:cNvPicPr>
          <p:nvPr/>
        </p:nvPicPr>
        <p:blipFill>
          <a:blip r:embed="rId4"/>
          <a:stretch>
            <a:fillRect/>
          </a:stretch>
        </p:blipFill>
        <p:spPr>
          <a:xfrm>
            <a:off x="8224479" y="3323295"/>
            <a:ext cx="193121" cy="193121"/>
          </a:xfrm>
          <a:prstGeom prst="rect">
            <a:avLst/>
          </a:prstGeom>
        </p:spPr>
      </p:pic>
      <p:sp>
        <p:nvSpPr>
          <p:cNvPr id="14" name="Text 8"/>
          <p:cNvSpPr txBox="1"/>
          <p:nvPr/>
        </p:nvSpPr>
        <p:spPr>
          <a:xfrm>
            <a:off x="8631936" y="3182112"/>
            <a:ext cx="2663647" cy="420624"/>
          </a:xfrm>
          <a:prstGeom prst="rect">
            <a:avLst/>
          </a:prstGeom>
          <a:noFill/>
          <a:ln/>
        </p:spPr>
        <p:txBody>
          <a:bodyPr wrap="square" lIns="0" tIns="0" rIns="0" bIns="0" rtlCol="0" anchor="ctr"/>
          <a:lstStyle/>
          <a:p>
            <a:pPr indent="0" marL="0">
              <a:buNone/>
            </a:pPr>
            <a:r>
              <a:rPr lang="en-US" sz="2200" b="1" dirty="0">
                <a:solidFill>
                  <a:srgbClr val="F07818"/>
                </a:solidFill>
                <a:latin typeface="Cambria" pitchFamily="34" charset="0"/>
                <a:ea typeface="Cambria" pitchFamily="34" charset="-122"/>
                <a:cs typeface="Cambria" pitchFamily="34" charset="-120"/>
              </a:rPr>
              <a:t>5 – 6×</a:t>
            </a:r>
            <a:endParaRPr lang="en-US" sz="2200" dirty="0"/>
          </a:p>
        </p:txBody>
      </p:sp>
      <p:sp>
        <p:nvSpPr>
          <p:cNvPr id="15" name="Text 9"/>
          <p:cNvSpPr txBox="1"/>
          <p:nvPr/>
        </p:nvSpPr>
        <p:spPr>
          <a:xfrm>
            <a:off x="8119872" y="3675888"/>
            <a:ext cx="3166567" cy="457200"/>
          </a:xfrm>
          <a:prstGeom prst="rect">
            <a:avLst/>
          </a:prstGeom>
          <a:noFill/>
          <a:ln/>
        </p:spPr>
        <p:txBody>
          <a:bodyPr wrap="square" lIns="0" tIns="0" rIns="0" bIns="0" rtlCol="0" anchor="ctr"/>
          <a:lstStyle/>
          <a:p>
            <a:pPr indent="0" marL="0">
              <a:lnSpc>
                <a:spcPts val="1500"/>
              </a:lnSpc>
              <a:buNone/>
            </a:pPr>
            <a:r>
              <a:rPr lang="en-US" sz="1100" dirty="0">
                <a:solidFill>
                  <a:srgbClr val="6F7F76"/>
                </a:solidFill>
                <a:latin typeface="Calibri" pitchFamily="34" charset="0"/>
                <a:ea typeface="Calibri" pitchFamily="34" charset="-122"/>
                <a:cs typeface="Calibri" pitchFamily="34" charset="-120"/>
              </a:rPr>
              <a:t>ABC tozuna göre birim maliyet avantajı; BC tozuna göre 3×</a:t>
            </a:r>
            <a:endParaRPr lang="en-US" sz="1100" dirty="0"/>
          </a:p>
        </p:txBody>
      </p:sp>
      <p:sp>
        <p:nvSpPr>
          <p:cNvPr id="16" name="Shape 10"/>
          <p:cNvSpPr/>
          <p:nvPr/>
        </p:nvSpPr>
        <p:spPr>
          <a:xfrm>
            <a:off x="7882128" y="4389120"/>
            <a:ext cx="3623767" cy="1225296"/>
          </a:xfrm>
          <a:prstGeom prst="roundRect">
            <a:avLst>
              <a:gd name="adj" fmla="val 8209"/>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txBody>
          <a:bodyPr/>
          <a:p/>
        </p:txBody>
      </p:sp>
      <p:sp>
        <p:nvSpPr>
          <p:cNvPr id="17" name="Shape 11"/>
          <p:cNvSpPr/>
          <p:nvPr/>
        </p:nvSpPr>
        <p:spPr>
          <a:xfrm>
            <a:off x="8119872" y="4608576"/>
            <a:ext cx="402336" cy="402336"/>
          </a:xfrm>
          <a:prstGeom prst="ellipse">
            <a:avLst/>
          </a:prstGeom>
          <a:solidFill>
            <a:srgbClr val="1B6B3A"/>
          </a:solidFill>
          <a:ln w="12700">
            <a:solidFill>
              <a:srgbClr val="1B6B3A"/>
            </a:solidFill>
            <a:prstDash val="solid"/>
          </a:ln>
        </p:spPr>
        <p:txBody>
          <a:bodyPr/>
          <a:p/>
        </p:txBody>
      </p:sp>
      <p:pic>
        <p:nvPicPr>
          <p:cNvPr id="18" name="Image 3" descr="img/icons/recycle_w.png">    </p:cNvPr>
          <p:cNvPicPr>
            <a:picLocks noChangeAspect="1"/>
          </p:cNvPicPr>
          <p:nvPr/>
        </p:nvPicPr>
        <p:blipFill>
          <a:blip r:embed="rId5"/>
          <a:stretch>
            <a:fillRect/>
          </a:stretch>
        </p:blipFill>
        <p:spPr>
          <a:xfrm>
            <a:off x="8224479" y="4713183"/>
            <a:ext cx="193121" cy="193121"/>
          </a:xfrm>
          <a:prstGeom prst="rect">
            <a:avLst/>
          </a:prstGeom>
        </p:spPr>
      </p:pic>
      <p:sp>
        <p:nvSpPr>
          <p:cNvPr id="19" name="Text 12"/>
          <p:cNvSpPr txBox="1"/>
          <p:nvPr/>
        </p:nvSpPr>
        <p:spPr>
          <a:xfrm>
            <a:off x="8631936" y="4572000"/>
            <a:ext cx="2663647" cy="420624"/>
          </a:xfrm>
          <a:prstGeom prst="rect">
            <a:avLst/>
          </a:prstGeom>
          <a:noFill/>
          <a:ln/>
        </p:spPr>
        <p:txBody>
          <a:bodyPr wrap="square" lIns="0" tIns="0" rIns="0" bIns="0" rtlCol="0" anchor="ctr"/>
          <a:lstStyle/>
          <a:p>
            <a:pPr indent="0" marL="0">
              <a:buNone/>
            </a:pPr>
            <a:r>
              <a:rPr lang="en-US" sz="2200" b="1" dirty="0">
                <a:solidFill>
                  <a:srgbClr val="1B6B3A"/>
                </a:solidFill>
                <a:latin typeface="Cambria" pitchFamily="34" charset="0"/>
                <a:ea typeface="Cambria" pitchFamily="34" charset="-122"/>
                <a:cs typeface="Cambria" pitchFamily="34" charset="-120"/>
              </a:rPr>
              <a:t>%100</a:t>
            </a:r>
            <a:endParaRPr lang="en-US" sz="2200" dirty="0"/>
          </a:p>
        </p:txBody>
      </p:sp>
      <p:sp>
        <p:nvSpPr>
          <p:cNvPr id="20" name="Text 13"/>
          <p:cNvSpPr txBox="1"/>
          <p:nvPr/>
        </p:nvSpPr>
        <p:spPr>
          <a:xfrm>
            <a:off x="8119872" y="5065776"/>
            <a:ext cx="3166567" cy="457200"/>
          </a:xfrm>
          <a:prstGeom prst="rect">
            <a:avLst/>
          </a:prstGeom>
          <a:noFill/>
          <a:ln/>
        </p:spPr>
        <p:txBody>
          <a:bodyPr wrap="square" lIns="0" tIns="0" rIns="0" bIns="0" rtlCol="0" anchor="ctr"/>
          <a:lstStyle/>
          <a:p>
            <a:pPr indent="0" marL="0">
              <a:lnSpc>
                <a:spcPts val="1500"/>
              </a:lnSpc>
              <a:buNone/>
            </a:pPr>
            <a:r>
              <a:rPr lang="en-US" sz="1100" dirty="0">
                <a:solidFill>
                  <a:srgbClr val="6F7F76"/>
                </a:solidFill>
                <a:latin typeface="Calibri" pitchFamily="34" charset="0"/>
                <a:ea typeface="Calibri" pitchFamily="34" charset="-122"/>
                <a:cs typeface="Calibri" pitchFamily="34" charset="-120"/>
              </a:rPr>
              <a:t>Yerli ve biyo-atık kaynaklı hammadde — kur riski yok</a:t>
            </a:r>
            <a:endParaRPr lang="en-US" sz="1100" dirty="0"/>
          </a:p>
        </p:txBody>
      </p:sp>
      <p:sp>
        <p:nvSpPr>
          <p:cNvPr id="21" name="Text 14"/>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11</a:t>
            </a:r>
            <a:endParaRPr lang="en-US" sz="1000" dirty="0"/>
          </a:p>
        </p:txBody>
      </p:sp>
      <p:sp>
        <p:nvSpPr>
          <p:cNvPr id="22" name="Text 15"/>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8CC084"/>
                </a:solidFill>
                <a:latin typeface="Calibri" pitchFamily="34" charset="0"/>
                <a:ea typeface="Calibri" pitchFamily="34" charset="-122"/>
                <a:cs typeface="Calibri" pitchFamily="34" charset="-120"/>
              </a:rPr>
              <a:t>PAZAR</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Doğru Zamanda, Büyüyen Bir Pazar</a:t>
            </a:r>
            <a:endParaRPr lang="en-US" sz="3300" dirty="0"/>
          </a:p>
        </p:txBody>
      </p:sp>
      <p:sp>
        <p:nvSpPr>
          <p:cNvPr id="5" name="Text 2"/>
          <p:cNvSpPr txBox="1"/>
          <p:nvPr/>
        </p:nvSpPr>
        <p:spPr>
          <a:xfrm>
            <a:off x="685800" y="1316736"/>
            <a:ext cx="10058400" cy="310896"/>
          </a:xfrm>
          <a:prstGeom prst="rect">
            <a:avLst/>
          </a:prstGeom>
          <a:noFill/>
          <a:ln/>
        </p:spPr>
        <p:txBody>
          <a:bodyPr wrap="square" lIns="0" tIns="0" rIns="0" bIns="0" rtlCol="0" anchor="ctr"/>
          <a:lstStyle/>
          <a:p>
            <a:pPr indent="0" marL="0">
              <a:buNone/>
            </a:pPr>
            <a:r>
              <a:rPr lang="en-US" sz="1450" dirty="0">
                <a:solidFill>
                  <a:srgbClr val="CFE3D6"/>
                </a:solidFill>
                <a:latin typeface="Calibri" pitchFamily="34" charset="0"/>
                <a:ea typeface="Calibri" pitchFamily="34" charset="-122"/>
                <a:cs typeface="Calibri" pitchFamily="34" charset="-120"/>
              </a:rPr>
              <a:t>PFAS kısıtlamaları ve iklim kaynaklı yangın artışı, çevre dostu söndürücüler için bir “mavi okyanus” yaratıyor.</a:t>
            </a:r>
            <a:endParaRPr lang="en-US" sz="1450" dirty="0"/>
          </a:p>
        </p:txBody>
      </p:sp>
      <p:sp>
        <p:nvSpPr>
          <p:cNvPr id="6" name="Shape 3"/>
          <p:cNvSpPr/>
          <p:nvPr/>
        </p:nvSpPr>
        <p:spPr>
          <a:xfrm>
            <a:off x="685800" y="1883664"/>
            <a:ext cx="3456432" cy="2011680"/>
          </a:xfrm>
          <a:prstGeom prst="roundRect">
            <a:avLst>
              <a:gd name="adj" fmla="val 5000"/>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7" name="Text 4"/>
          <p:cNvSpPr txBox="1"/>
          <p:nvPr/>
        </p:nvSpPr>
        <p:spPr>
          <a:xfrm>
            <a:off x="996696" y="2157984"/>
            <a:ext cx="2834640" cy="256032"/>
          </a:xfrm>
          <a:prstGeom prst="rect">
            <a:avLst/>
          </a:prstGeom>
          <a:noFill/>
          <a:ln/>
        </p:spPr>
        <p:txBody>
          <a:bodyPr wrap="square" lIns="0" tIns="0" rIns="0" bIns="0" rtlCol="0" anchor="ctr"/>
          <a:lstStyle/>
          <a:p>
            <a:pPr indent="0" marL="0">
              <a:buNone/>
            </a:pPr>
            <a:r>
              <a:rPr lang="en-US" sz="1100" b="1" spc="260" kern="0" dirty="0">
                <a:solidFill>
                  <a:srgbClr val="7FA88F"/>
                </a:solidFill>
                <a:latin typeface="Calibri" pitchFamily="34" charset="0"/>
                <a:ea typeface="Calibri" pitchFamily="34" charset="-122"/>
                <a:cs typeface="Calibri" pitchFamily="34" charset="-120"/>
              </a:rPr>
              <a:t>TAM</a:t>
            </a:r>
            <a:endParaRPr lang="en-US" sz="1100" dirty="0"/>
          </a:p>
        </p:txBody>
      </p:sp>
      <p:sp>
        <p:nvSpPr>
          <p:cNvPr id="8" name="Text 5"/>
          <p:cNvSpPr txBox="1"/>
          <p:nvPr/>
        </p:nvSpPr>
        <p:spPr>
          <a:xfrm>
            <a:off x="996696" y="2450592"/>
            <a:ext cx="2834640" cy="658368"/>
          </a:xfrm>
          <a:prstGeom prst="rect">
            <a:avLst/>
          </a:prstGeom>
          <a:noFill/>
          <a:ln/>
        </p:spPr>
        <p:txBody>
          <a:bodyPr wrap="square" lIns="0" tIns="0" rIns="0" bIns="0" rtlCol="0" anchor="ctr"/>
          <a:lstStyle/>
          <a:p>
            <a:pPr indent="0" marL="0">
              <a:buNone/>
            </a:pPr>
            <a:r>
              <a:rPr lang="en-US" sz="3800" b="1" dirty="0">
                <a:solidFill>
                  <a:srgbClr val="F07818"/>
                </a:solidFill>
                <a:latin typeface="Cambria" pitchFamily="34" charset="0"/>
                <a:ea typeface="Cambria" pitchFamily="34" charset="-122"/>
                <a:cs typeface="Cambria" pitchFamily="34" charset="-120"/>
              </a:rPr>
              <a:t>5,02 Mr $</a:t>
            </a:r>
            <a:endParaRPr lang="en-US" sz="3800" dirty="0"/>
          </a:p>
        </p:txBody>
      </p:sp>
      <p:sp>
        <p:nvSpPr>
          <p:cNvPr id="9" name="Text 6"/>
          <p:cNvSpPr txBox="1"/>
          <p:nvPr/>
        </p:nvSpPr>
        <p:spPr>
          <a:xfrm>
            <a:off x="996696" y="3182112"/>
            <a:ext cx="2834640" cy="548640"/>
          </a:xfrm>
          <a:prstGeom prst="rect">
            <a:avLst/>
          </a:prstGeom>
          <a:noFill/>
          <a:ln/>
        </p:spPr>
        <p:txBody>
          <a:bodyPr wrap="square" lIns="0" tIns="0" rIns="0" bIns="0" rtlCol="0" anchor="ctr"/>
          <a:lstStyle/>
          <a:p>
            <a:pPr indent="0" marL="0">
              <a:lnSpc>
                <a:spcPts val="1600"/>
              </a:lnSpc>
              <a:buNone/>
            </a:pPr>
            <a:r>
              <a:rPr lang="en-US" sz="1200" dirty="0">
                <a:solidFill>
                  <a:srgbClr val="CFE3D6"/>
                </a:solidFill>
                <a:latin typeface="Calibri" pitchFamily="34" charset="0"/>
                <a:ea typeface="Calibri" pitchFamily="34" charset="-122"/>
                <a:cs typeface="Calibri" pitchFamily="34" charset="-120"/>
              </a:rPr>
              <a:t>Küresel PFAS'sız yangın söndürücü segmenti</a:t>
            </a:r>
            <a:endParaRPr lang="en-US" sz="1200" dirty="0"/>
          </a:p>
        </p:txBody>
      </p:sp>
      <p:sp>
        <p:nvSpPr>
          <p:cNvPr id="10" name="Shape 7"/>
          <p:cNvSpPr/>
          <p:nvPr/>
        </p:nvSpPr>
        <p:spPr>
          <a:xfrm>
            <a:off x="4370832" y="1883664"/>
            <a:ext cx="3456432" cy="2011680"/>
          </a:xfrm>
          <a:prstGeom prst="roundRect">
            <a:avLst>
              <a:gd name="adj" fmla="val 5000"/>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11" name="Text 8"/>
          <p:cNvSpPr txBox="1"/>
          <p:nvPr/>
        </p:nvSpPr>
        <p:spPr>
          <a:xfrm>
            <a:off x="4681728" y="2157984"/>
            <a:ext cx="2834640" cy="256032"/>
          </a:xfrm>
          <a:prstGeom prst="rect">
            <a:avLst/>
          </a:prstGeom>
          <a:noFill/>
          <a:ln/>
        </p:spPr>
        <p:txBody>
          <a:bodyPr wrap="square" lIns="0" tIns="0" rIns="0" bIns="0" rtlCol="0" anchor="ctr"/>
          <a:lstStyle/>
          <a:p>
            <a:pPr indent="0" marL="0">
              <a:buNone/>
            </a:pPr>
            <a:r>
              <a:rPr lang="en-US" sz="1100" b="1" spc="260" kern="0" dirty="0">
                <a:solidFill>
                  <a:srgbClr val="7FA88F"/>
                </a:solidFill>
                <a:latin typeface="Calibri" pitchFamily="34" charset="0"/>
                <a:ea typeface="Calibri" pitchFamily="34" charset="-122"/>
                <a:cs typeface="Calibri" pitchFamily="34" charset="-120"/>
              </a:rPr>
              <a:t>SAM</a:t>
            </a:r>
            <a:endParaRPr lang="en-US" sz="1100" dirty="0"/>
          </a:p>
        </p:txBody>
      </p:sp>
      <p:sp>
        <p:nvSpPr>
          <p:cNvPr id="12" name="Text 9"/>
          <p:cNvSpPr txBox="1"/>
          <p:nvPr/>
        </p:nvSpPr>
        <p:spPr>
          <a:xfrm>
            <a:off x="4681728" y="2450592"/>
            <a:ext cx="2834640" cy="658368"/>
          </a:xfrm>
          <a:prstGeom prst="rect">
            <a:avLst/>
          </a:prstGeom>
          <a:noFill/>
          <a:ln/>
        </p:spPr>
        <p:txBody>
          <a:bodyPr wrap="square" lIns="0" tIns="0" rIns="0" bIns="0" rtlCol="0" anchor="ctr"/>
          <a:lstStyle/>
          <a:p>
            <a:pPr indent="0" marL="0">
              <a:buNone/>
            </a:pPr>
            <a:r>
              <a:rPr lang="en-US" sz="3800" b="1" dirty="0">
                <a:solidFill>
                  <a:srgbClr val="8CC084"/>
                </a:solidFill>
                <a:latin typeface="Cambria" pitchFamily="34" charset="0"/>
                <a:ea typeface="Cambria" pitchFamily="34" charset="-122"/>
                <a:cs typeface="Cambria" pitchFamily="34" charset="-120"/>
              </a:rPr>
              <a:t>60,3 M $</a:t>
            </a:r>
            <a:endParaRPr lang="en-US" sz="3800" dirty="0"/>
          </a:p>
        </p:txBody>
      </p:sp>
      <p:sp>
        <p:nvSpPr>
          <p:cNvPr id="13" name="Text 10"/>
          <p:cNvSpPr txBox="1"/>
          <p:nvPr/>
        </p:nvSpPr>
        <p:spPr>
          <a:xfrm>
            <a:off x="4681728" y="3182112"/>
            <a:ext cx="2834640" cy="548640"/>
          </a:xfrm>
          <a:prstGeom prst="rect">
            <a:avLst/>
          </a:prstGeom>
          <a:noFill/>
          <a:ln/>
        </p:spPr>
        <p:txBody>
          <a:bodyPr wrap="square" lIns="0" tIns="0" rIns="0" bIns="0" rtlCol="0" anchor="ctr"/>
          <a:lstStyle/>
          <a:p>
            <a:pPr indent="0" marL="0">
              <a:lnSpc>
                <a:spcPts val="1600"/>
              </a:lnSpc>
              <a:buNone/>
            </a:pPr>
            <a:r>
              <a:rPr lang="en-US" sz="1200" dirty="0">
                <a:solidFill>
                  <a:srgbClr val="CFE3D6"/>
                </a:solidFill>
                <a:latin typeface="Calibri" pitchFamily="34" charset="0"/>
                <a:ea typeface="Calibri" pitchFamily="34" charset="-122"/>
                <a:cs typeface="Calibri" pitchFamily="34" charset="-120"/>
              </a:rPr>
              <a:t>Türkiye'de adreslenebilir pazar</a:t>
            </a:r>
            <a:endParaRPr lang="en-US" sz="1200" dirty="0"/>
          </a:p>
        </p:txBody>
      </p:sp>
      <p:sp>
        <p:nvSpPr>
          <p:cNvPr id="14" name="Shape 11"/>
          <p:cNvSpPr/>
          <p:nvPr/>
        </p:nvSpPr>
        <p:spPr>
          <a:xfrm>
            <a:off x="8055864" y="1883664"/>
            <a:ext cx="3456432" cy="2011680"/>
          </a:xfrm>
          <a:prstGeom prst="roundRect">
            <a:avLst>
              <a:gd name="adj" fmla="val 5000"/>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15" name="Text 12"/>
          <p:cNvSpPr txBox="1"/>
          <p:nvPr/>
        </p:nvSpPr>
        <p:spPr>
          <a:xfrm>
            <a:off x="8366760" y="2157984"/>
            <a:ext cx="2834640" cy="256032"/>
          </a:xfrm>
          <a:prstGeom prst="rect">
            <a:avLst/>
          </a:prstGeom>
          <a:noFill/>
          <a:ln/>
        </p:spPr>
        <p:txBody>
          <a:bodyPr wrap="square" lIns="0" tIns="0" rIns="0" bIns="0" rtlCol="0" anchor="ctr"/>
          <a:lstStyle/>
          <a:p>
            <a:pPr indent="0" marL="0">
              <a:buNone/>
            </a:pPr>
            <a:r>
              <a:rPr lang="en-US" sz="1100" b="1" spc="260" kern="0" dirty="0">
                <a:solidFill>
                  <a:srgbClr val="7FA88F"/>
                </a:solidFill>
                <a:latin typeface="Calibri" pitchFamily="34" charset="0"/>
                <a:ea typeface="Calibri" pitchFamily="34" charset="-122"/>
                <a:cs typeface="Calibri" pitchFamily="34" charset="-120"/>
              </a:rPr>
              <a:t>SOM</a:t>
            </a:r>
            <a:endParaRPr lang="en-US" sz="1100" dirty="0"/>
          </a:p>
        </p:txBody>
      </p:sp>
      <p:sp>
        <p:nvSpPr>
          <p:cNvPr id="16" name="Text 13"/>
          <p:cNvSpPr txBox="1"/>
          <p:nvPr/>
        </p:nvSpPr>
        <p:spPr>
          <a:xfrm>
            <a:off x="8366760" y="2450592"/>
            <a:ext cx="2834640" cy="658368"/>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0,30 M $</a:t>
            </a:r>
            <a:endParaRPr lang="en-US" sz="3800" dirty="0"/>
          </a:p>
        </p:txBody>
      </p:sp>
      <p:sp>
        <p:nvSpPr>
          <p:cNvPr id="17" name="Text 14"/>
          <p:cNvSpPr txBox="1"/>
          <p:nvPr/>
        </p:nvSpPr>
        <p:spPr>
          <a:xfrm>
            <a:off x="8366760" y="3182112"/>
            <a:ext cx="2834640" cy="548640"/>
          </a:xfrm>
          <a:prstGeom prst="rect">
            <a:avLst/>
          </a:prstGeom>
          <a:noFill/>
          <a:ln/>
        </p:spPr>
        <p:txBody>
          <a:bodyPr wrap="square" lIns="0" tIns="0" rIns="0" bIns="0" rtlCol="0" anchor="ctr"/>
          <a:lstStyle/>
          <a:p>
            <a:pPr indent="0" marL="0">
              <a:lnSpc>
                <a:spcPts val="1600"/>
              </a:lnSpc>
              <a:buNone/>
            </a:pPr>
            <a:r>
              <a:rPr lang="en-US" sz="1200" dirty="0">
                <a:solidFill>
                  <a:srgbClr val="CFE3D6"/>
                </a:solidFill>
                <a:latin typeface="Calibri" pitchFamily="34" charset="0"/>
                <a:ea typeface="Calibri" pitchFamily="34" charset="-122"/>
                <a:cs typeface="Calibri" pitchFamily="34" charset="-120"/>
              </a:rPr>
              <a:t>1. yıl hedef pazar payı</a:t>
            </a:r>
            <a:endParaRPr lang="en-US" sz="1200" dirty="0"/>
          </a:p>
        </p:txBody>
      </p:sp>
      <p:sp>
        <p:nvSpPr>
          <p:cNvPr id="18" name="Shape 15"/>
          <p:cNvSpPr/>
          <p:nvPr/>
        </p:nvSpPr>
        <p:spPr>
          <a:xfrm>
            <a:off x="685800" y="4261104"/>
            <a:ext cx="2512771" cy="1499616"/>
          </a:xfrm>
          <a:prstGeom prst="roundRect">
            <a:avLst>
              <a:gd name="adj" fmla="val 6707"/>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19" name="Shape 16"/>
          <p:cNvSpPr/>
          <p:nvPr/>
        </p:nvSpPr>
        <p:spPr>
          <a:xfrm>
            <a:off x="941832" y="4498848"/>
            <a:ext cx="384048" cy="384048"/>
          </a:xfrm>
          <a:prstGeom prst="ellipse">
            <a:avLst/>
          </a:prstGeom>
          <a:solidFill>
            <a:srgbClr val="17452F"/>
          </a:solidFill>
          <a:ln w="12700">
            <a:solidFill>
              <a:srgbClr val="17452F"/>
            </a:solidFill>
            <a:prstDash val="solid"/>
          </a:ln>
        </p:spPr>
      </p:sp>
      <p:pic>
        <p:nvPicPr>
          <p:cNvPr id="20" name="Image 1" descr="img/icons/globe_m.png">    </p:cNvPr>
          <p:cNvPicPr>
            <a:picLocks noChangeAspect="1"/>
          </p:cNvPicPr>
          <p:nvPr/>
        </p:nvPicPr>
        <p:blipFill>
          <a:blip r:embed="rId2"/>
          <a:stretch>
            <a:fillRect/>
          </a:stretch>
        </p:blipFill>
        <p:spPr>
          <a:xfrm>
            <a:off x="1037844" y="4594860"/>
            <a:ext cx="192024" cy="192024"/>
          </a:xfrm>
          <a:prstGeom prst="rect">
            <a:avLst/>
          </a:prstGeom>
        </p:spPr>
      </p:pic>
      <p:sp>
        <p:nvSpPr>
          <p:cNvPr id="21" name="Text 17"/>
          <p:cNvSpPr txBox="1"/>
          <p:nvPr/>
        </p:nvSpPr>
        <p:spPr>
          <a:xfrm>
            <a:off x="1435608" y="4480560"/>
            <a:ext cx="1506931"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33,5 Mr $</a:t>
            </a:r>
            <a:endParaRPr lang="en-US" sz="1900" dirty="0"/>
          </a:p>
        </p:txBody>
      </p:sp>
      <p:sp>
        <p:nvSpPr>
          <p:cNvPr id="22" name="Text 18"/>
          <p:cNvSpPr txBox="1"/>
          <p:nvPr/>
        </p:nvSpPr>
        <p:spPr>
          <a:xfrm>
            <a:off x="941832" y="5010912"/>
            <a:ext cx="2000707" cy="603504"/>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Küresel yangın söndürme pazarı (2024)</a:t>
            </a:r>
            <a:endParaRPr lang="en-US" sz="1100" dirty="0"/>
          </a:p>
        </p:txBody>
      </p:sp>
      <p:sp>
        <p:nvSpPr>
          <p:cNvPr id="23" name="Shape 19"/>
          <p:cNvSpPr/>
          <p:nvPr/>
        </p:nvSpPr>
        <p:spPr>
          <a:xfrm>
            <a:off x="3454603" y="4261104"/>
            <a:ext cx="2512771" cy="1499616"/>
          </a:xfrm>
          <a:prstGeom prst="roundRect">
            <a:avLst>
              <a:gd name="adj" fmla="val 6707"/>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24" name="Shape 20"/>
          <p:cNvSpPr/>
          <p:nvPr/>
        </p:nvSpPr>
        <p:spPr>
          <a:xfrm>
            <a:off x="3710635" y="4498848"/>
            <a:ext cx="384048" cy="384048"/>
          </a:xfrm>
          <a:prstGeom prst="ellipse">
            <a:avLst/>
          </a:prstGeom>
          <a:solidFill>
            <a:srgbClr val="17452F"/>
          </a:solidFill>
          <a:ln w="12700">
            <a:solidFill>
              <a:srgbClr val="17452F"/>
            </a:solidFill>
            <a:prstDash val="solid"/>
          </a:ln>
        </p:spPr>
      </p:sp>
      <p:pic>
        <p:nvPicPr>
          <p:cNvPr id="25" name="Image 2" descr="img/icons/trend_m.png">    </p:cNvPr>
          <p:cNvPicPr>
            <a:picLocks noChangeAspect="1"/>
          </p:cNvPicPr>
          <p:nvPr/>
        </p:nvPicPr>
        <p:blipFill>
          <a:blip r:embed="rId3"/>
          <a:stretch>
            <a:fillRect/>
          </a:stretch>
        </p:blipFill>
        <p:spPr>
          <a:xfrm>
            <a:off x="3806647" y="4594860"/>
            <a:ext cx="192024" cy="192024"/>
          </a:xfrm>
          <a:prstGeom prst="rect">
            <a:avLst/>
          </a:prstGeom>
        </p:spPr>
      </p:pic>
      <p:sp>
        <p:nvSpPr>
          <p:cNvPr id="26" name="Text 21"/>
          <p:cNvSpPr txBox="1"/>
          <p:nvPr/>
        </p:nvSpPr>
        <p:spPr>
          <a:xfrm>
            <a:off x="4204411" y="4480560"/>
            <a:ext cx="1506931"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%18</a:t>
            </a:r>
            <a:endParaRPr lang="en-US" sz="1900" dirty="0"/>
          </a:p>
        </p:txBody>
      </p:sp>
      <p:sp>
        <p:nvSpPr>
          <p:cNvPr id="27" name="Text 22"/>
          <p:cNvSpPr txBox="1"/>
          <p:nvPr/>
        </p:nvSpPr>
        <p:spPr>
          <a:xfrm>
            <a:off x="3710635" y="5010912"/>
            <a:ext cx="2000707" cy="603504"/>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PFAS'sız segmentin yıllık büyümesi</a:t>
            </a:r>
            <a:endParaRPr lang="en-US" sz="1100" dirty="0"/>
          </a:p>
        </p:txBody>
      </p:sp>
      <p:sp>
        <p:nvSpPr>
          <p:cNvPr id="28" name="Shape 23"/>
          <p:cNvSpPr/>
          <p:nvPr/>
        </p:nvSpPr>
        <p:spPr>
          <a:xfrm>
            <a:off x="6223406" y="4261104"/>
            <a:ext cx="2512771" cy="1499616"/>
          </a:xfrm>
          <a:prstGeom prst="roundRect">
            <a:avLst>
              <a:gd name="adj" fmla="val 6707"/>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29" name="Shape 24"/>
          <p:cNvSpPr/>
          <p:nvPr/>
        </p:nvSpPr>
        <p:spPr>
          <a:xfrm>
            <a:off x="6479438" y="4498848"/>
            <a:ext cx="384048" cy="384048"/>
          </a:xfrm>
          <a:prstGeom prst="ellipse">
            <a:avLst/>
          </a:prstGeom>
          <a:solidFill>
            <a:srgbClr val="17452F"/>
          </a:solidFill>
          <a:ln w="12700">
            <a:solidFill>
              <a:srgbClr val="17452F"/>
            </a:solidFill>
            <a:prstDash val="solid"/>
          </a:ln>
        </p:spPr>
      </p:sp>
      <p:pic>
        <p:nvPicPr>
          <p:cNvPr id="30" name="Image 3" descr="img/icons/fire_m.png">    </p:cNvPr>
          <p:cNvPicPr>
            <a:picLocks noChangeAspect="1"/>
          </p:cNvPicPr>
          <p:nvPr/>
        </p:nvPicPr>
        <p:blipFill>
          <a:blip r:embed="rId4"/>
          <a:stretch>
            <a:fillRect/>
          </a:stretch>
        </p:blipFill>
        <p:spPr>
          <a:xfrm>
            <a:off x="6575450" y="4594860"/>
            <a:ext cx="192024" cy="192024"/>
          </a:xfrm>
          <a:prstGeom prst="rect">
            <a:avLst/>
          </a:prstGeom>
        </p:spPr>
      </p:pic>
      <p:sp>
        <p:nvSpPr>
          <p:cNvPr id="31" name="Text 25"/>
          <p:cNvSpPr txBox="1"/>
          <p:nvPr/>
        </p:nvSpPr>
        <p:spPr>
          <a:xfrm>
            <a:off x="6973214" y="4480560"/>
            <a:ext cx="1506931"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%30</a:t>
            </a:r>
            <a:endParaRPr lang="en-US" sz="1900" dirty="0"/>
          </a:p>
        </p:txBody>
      </p:sp>
      <p:sp>
        <p:nvSpPr>
          <p:cNvPr id="32" name="Text 26"/>
          <p:cNvSpPr txBox="1"/>
          <p:nvPr/>
        </p:nvSpPr>
        <p:spPr>
          <a:xfrm>
            <a:off x="6479438" y="5010912"/>
            <a:ext cx="2000707" cy="603504"/>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Küresel yangın sıklığındaki artış</a:t>
            </a:r>
            <a:endParaRPr lang="en-US" sz="1100" dirty="0"/>
          </a:p>
        </p:txBody>
      </p:sp>
      <p:sp>
        <p:nvSpPr>
          <p:cNvPr id="33" name="Shape 27"/>
          <p:cNvSpPr/>
          <p:nvPr/>
        </p:nvSpPr>
        <p:spPr>
          <a:xfrm>
            <a:off x="8992210" y="4261104"/>
            <a:ext cx="2512771" cy="1499616"/>
          </a:xfrm>
          <a:prstGeom prst="roundRect">
            <a:avLst>
              <a:gd name="adj" fmla="val 6707"/>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34" name="Shape 28"/>
          <p:cNvSpPr/>
          <p:nvPr/>
        </p:nvSpPr>
        <p:spPr>
          <a:xfrm>
            <a:off x="9248242" y="4498848"/>
            <a:ext cx="384048" cy="384048"/>
          </a:xfrm>
          <a:prstGeom prst="ellipse">
            <a:avLst/>
          </a:prstGeom>
          <a:solidFill>
            <a:srgbClr val="17452F"/>
          </a:solidFill>
          <a:ln w="12700">
            <a:solidFill>
              <a:srgbClr val="17452F"/>
            </a:solidFill>
            <a:prstDash val="solid"/>
          </a:ln>
        </p:spPr>
      </p:sp>
      <p:pic>
        <p:nvPicPr>
          <p:cNvPr id="35" name="Image 4" descr="img/icons/flag_m.png">    </p:cNvPr>
          <p:cNvPicPr>
            <a:picLocks noChangeAspect="1"/>
          </p:cNvPicPr>
          <p:nvPr/>
        </p:nvPicPr>
        <p:blipFill>
          <a:blip r:embed="rId5"/>
          <a:stretch>
            <a:fillRect/>
          </a:stretch>
        </p:blipFill>
        <p:spPr>
          <a:xfrm>
            <a:off x="9344254" y="4594860"/>
            <a:ext cx="192024" cy="192024"/>
          </a:xfrm>
          <a:prstGeom prst="rect">
            <a:avLst/>
          </a:prstGeom>
        </p:spPr>
      </p:pic>
      <p:sp>
        <p:nvSpPr>
          <p:cNvPr id="36" name="Text 29"/>
          <p:cNvSpPr txBox="1"/>
          <p:nvPr/>
        </p:nvSpPr>
        <p:spPr>
          <a:xfrm>
            <a:off x="9742018" y="4480560"/>
            <a:ext cx="1506931" cy="402336"/>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2023+</a:t>
            </a:r>
            <a:endParaRPr lang="en-US" sz="1900" dirty="0"/>
          </a:p>
        </p:txBody>
      </p:sp>
      <p:sp>
        <p:nvSpPr>
          <p:cNvPr id="37" name="Text 30"/>
          <p:cNvSpPr txBox="1"/>
          <p:nvPr/>
        </p:nvSpPr>
        <p:spPr>
          <a:xfrm>
            <a:off x="9248242" y="5010912"/>
            <a:ext cx="2000707" cy="603504"/>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AB PFAS kısıtlama direktifleri yürürlükte</a:t>
            </a:r>
            <a:endParaRPr lang="en-US" sz="1100" dirty="0"/>
          </a:p>
        </p:txBody>
      </p:sp>
      <p:sp>
        <p:nvSpPr>
          <p:cNvPr id="38" name="Text 31"/>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5E8770"/>
                </a:solidFill>
                <a:latin typeface="Calibri" pitchFamily="34" charset="0"/>
                <a:ea typeface="Calibri" pitchFamily="34" charset="-122"/>
                <a:cs typeface="Calibri" pitchFamily="34" charset="-120"/>
              </a:rPr>
              <a:t>12</a:t>
            </a:r>
            <a:endParaRPr lang="en-US" sz="1000" dirty="0"/>
          </a:p>
        </p:txBody>
      </p:sp>
      <p:sp>
        <p:nvSpPr>
          <p:cNvPr id="39" name="Text 32"/>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5E8770"/>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İŞ MODELİ</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Üç Kanallı Pazara Çıkış</a:t>
            </a:r>
            <a:endParaRPr lang="en-US" sz="3300" dirty="0"/>
          </a:p>
        </p:txBody>
      </p:sp>
      <p:sp>
        <p:nvSpPr>
          <p:cNvPr id="5" name="Shape 2"/>
          <p:cNvSpPr/>
          <p:nvPr/>
        </p:nvSpPr>
        <p:spPr>
          <a:xfrm>
            <a:off x="685800" y="1664208"/>
            <a:ext cx="3456432" cy="3054096"/>
          </a:xfrm>
          <a:prstGeom prst="roundRect">
            <a:avLst>
              <a:gd name="adj" fmla="val 3293"/>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6" name="Shape 3"/>
          <p:cNvSpPr/>
          <p:nvPr/>
        </p:nvSpPr>
        <p:spPr>
          <a:xfrm>
            <a:off x="996696" y="1975104"/>
            <a:ext cx="585216" cy="585216"/>
          </a:xfrm>
          <a:prstGeom prst="ellipse">
            <a:avLst/>
          </a:prstGeom>
          <a:solidFill>
            <a:srgbClr val="1B6B3A"/>
          </a:solidFill>
          <a:ln w="12700">
            <a:solidFill>
              <a:srgbClr val="1B6B3A"/>
            </a:solidFill>
            <a:prstDash val="solid"/>
          </a:ln>
        </p:spPr>
      </p:sp>
      <p:pic>
        <p:nvPicPr>
          <p:cNvPr id="7" name="Image 1" descr="img/icons/gov_w.png">    </p:cNvPr>
          <p:cNvPicPr>
            <a:picLocks noChangeAspect="1"/>
          </p:cNvPicPr>
          <p:nvPr/>
        </p:nvPicPr>
        <p:blipFill>
          <a:blip r:embed="rId2"/>
          <a:stretch>
            <a:fillRect/>
          </a:stretch>
        </p:blipFill>
        <p:spPr>
          <a:xfrm>
            <a:off x="1154704" y="2133112"/>
            <a:ext cx="269199" cy="269199"/>
          </a:xfrm>
          <a:prstGeom prst="rect">
            <a:avLst/>
          </a:prstGeom>
        </p:spPr>
      </p:pic>
      <p:sp>
        <p:nvSpPr>
          <p:cNvPr id="8" name="Text 4"/>
          <p:cNvSpPr txBox="1"/>
          <p:nvPr/>
        </p:nvSpPr>
        <p:spPr>
          <a:xfrm>
            <a:off x="2569464" y="2084832"/>
            <a:ext cx="1261872" cy="256032"/>
          </a:xfrm>
          <a:prstGeom prst="rect">
            <a:avLst/>
          </a:prstGeom>
          <a:noFill/>
          <a:ln/>
        </p:spPr>
        <p:txBody>
          <a:bodyPr wrap="square" lIns="0" tIns="0" rIns="0" bIns="0" rtlCol="0" anchor="ctr"/>
          <a:lstStyle/>
          <a:p>
            <a:pPr algn="r" indent="0" marL="0">
              <a:buNone/>
            </a:pPr>
            <a:r>
              <a:rPr lang="en-US" sz="950" b="1" spc="140" kern="0" dirty="0">
                <a:solidFill>
                  <a:srgbClr val="6F7F76"/>
                </a:solidFill>
                <a:latin typeface="Calibri" pitchFamily="34" charset="0"/>
                <a:ea typeface="Calibri" pitchFamily="34" charset="-122"/>
                <a:cs typeface="Calibri" pitchFamily="34" charset="-120"/>
              </a:rPr>
              <a:t>1. ÖNCELİK</a:t>
            </a:r>
            <a:endParaRPr lang="en-US" sz="950" dirty="0"/>
          </a:p>
        </p:txBody>
      </p:sp>
      <p:sp>
        <p:nvSpPr>
          <p:cNvPr id="9" name="Text 5"/>
          <p:cNvSpPr txBox="1"/>
          <p:nvPr/>
        </p:nvSpPr>
        <p:spPr>
          <a:xfrm>
            <a:off x="996696" y="2688336"/>
            <a:ext cx="2834640" cy="475488"/>
          </a:xfrm>
          <a:prstGeom prst="rect">
            <a:avLst/>
          </a:prstGeom>
          <a:noFill/>
          <a:ln/>
        </p:spPr>
        <p:txBody>
          <a:bodyPr wrap="square" lIns="0" tIns="0" rIns="0" bIns="0" rtlCol="0" anchor="ctr"/>
          <a:lstStyle/>
          <a:p>
            <a:pPr indent="0" marL="0">
              <a:buNone/>
            </a:pPr>
            <a:r>
              <a:rPr lang="en-US" sz="3000" b="1" dirty="0">
                <a:solidFill>
                  <a:srgbClr val="1B6B3A"/>
                </a:solidFill>
                <a:latin typeface="Cambria" pitchFamily="34" charset="0"/>
                <a:ea typeface="Cambria" pitchFamily="34" charset="-122"/>
                <a:cs typeface="Cambria" pitchFamily="34" charset="-120"/>
              </a:rPr>
              <a:t>B2G</a:t>
            </a:r>
            <a:endParaRPr lang="en-US" sz="3000" dirty="0"/>
          </a:p>
        </p:txBody>
      </p:sp>
      <p:sp>
        <p:nvSpPr>
          <p:cNvPr id="10" name="Text 6"/>
          <p:cNvSpPr txBox="1"/>
          <p:nvPr/>
        </p:nvSpPr>
        <p:spPr>
          <a:xfrm>
            <a:off x="996696" y="3200400"/>
            <a:ext cx="2834640" cy="310896"/>
          </a:xfrm>
          <a:prstGeom prst="rect">
            <a:avLst/>
          </a:prstGeom>
          <a:noFill/>
          <a:ln/>
        </p:spPr>
        <p:txBody>
          <a:bodyPr wrap="square" lIns="0" tIns="0" rIns="0" bIns="0" rtlCol="0" anchor="ctr"/>
          <a:lstStyle/>
          <a:p>
            <a:pPr indent="0" marL="0">
              <a:buNone/>
            </a:pPr>
            <a:r>
              <a:rPr lang="en-US" sz="1550" b="1" dirty="0">
                <a:solidFill>
                  <a:srgbClr val="07281D"/>
                </a:solidFill>
                <a:latin typeface="Cambria" pitchFamily="34" charset="0"/>
                <a:ea typeface="Cambria" pitchFamily="34" charset="-122"/>
                <a:cs typeface="Cambria" pitchFamily="34" charset="-120"/>
              </a:rPr>
              <a:t>Kamu Tedariki</a:t>
            </a:r>
            <a:endParaRPr lang="en-US" sz="1550" dirty="0"/>
          </a:p>
        </p:txBody>
      </p:sp>
      <p:sp>
        <p:nvSpPr>
          <p:cNvPr id="11" name="Text 7"/>
          <p:cNvSpPr txBox="1"/>
          <p:nvPr/>
        </p:nvSpPr>
        <p:spPr>
          <a:xfrm>
            <a:off x="996696" y="3547872"/>
            <a:ext cx="2834640" cy="969264"/>
          </a:xfrm>
          <a:prstGeom prst="rect">
            <a:avLst/>
          </a:prstGeom>
          <a:noFill/>
          <a:ln/>
        </p:spPr>
        <p:txBody>
          <a:bodyPr wrap="square" lIns="0" tIns="0" rIns="0" bIns="0" rtlCol="0" anchor="ctr"/>
          <a:lstStyle/>
          <a:p>
            <a:pPr indent="0" marL="0">
              <a:lnSpc>
                <a:spcPts val="1600"/>
              </a:lnSpc>
              <a:buNone/>
            </a:pPr>
            <a:r>
              <a:rPr lang="en-US" sz="1150" dirty="0">
                <a:solidFill>
                  <a:srgbClr val="6F7F76"/>
                </a:solidFill>
                <a:latin typeface="Calibri" pitchFamily="34" charset="0"/>
                <a:ea typeface="Calibri" pitchFamily="34" charset="-122"/>
                <a:cs typeface="Calibri" pitchFamily="34" charset="-120"/>
              </a:rPr>
              <a:t>Orman Genel Müdürlüğü, AFAD ve belediyeler. Büyük hacimli, tekrarlayan tedarik; ilk öncelikli kanal.</a:t>
            </a:r>
            <a:endParaRPr lang="en-US" sz="1150" dirty="0"/>
          </a:p>
        </p:txBody>
      </p:sp>
      <p:sp>
        <p:nvSpPr>
          <p:cNvPr id="12" name="Shape 8"/>
          <p:cNvSpPr/>
          <p:nvPr/>
        </p:nvSpPr>
        <p:spPr>
          <a:xfrm>
            <a:off x="4370832" y="1664208"/>
            <a:ext cx="3456432" cy="3054096"/>
          </a:xfrm>
          <a:prstGeom prst="roundRect">
            <a:avLst>
              <a:gd name="adj" fmla="val 3293"/>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13" name="Shape 9"/>
          <p:cNvSpPr/>
          <p:nvPr/>
        </p:nvSpPr>
        <p:spPr>
          <a:xfrm>
            <a:off x="4681728" y="1975104"/>
            <a:ext cx="585216" cy="585216"/>
          </a:xfrm>
          <a:prstGeom prst="ellipse">
            <a:avLst/>
          </a:prstGeom>
          <a:solidFill>
            <a:srgbClr val="F07818"/>
          </a:solidFill>
          <a:ln w="12700">
            <a:solidFill>
              <a:srgbClr val="F07818"/>
            </a:solidFill>
            <a:prstDash val="solid"/>
          </a:ln>
        </p:spPr>
      </p:sp>
      <p:pic>
        <p:nvPicPr>
          <p:cNvPr id="14" name="Image 2" descr="img/icons/industry_w.png">    </p:cNvPr>
          <p:cNvPicPr>
            <a:picLocks noChangeAspect="1"/>
          </p:cNvPicPr>
          <p:nvPr/>
        </p:nvPicPr>
        <p:blipFill>
          <a:blip r:embed="rId3"/>
          <a:stretch>
            <a:fillRect/>
          </a:stretch>
        </p:blipFill>
        <p:spPr>
          <a:xfrm>
            <a:off x="4839736" y="2133112"/>
            <a:ext cx="269199" cy="269199"/>
          </a:xfrm>
          <a:prstGeom prst="rect">
            <a:avLst/>
          </a:prstGeom>
        </p:spPr>
      </p:pic>
      <p:sp>
        <p:nvSpPr>
          <p:cNvPr id="15" name="Text 10"/>
          <p:cNvSpPr txBox="1"/>
          <p:nvPr/>
        </p:nvSpPr>
        <p:spPr>
          <a:xfrm>
            <a:off x="6254496" y="2084832"/>
            <a:ext cx="1261872" cy="256032"/>
          </a:xfrm>
          <a:prstGeom prst="rect">
            <a:avLst/>
          </a:prstGeom>
          <a:noFill/>
          <a:ln/>
        </p:spPr>
        <p:txBody>
          <a:bodyPr wrap="square" lIns="0" tIns="0" rIns="0" bIns="0" rtlCol="0" anchor="ctr"/>
          <a:lstStyle/>
          <a:p>
            <a:pPr algn="r" indent="0" marL="0">
              <a:buNone/>
            </a:pPr>
            <a:r>
              <a:rPr lang="en-US" sz="950" b="1" spc="140" kern="0" dirty="0">
                <a:solidFill>
                  <a:srgbClr val="6F7F76"/>
                </a:solidFill>
                <a:latin typeface="Calibri" pitchFamily="34" charset="0"/>
                <a:ea typeface="Calibri" pitchFamily="34" charset="-122"/>
                <a:cs typeface="Calibri" pitchFamily="34" charset="-120"/>
              </a:rPr>
              <a:t>2. ÖNCELİK</a:t>
            </a:r>
            <a:endParaRPr lang="en-US" sz="950" dirty="0"/>
          </a:p>
        </p:txBody>
      </p:sp>
      <p:sp>
        <p:nvSpPr>
          <p:cNvPr id="16" name="Text 11"/>
          <p:cNvSpPr txBox="1"/>
          <p:nvPr/>
        </p:nvSpPr>
        <p:spPr>
          <a:xfrm>
            <a:off x="4681728" y="2688336"/>
            <a:ext cx="2834640" cy="475488"/>
          </a:xfrm>
          <a:prstGeom prst="rect">
            <a:avLst/>
          </a:prstGeom>
          <a:noFill/>
          <a:ln/>
        </p:spPr>
        <p:txBody>
          <a:bodyPr wrap="square" lIns="0" tIns="0" rIns="0" bIns="0" rtlCol="0" anchor="ctr"/>
          <a:lstStyle/>
          <a:p>
            <a:pPr indent="0" marL="0">
              <a:buNone/>
            </a:pPr>
            <a:r>
              <a:rPr lang="en-US" sz="3000" b="1" dirty="0">
                <a:solidFill>
                  <a:srgbClr val="F07818"/>
                </a:solidFill>
                <a:latin typeface="Cambria" pitchFamily="34" charset="0"/>
                <a:ea typeface="Cambria" pitchFamily="34" charset="-122"/>
                <a:cs typeface="Cambria" pitchFamily="34" charset="-120"/>
              </a:rPr>
              <a:t>B2B</a:t>
            </a:r>
            <a:endParaRPr lang="en-US" sz="3000" dirty="0"/>
          </a:p>
        </p:txBody>
      </p:sp>
      <p:sp>
        <p:nvSpPr>
          <p:cNvPr id="17" name="Text 12"/>
          <p:cNvSpPr txBox="1"/>
          <p:nvPr/>
        </p:nvSpPr>
        <p:spPr>
          <a:xfrm>
            <a:off x="4681728" y="3200400"/>
            <a:ext cx="2834640" cy="310896"/>
          </a:xfrm>
          <a:prstGeom prst="rect">
            <a:avLst/>
          </a:prstGeom>
          <a:noFill/>
          <a:ln/>
        </p:spPr>
        <p:txBody>
          <a:bodyPr wrap="square" lIns="0" tIns="0" rIns="0" bIns="0" rtlCol="0" anchor="ctr"/>
          <a:lstStyle/>
          <a:p>
            <a:pPr indent="0" marL="0">
              <a:buNone/>
            </a:pPr>
            <a:r>
              <a:rPr lang="en-US" sz="1550" b="1" dirty="0">
                <a:solidFill>
                  <a:srgbClr val="07281D"/>
                </a:solidFill>
                <a:latin typeface="Cambria" pitchFamily="34" charset="0"/>
                <a:ea typeface="Cambria" pitchFamily="34" charset="-122"/>
                <a:cs typeface="Cambria" pitchFamily="34" charset="-120"/>
              </a:rPr>
              <a:t>Kurumsal Satış</a:t>
            </a:r>
            <a:endParaRPr lang="en-US" sz="1550" dirty="0"/>
          </a:p>
        </p:txBody>
      </p:sp>
      <p:sp>
        <p:nvSpPr>
          <p:cNvPr id="18" name="Text 13"/>
          <p:cNvSpPr txBox="1"/>
          <p:nvPr/>
        </p:nvSpPr>
        <p:spPr>
          <a:xfrm>
            <a:off x="4681728" y="3547872"/>
            <a:ext cx="2834640" cy="969264"/>
          </a:xfrm>
          <a:prstGeom prst="rect">
            <a:avLst/>
          </a:prstGeom>
          <a:noFill/>
          <a:ln/>
        </p:spPr>
        <p:txBody>
          <a:bodyPr wrap="square" lIns="0" tIns="0" rIns="0" bIns="0" rtlCol="0" anchor="ctr"/>
          <a:lstStyle/>
          <a:p>
            <a:pPr indent="0" marL="0">
              <a:lnSpc>
                <a:spcPts val="1600"/>
              </a:lnSpc>
              <a:buNone/>
            </a:pPr>
            <a:r>
              <a:rPr lang="en-US" sz="1150" dirty="0">
                <a:solidFill>
                  <a:srgbClr val="6F7F76"/>
                </a:solidFill>
                <a:latin typeface="Calibri" pitchFamily="34" charset="0"/>
                <a:ea typeface="Calibri" pitchFamily="34" charset="-122"/>
                <a:cs typeface="Calibri" pitchFamily="34" charset="-120"/>
              </a:rPr>
              <a:t>Sanayi tesisleri, lojistik merkezleri ve enerji santralleri. Dolum anlaşmaları ve yıllık sözleşmeler.</a:t>
            </a:r>
            <a:endParaRPr lang="en-US" sz="1150" dirty="0"/>
          </a:p>
        </p:txBody>
      </p:sp>
      <p:sp>
        <p:nvSpPr>
          <p:cNvPr id="19" name="Shape 14"/>
          <p:cNvSpPr/>
          <p:nvPr/>
        </p:nvSpPr>
        <p:spPr>
          <a:xfrm>
            <a:off x="8055864" y="1664208"/>
            <a:ext cx="3456432" cy="3054096"/>
          </a:xfrm>
          <a:prstGeom prst="roundRect">
            <a:avLst>
              <a:gd name="adj" fmla="val 3293"/>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20" name="Shape 15"/>
          <p:cNvSpPr/>
          <p:nvPr/>
        </p:nvSpPr>
        <p:spPr>
          <a:xfrm>
            <a:off x="8366760" y="1975104"/>
            <a:ext cx="585216" cy="585216"/>
          </a:xfrm>
          <a:prstGeom prst="ellipse">
            <a:avLst/>
          </a:prstGeom>
          <a:solidFill>
            <a:srgbClr val="2C3A33"/>
          </a:solidFill>
          <a:ln w="12700">
            <a:solidFill>
              <a:srgbClr val="2C3A33"/>
            </a:solidFill>
            <a:prstDash val="solid"/>
          </a:ln>
        </p:spPr>
      </p:sp>
      <p:pic>
        <p:nvPicPr>
          <p:cNvPr id="21" name="Image 3" descr="img/icons/house_w.png">    </p:cNvPr>
          <p:cNvPicPr>
            <a:picLocks noChangeAspect="1"/>
          </p:cNvPicPr>
          <p:nvPr/>
        </p:nvPicPr>
        <p:blipFill>
          <a:blip r:embed="rId4"/>
          <a:stretch>
            <a:fillRect/>
          </a:stretch>
        </p:blipFill>
        <p:spPr>
          <a:xfrm>
            <a:off x="8524768" y="2133112"/>
            <a:ext cx="269199" cy="269199"/>
          </a:xfrm>
          <a:prstGeom prst="rect">
            <a:avLst/>
          </a:prstGeom>
        </p:spPr>
      </p:pic>
      <p:sp>
        <p:nvSpPr>
          <p:cNvPr id="22" name="Text 16"/>
          <p:cNvSpPr txBox="1"/>
          <p:nvPr/>
        </p:nvSpPr>
        <p:spPr>
          <a:xfrm>
            <a:off x="9939528" y="2084832"/>
            <a:ext cx="1261872" cy="256032"/>
          </a:xfrm>
          <a:prstGeom prst="rect">
            <a:avLst/>
          </a:prstGeom>
          <a:noFill/>
          <a:ln/>
        </p:spPr>
        <p:txBody>
          <a:bodyPr wrap="square" lIns="0" tIns="0" rIns="0" bIns="0" rtlCol="0" anchor="ctr"/>
          <a:lstStyle/>
          <a:p>
            <a:pPr algn="r" indent="0" marL="0">
              <a:buNone/>
            </a:pPr>
            <a:r>
              <a:rPr lang="en-US" sz="950" b="1" spc="140" kern="0" dirty="0">
                <a:solidFill>
                  <a:srgbClr val="6F7F76"/>
                </a:solidFill>
                <a:latin typeface="Calibri" pitchFamily="34" charset="0"/>
                <a:ea typeface="Calibri" pitchFamily="34" charset="-122"/>
                <a:cs typeface="Calibri" pitchFamily="34" charset="-120"/>
              </a:rPr>
              <a:t>UZUN VADE</a:t>
            </a:r>
            <a:endParaRPr lang="en-US" sz="950" dirty="0"/>
          </a:p>
        </p:txBody>
      </p:sp>
      <p:sp>
        <p:nvSpPr>
          <p:cNvPr id="23" name="Text 17"/>
          <p:cNvSpPr txBox="1"/>
          <p:nvPr/>
        </p:nvSpPr>
        <p:spPr>
          <a:xfrm>
            <a:off x="8366760" y="2688336"/>
            <a:ext cx="2834640" cy="475488"/>
          </a:xfrm>
          <a:prstGeom prst="rect">
            <a:avLst/>
          </a:prstGeom>
          <a:noFill/>
          <a:ln/>
        </p:spPr>
        <p:txBody>
          <a:bodyPr wrap="square" lIns="0" tIns="0" rIns="0" bIns="0" rtlCol="0" anchor="ctr"/>
          <a:lstStyle/>
          <a:p>
            <a:pPr indent="0" marL="0">
              <a:buNone/>
            </a:pPr>
            <a:r>
              <a:rPr lang="en-US" sz="3000" b="1" dirty="0">
                <a:solidFill>
                  <a:srgbClr val="2C3A33"/>
                </a:solidFill>
                <a:latin typeface="Cambria" pitchFamily="34" charset="0"/>
                <a:ea typeface="Cambria" pitchFamily="34" charset="-122"/>
                <a:cs typeface="Cambria" pitchFamily="34" charset="-120"/>
              </a:rPr>
              <a:t>B2C</a:t>
            </a:r>
            <a:endParaRPr lang="en-US" sz="3000" dirty="0"/>
          </a:p>
        </p:txBody>
      </p:sp>
      <p:sp>
        <p:nvSpPr>
          <p:cNvPr id="24" name="Text 18"/>
          <p:cNvSpPr txBox="1"/>
          <p:nvPr/>
        </p:nvSpPr>
        <p:spPr>
          <a:xfrm>
            <a:off x="8366760" y="3200400"/>
            <a:ext cx="2834640" cy="310896"/>
          </a:xfrm>
          <a:prstGeom prst="rect">
            <a:avLst/>
          </a:prstGeom>
          <a:noFill/>
          <a:ln/>
        </p:spPr>
        <p:txBody>
          <a:bodyPr wrap="square" lIns="0" tIns="0" rIns="0" bIns="0" rtlCol="0" anchor="ctr"/>
          <a:lstStyle/>
          <a:p>
            <a:pPr indent="0" marL="0">
              <a:buNone/>
            </a:pPr>
            <a:r>
              <a:rPr lang="en-US" sz="1550" b="1" dirty="0">
                <a:solidFill>
                  <a:srgbClr val="07281D"/>
                </a:solidFill>
                <a:latin typeface="Cambria" pitchFamily="34" charset="0"/>
                <a:ea typeface="Cambria" pitchFamily="34" charset="-122"/>
                <a:cs typeface="Cambria" pitchFamily="34" charset="-120"/>
              </a:rPr>
              <a:t>Bireysel Kit</a:t>
            </a:r>
            <a:endParaRPr lang="en-US" sz="1550" dirty="0"/>
          </a:p>
        </p:txBody>
      </p:sp>
      <p:sp>
        <p:nvSpPr>
          <p:cNvPr id="25" name="Text 19"/>
          <p:cNvSpPr txBox="1"/>
          <p:nvPr/>
        </p:nvSpPr>
        <p:spPr>
          <a:xfrm>
            <a:off x="8366760" y="3547872"/>
            <a:ext cx="2834640" cy="969264"/>
          </a:xfrm>
          <a:prstGeom prst="rect">
            <a:avLst/>
          </a:prstGeom>
          <a:noFill/>
          <a:ln/>
        </p:spPr>
        <p:txBody>
          <a:bodyPr wrap="square" lIns="0" tIns="0" rIns="0" bIns="0" rtlCol="0" anchor="ctr"/>
          <a:lstStyle/>
          <a:p>
            <a:pPr indent="0" marL="0">
              <a:lnSpc>
                <a:spcPts val="1600"/>
              </a:lnSpc>
              <a:buNone/>
            </a:pPr>
            <a:r>
              <a:rPr lang="en-US" sz="1150" dirty="0">
                <a:solidFill>
                  <a:srgbClr val="6F7F76"/>
                </a:solidFill>
                <a:latin typeface="Calibri" pitchFamily="34" charset="0"/>
                <a:ea typeface="Calibri" pitchFamily="34" charset="-122"/>
                <a:cs typeface="Calibri" pitchFamily="34" charset="-120"/>
              </a:rPr>
              <a:t>Ev ve araç tipi mini söndürücü kitleri. Uzun vadeli, marka bilinirliği odaklı kanal.</a:t>
            </a:r>
            <a:endParaRPr lang="en-US" sz="1150" dirty="0"/>
          </a:p>
        </p:txBody>
      </p:sp>
      <p:sp>
        <p:nvSpPr>
          <p:cNvPr id="26" name="Shape 20"/>
          <p:cNvSpPr/>
          <p:nvPr/>
        </p:nvSpPr>
        <p:spPr>
          <a:xfrm>
            <a:off x="685800" y="4974336"/>
            <a:ext cx="10820095" cy="877824"/>
          </a:xfrm>
          <a:prstGeom prst="roundRect">
            <a:avLst>
              <a:gd name="adj" fmla="val 11458"/>
            </a:avLst>
          </a:prstGeom>
          <a:solidFill>
            <a:srgbClr val="F2F6F3"/>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27" name="Shape 21"/>
          <p:cNvSpPr/>
          <p:nvPr/>
        </p:nvSpPr>
        <p:spPr>
          <a:xfrm>
            <a:off x="960120" y="5193792"/>
            <a:ext cx="438912" cy="438912"/>
          </a:xfrm>
          <a:prstGeom prst="ellipse">
            <a:avLst/>
          </a:prstGeom>
          <a:solidFill>
            <a:srgbClr val="1B6B3A"/>
          </a:solidFill>
          <a:ln w="12700">
            <a:solidFill>
              <a:srgbClr val="1B6B3A"/>
            </a:solidFill>
            <a:prstDash val="solid"/>
          </a:ln>
        </p:spPr>
      </p:sp>
      <p:pic>
        <p:nvPicPr>
          <p:cNvPr id="28" name="Image 4" descr="img/icons/target_w.png">    </p:cNvPr>
          <p:cNvPicPr>
            <a:picLocks noChangeAspect="1"/>
          </p:cNvPicPr>
          <p:nvPr/>
        </p:nvPicPr>
        <p:blipFill>
          <a:blip r:embed="rId5"/>
          <a:stretch>
            <a:fillRect/>
          </a:stretch>
        </p:blipFill>
        <p:spPr>
          <a:xfrm>
            <a:off x="1069848" y="5303520"/>
            <a:ext cx="219456" cy="219456"/>
          </a:xfrm>
          <a:prstGeom prst="rect">
            <a:avLst/>
          </a:prstGeom>
        </p:spPr>
      </p:pic>
      <p:sp>
        <p:nvSpPr>
          <p:cNvPr id="29" name="Text 22"/>
          <p:cNvSpPr txBox="1"/>
          <p:nvPr/>
        </p:nvSpPr>
        <p:spPr>
          <a:xfrm>
            <a:off x="1545336" y="5120640"/>
            <a:ext cx="9631375" cy="603504"/>
          </a:xfrm>
          <a:prstGeom prst="rect">
            <a:avLst/>
          </a:prstGeom>
          <a:noFill/>
          <a:ln/>
        </p:spPr>
        <p:txBody>
          <a:bodyPr wrap="square" lIns="0" tIns="0" rIns="0" bIns="0" rtlCol="0" anchor="ctr"/>
          <a:lstStyle/>
          <a:p>
            <a:pPr indent="0" marL="0">
              <a:lnSpc>
                <a:spcPts val="1700"/>
              </a:lnSpc>
              <a:buNone/>
            </a:pPr>
            <a:r>
              <a:rPr lang="en-US" sz="1250" dirty="0">
                <a:solidFill>
                  <a:srgbClr val="2C3A33"/>
                </a:solidFill>
                <a:latin typeface="Calibri" pitchFamily="34" charset="0"/>
                <a:ea typeface="Calibri" pitchFamily="34" charset="-122"/>
                <a:cs typeface="Calibri" pitchFamily="34" charset="-120"/>
              </a:rPr>
              <a:t>Aşamalı strateji:  önce kamu güvenliği referansı, ardından endüstriyel tesisler, son olarak bireysel kullanım kitleri. Her aşama bir sonrakinin güven altyapısını kuruyor.</a:t>
            </a:r>
            <a:endParaRPr lang="en-US" sz="1250" dirty="0"/>
          </a:p>
        </p:txBody>
      </p:sp>
      <p:sp>
        <p:nvSpPr>
          <p:cNvPr id="30" name="Text 23"/>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13</a:t>
            </a:r>
            <a:endParaRPr lang="en-US" sz="1000" dirty="0"/>
          </a:p>
        </p:txBody>
      </p:sp>
      <p:sp>
        <p:nvSpPr>
          <p:cNvPr id="31" name="Text 24"/>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HEDEF KİTLE</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Kime Satıyoruz?</a:t>
            </a:r>
            <a:endParaRPr lang="en-US" sz="3300" dirty="0"/>
          </a:p>
        </p:txBody>
      </p:sp>
      <p:sp>
        <p:nvSpPr>
          <p:cNvPr id="5" name="Shape 2"/>
          <p:cNvSpPr/>
          <p:nvPr/>
        </p:nvSpPr>
        <p:spPr>
          <a:xfrm>
            <a:off x="685800" y="1627632"/>
            <a:ext cx="4974336" cy="4114800"/>
          </a:xfrm>
          <a:prstGeom prst="roundRect">
            <a:avLst>
              <a:gd name="adj" fmla="val 2444"/>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6" name="Text 3"/>
          <p:cNvSpPr txBox="1"/>
          <p:nvPr/>
        </p:nvSpPr>
        <p:spPr>
          <a:xfrm>
            <a:off x="1014984" y="1901952"/>
            <a:ext cx="4315968" cy="347472"/>
          </a:xfrm>
          <a:prstGeom prst="rect">
            <a:avLst/>
          </a:prstGeom>
          <a:noFill/>
          <a:ln/>
        </p:spPr>
        <p:txBody>
          <a:bodyPr wrap="square" lIns="0" tIns="0" rIns="0" bIns="0" rtlCol="0" anchor="ctr"/>
          <a:lstStyle/>
          <a:p>
            <a:pPr indent="0" marL="0">
              <a:buNone/>
            </a:pPr>
            <a:r>
              <a:rPr lang="en-US" sz="1900" b="1" dirty="0">
                <a:solidFill>
                  <a:srgbClr val="1B6B3A"/>
                </a:solidFill>
                <a:latin typeface="Cambria" pitchFamily="34" charset="0"/>
                <a:ea typeface="Cambria" pitchFamily="34" charset="-122"/>
                <a:cs typeface="Cambria" pitchFamily="34" charset="-120"/>
              </a:rPr>
              <a:t>Hedef Kurumlar</a:t>
            </a:r>
            <a:endParaRPr lang="en-US" sz="1900" dirty="0"/>
          </a:p>
        </p:txBody>
      </p:sp>
      <p:sp>
        <p:nvSpPr>
          <p:cNvPr id="7" name="Shape 4"/>
          <p:cNvSpPr/>
          <p:nvPr/>
        </p:nvSpPr>
        <p:spPr>
          <a:xfrm>
            <a:off x="1014984" y="2468880"/>
            <a:ext cx="402336" cy="402336"/>
          </a:xfrm>
          <a:prstGeom prst="ellipse">
            <a:avLst/>
          </a:prstGeom>
          <a:solidFill>
            <a:srgbClr val="1B6B3A"/>
          </a:solidFill>
          <a:ln w="12700">
            <a:solidFill>
              <a:srgbClr val="1B6B3A"/>
            </a:solidFill>
            <a:prstDash val="solid"/>
          </a:ln>
        </p:spPr>
      </p:sp>
      <p:pic>
        <p:nvPicPr>
          <p:cNvPr id="8" name="Image 1" descr="img/icons/gov_w.png">    </p:cNvPr>
          <p:cNvPicPr>
            <a:picLocks noChangeAspect="1"/>
          </p:cNvPicPr>
          <p:nvPr/>
        </p:nvPicPr>
        <p:blipFill>
          <a:blip r:embed="rId2"/>
          <a:stretch>
            <a:fillRect/>
          </a:stretch>
        </p:blipFill>
        <p:spPr>
          <a:xfrm>
            <a:off x="1123615" y="2577511"/>
            <a:ext cx="185075" cy="185075"/>
          </a:xfrm>
          <a:prstGeom prst="rect">
            <a:avLst/>
          </a:prstGeom>
        </p:spPr>
      </p:pic>
      <p:sp>
        <p:nvSpPr>
          <p:cNvPr id="9" name="Text 5"/>
          <p:cNvSpPr txBox="1"/>
          <p:nvPr/>
        </p:nvSpPr>
        <p:spPr>
          <a:xfrm>
            <a:off x="1600200" y="2432304"/>
            <a:ext cx="3730752" cy="274320"/>
          </a:xfrm>
          <a:prstGeom prst="rect">
            <a:avLst/>
          </a:prstGeom>
          <a:noFill/>
          <a:ln/>
        </p:spPr>
        <p:txBody>
          <a:bodyPr wrap="square" lIns="0" tIns="0" rIns="0" bIns="0" rtlCol="0" anchor="ctr"/>
          <a:lstStyle/>
          <a:p>
            <a:pPr indent="0" marL="0">
              <a:buNone/>
            </a:pPr>
            <a:r>
              <a:rPr lang="en-US" sz="1300" b="1" dirty="0">
                <a:solidFill>
                  <a:srgbClr val="07281D"/>
                </a:solidFill>
                <a:latin typeface="Calibri" pitchFamily="34" charset="0"/>
                <a:ea typeface="Calibri" pitchFamily="34" charset="-122"/>
                <a:cs typeface="Calibri" pitchFamily="34" charset="-120"/>
              </a:rPr>
              <a:t>Kamu kurumları</a:t>
            </a:r>
            <a:endParaRPr lang="en-US" sz="1300" dirty="0"/>
          </a:p>
        </p:txBody>
      </p:sp>
      <p:sp>
        <p:nvSpPr>
          <p:cNvPr id="10" name="Text 6"/>
          <p:cNvSpPr txBox="1"/>
          <p:nvPr/>
        </p:nvSpPr>
        <p:spPr>
          <a:xfrm>
            <a:off x="1600200" y="2706624"/>
            <a:ext cx="3730752" cy="438912"/>
          </a:xfrm>
          <a:prstGeom prst="rect">
            <a:avLst/>
          </a:prstGeom>
          <a:noFill/>
          <a:ln/>
        </p:spPr>
        <p:txBody>
          <a:bodyPr wrap="square" lIns="0" tIns="0" rIns="0" bIns="0" rtlCol="0" anchor="ctr"/>
          <a:lstStyle/>
          <a:p>
            <a:pPr indent="0" marL="0">
              <a:lnSpc>
                <a:spcPts val="1400"/>
              </a:lnSpc>
              <a:buNone/>
            </a:pPr>
            <a:r>
              <a:rPr lang="en-US" sz="1100" dirty="0">
                <a:solidFill>
                  <a:srgbClr val="6F7F76"/>
                </a:solidFill>
                <a:latin typeface="Calibri" pitchFamily="34" charset="0"/>
                <a:ea typeface="Calibri" pitchFamily="34" charset="-122"/>
                <a:cs typeface="Calibri" pitchFamily="34" charset="-120"/>
              </a:rPr>
              <a:t>İtfaiye teşkilatları, belediyeler, AFAD, Orman Genel Müdürlüğü</a:t>
            </a:r>
            <a:endParaRPr lang="en-US" sz="1100" dirty="0"/>
          </a:p>
        </p:txBody>
      </p:sp>
      <p:sp>
        <p:nvSpPr>
          <p:cNvPr id="11" name="Shape 7"/>
          <p:cNvSpPr/>
          <p:nvPr/>
        </p:nvSpPr>
        <p:spPr>
          <a:xfrm>
            <a:off x="1014984" y="3310128"/>
            <a:ext cx="402336" cy="402336"/>
          </a:xfrm>
          <a:prstGeom prst="ellipse">
            <a:avLst/>
          </a:prstGeom>
          <a:solidFill>
            <a:srgbClr val="1B6B3A"/>
          </a:solidFill>
          <a:ln w="12700">
            <a:solidFill>
              <a:srgbClr val="1B6B3A"/>
            </a:solidFill>
            <a:prstDash val="solid"/>
          </a:ln>
        </p:spPr>
      </p:sp>
      <p:pic>
        <p:nvPicPr>
          <p:cNvPr id="12" name="Image 2" descr="img/icons/industry_w.png">    </p:cNvPr>
          <p:cNvPicPr>
            <a:picLocks noChangeAspect="1"/>
          </p:cNvPicPr>
          <p:nvPr/>
        </p:nvPicPr>
        <p:blipFill>
          <a:blip r:embed="rId3"/>
          <a:stretch>
            <a:fillRect/>
          </a:stretch>
        </p:blipFill>
        <p:spPr>
          <a:xfrm>
            <a:off x="1123615" y="3418759"/>
            <a:ext cx="185075" cy="185075"/>
          </a:xfrm>
          <a:prstGeom prst="rect">
            <a:avLst/>
          </a:prstGeom>
        </p:spPr>
      </p:pic>
      <p:sp>
        <p:nvSpPr>
          <p:cNvPr id="13" name="Text 8"/>
          <p:cNvSpPr txBox="1"/>
          <p:nvPr/>
        </p:nvSpPr>
        <p:spPr>
          <a:xfrm>
            <a:off x="1600200" y="3273552"/>
            <a:ext cx="3730752" cy="274320"/>
          </a:xfrm>
          <a:prstGeom prst="rect">
            <a:avLst/>
          </a:prstGeom>
          <a:noFill/>
          <a:ln/>
        </p:spPr>
        <p:txBody>
          <a:bodyPr wrap="square" lIns="0" tIns="0" rIns="0" bIns="0" rtlCol="0" anchor="ctr"/>
          <a:lstStyle/>
          <a:p>
            <a:pPr indent="0" marL="0">
              <a:buNone/>
            </a:pPr>
            <a:r>
              <a:rPr lang="en-US" sz="1300" b="1" dirty="0">
                <a:solidFill>
                  <a:srgbClr val="07281D"/>
                </a:solidFill>
                <a:latin typeface="Calibri" pitchFamily="34" charset="0"/>
                <a:ea typeface="Calibri" pitchFamily="34" charset="-122"/>
                <a:cs typeface="Calibri" pitchFamily="34" charset="-120"/>
              </a:rPr>
              <a:t>Sanayi tesisleri</a:t>
            </a:r>
            <a:endParaRPr lang="en-US" sz="1300" dirty="0"/>
          </a:p>
        </p:txBody>
      </p:sp>
      <p:sp>
        <p:nvSpPr>
          <p:cNvPr id="14" name="Text 9"/>
          <p:cNvSpPr txBox="1"/>
          <p:nvPr/>
        </p:nvSpPr>
        <p:spPr>
          <a:xfrm>
            <a:off x="1600200" y="3547872"/>
            <a:ext cx="3730752" cy="438912"/>
          </a:xfrm>
          <a:prstGeom prst="rect">
            <a:avLst/>
          </a:prstGeom>
          <a:noFill/>
          <a:ln/>
        </p:spPr>
        <p:txBody>
          <a:bodyPr wrap="square" lIns="0" tIns="0" rIns="0" bIns="0" rtlCol="0" anchor="ctr"/>
          <a:lstStyle/>
          <a:p>
            <a:pPr indent="0" marL="0">
              <a:lnSpc>
                <a:spcPts val="1400"/>
              </a:lnSpc>
              <a:buNone/>
            </a:pPr>
            <a:r>
              <a:rPr lang="en-US" sz="1100" dirty="0">
                <a:solidFill>
                  <a:srgbClr val="6F7F76"/>
                </a:solidFill>
                <a:latin typeface="Calibri" pitchFamily="34" charset="0"/>
                <a:ea typeface="Calibri" pitchFamily="34" charset="-122"/>
                <a:cs typeface="Calibri" pitchFamily="34" charset="-120"/>
              </a:rPr>
              <a:t>Üretim tesisleri, kimya ve gıda fabrikaları</a:t>
            </a:r>
            <a:endParaRPr lang="en-US" sz="1100" dirty="0"/>
          </a:p>
        </p:txBody>
      </p:sp>
      <p:sp>
        <p:nvSpPr>
          <p:cNvPr id="15" name="Shape 10"/>
          <p:cNvSpPr/>
          <p:nvPr/>
        </p:nvSpPr>
        <p:spPr>
          <a:xfrm>
            <a:off x="1014984" y="4151376"/>
            <a:ext cx="402336" cy="402336"/>
          </a:xfrm>
          <a:prstGeom prst="ellipse">
            <a:avLst/>
          </a:prstGeom>
          <a:solidFill>
            <a:srgbClr val="1B6B3A"/>
          </a:solidFill>
          <a:ln w="12700">
            <a:solidFill>
              <a:srgbClr val="1B6B3A"/>
            </a:solidFill>
            <a:prstDash val="solid"/>
          </a:ln>
        </p:spPr>
      </p:sp>
      <p:pic>
        <p:nvPicPr>
          <p:cNvPr id="16" name="Image 3" descr="img/icons/truck_w.png">    </p:cNvPr>
          <p:cNvPicPr>
            <a:picLocks noChangeAspect="1"/>
          </p:cNvPicPr>
          <p:nvPr/>
        </p:nvPicPr>
        <p:blipFill>
          <a:blip r:embed="rId4"/>
          <a:stretch>
            <a:fillRect/>
          </a:stretch>
        </p:blipFill>
        <p:spPr>
          <a:xfrm>
            <a:off x="1123615" y="4260007"/>
            <a:ext cx="185075" cy="185075"/>
          </a:xfrm>
          <a:prstGeom prst="rect">
            <a:avLst/>
          </a:prstGeom>
        </p:spPr>
      </p:pic>
      <p:sp>
        <p:nvSpPr>
          <p:cNvPr id="17" name="Text 11"/>
          <p:cNvSpPr txBox="1"/>
          <p:nvPr/>
        </p:nvSpPr>
        <p:spPr>
          <a:xfrm>
            <a:off x="1600200" y="4114800"/>
            <a:ext cx="3730752" cy="274320"/>
          </a:xfrm>
          <a:prstGeom prst="rect">
            <a:avLst/>
          </a:prstGeom>
          <a:noFill/>
          <a:ln/>
        </p:spPr>
        <p:txBody>
          <a:bodyPr wrap="square" lIns="0" tIns="0" rIns="0" bIns="0" rtlCol="0" anchor="ctr"/>
          <a:lstStyle/>
          <a:p>
            <a:pPr indent="0" marL="0">
              <a:buNone/>
            </a:pPr>
            <a:r>
              <a:rPr lang="en-US" sz="1300" b="1" dirty="0">
                <a:solidFill>
                  <a:srgbClr val="07281D"/>
                </a:solidFill>
                <a:latin typeface="Calibri" pitchFamily="34" charset="0"/>
                <a:ea typeface="Calibri" pitchFamily="34" charset="-122"/>
                <a:cs typeface="Calibri" pitchFamily="34" charset="-120"/>
              </a:rPr>
              <a:t>Lojistik merkezleri</a:t>
            </a:r>
            <a:endParaRPr lang="en-US" sz="1300" dirty="0"/>
          </a:p>
        </p:txBody>
      </p:sp>
      <p:sp>
        <p:nvSpPr>
          <p:cNvPr id="18" name="Text 12"/>
          <p:cNvSpPr txBox="1"/>
          <p:nvPr/>
        </p:nvSpPr>
        <p:spPr>
          <a:xfrm>
            <a:off x="1600200" y="4389120"/>
            <a:ext cx="3730752" cy="438912"/>
          </a:xfrm>
          <a:prstGeom prst="rect">
            <a:avLst/>
          </a:prstGeom>
          <a:noFill/>
          <a:ln/>
        </p:spPr>
        <p:txBody>
          <a:bodyPr wrap="square" lIns="0" tIns="0" rIns="0" bIns="0" rtlCol="0" anchor="ctr"/>
          <a:lstStyle/>
          <a:p>
            <a:pPr indent="0" marL="0">
              <a:lnSpc>
                <a:spcPts val="1400"/>
              </a:lnSpc>
              <a:buNone/>
            </a:pPr>
            <a:r>
              <a:rPr lang="en-US" sz="1100" dirty="0">
                <a:solidFill>
                  <a:srgbClr val="6F7F76"/>
                </a:solidFill>
                <a:latin typeface="Calibri" pitchFamily="34" charset="0"/>
                <a:ea typeface="Calibri" pitchFamily="34" charset="-122"/>
                <a:cs typeface="Calibri" pitchFamily="34" charset="-120"/>
              </a:rPr>
              <a:t>Depo, antrepo ve dağıtım merkezleri</a:t>
            </a:r>
            <a:endParaRPr lang="en-US" sz="1100" dirty="0"/>
          </a:p>
        </p:txBody>
      </p:sp>
      <p:sp>
        <p:nvSpPr>
          <p:cNvPr id="19" name="Shape 13"/>
          <p:cNvSpPr/>
          <p:nvPr/>
        </p:nvSpPr>
        <p:spPr>
          <a:xfrm>
            <a:off x="1014984" y="4992624"/>
            <a:ext cx="402336" cy="402336"/>
          </a:xfrm>
          <a:prstGeom prst="ellipse">
            <a:avLst/>
          </a:prstGeom>
          <a:solidFill>
            <a:srgbClr val="1B6B3A"/>
          </a:solidFill>
          <a:ln w="12700">
            <a:solidFill>
              <a:srgbClr val="1B6B3A"/>
            </a:solidFill>
            <a:prstDash val="solid"/>
          </a:ln>
        </p:spPr>
      </p:sp>
      <p:pic>
        <p:nvPicPr>
          <p:cNvPr id="20" name="Image 4" descr="img/icons/bolt_w.png">    </p:cNvPr>
          <p:cNvPicPr>
            <a:picLocks noChangeAspect="1"/>
          </p:cNvPicPr>
          <p:nvPr/>
        </p:nvPicPr>
        <p:blipFill>
          <a:blip r:embed="rId5"/>
          <a:stretch>
            <a:fillRect/>
          </a:stretch>
        </p:blipFill>
        <p:spPr>
          <a:xfrm>
            <a:off x="1123615" y="5101255"/>
            <a:ext cx="185075" cy="185075"/>
          </a:xfrm>
          <a:prstGeom prst="rect">
            <a:avLst/>
          </a:prstGeom>
        </p:spPr>
      </p:pic>
      <p:sp>
        <p:nvSpPr>
          <p:cNvPr id="21" name="Text 14"/>
          <p:cNvSpPr txBox="1"/>
          <p:nvPr/>
        </p:nvSpPr>
        <p:spPr>
          <a:xfrm>
            <a:off x="1600200" y="4956048"/>
            <a:ext cx="3730752" cy="274320"/>
          </a:xfrm>
          <a:prstGeom prst="rect">
            <a:avLst/>
          </a:prstGeom>
          <a:noFill/>
          <a:ln/>
        </p:spPr>
        <p:txBody>
          <a:bodyPr wrap="square" lIns="0" tIns="0" rIns="0" bIns="0" rtlCol="0" anchor="ctr"/>
          <a:lstStyle/>
          <a:p>
            <a:pPr indent="0" marL="0">
              <a:buNone/>
            </a:pPr>
            <a:r>
              <a:rPr lang="en-US" sz="1300" b="1" dirty="0">
                <a:solidFill>
                  <a:srgbClr val="07281D"/>
                </a:solidFill>
                <a:latin typeface="Calibri" pitchFamily="34" charset="0"/>
                <a:ea typeface="Calibri" pitchFamily="34" charset="-122"/>
                <a:cs typeface="Calibri" pitchFamily="34" charset="-120"/>
              </a:rPr>
              <a:t>Enerji santralleri</a:t>
            </a:r>
            <a:endParaRPr lang="en-US" sz="1300" dirty="0"/>
          </a:p>
        </p:txBody>
      </p:sp>
      <p:sp>
        <p:nvSpPr>
          <p:cNvPr id="22" name="Text 15"/>
          <p:cNvSpPr txBox="1"/>
          <p:nvPr/>
        </p:nvSpPr>
        <p:spPr>
          <a:xfrm>
            <a:off x="1600200" y="5230368"/>
            <a:ext cx="3730752" cy="438912"/>
          </a:xfrm>
          <a:prstGeom prst="rect">
            <a:avLst/>
          </a:prstGeom>
          <a:noFill/>
          <a:ln/>
        </p:spPr>
        <p:txBody>
          <a:bodyPr wrap="square" lIns="0" tIns="0" rIns="0" bIns="0" rtlCol="0" anchor="ctr"/>
          <a:lstStyle/>
          <a:p>
            <a:pPr indent="0" marL="0">
              <a:lnSpc>
                <a:spcPts val="1400"/>
              </a:lnSpc>
              <a:buNone/>
            </a:pPr>
            <a:r>
              <a:rPr lang="en-US" sz="1100" dirty="0">
                <a:solidFill>
                  <a:srgbClr val="6F7F76"/>
                </a:solidFill>
                <a:latin typeface="Calibri" pitchFamily="34" charset="0"/>
                <a:ea typeface="Calibri" pitchFamily="34" charset="-122"/>
                <a:cs typeface="Calibri" pitchFamily="34" charset="-120"/>
              </a:rPr>
              <a:t>Üretim ve dağıtım tesisleri, batarya depoları</a:t>
            </a:r>
            <a:endParaRPr lang="en-US" sz="1100" dirty="0"/>
          </a:p>
        </p:txBody>
      </p:sp>
      <p:sp>
        <p:nvSpPr>
          <p:cNvPr id="23" name="Shape 16"/>
          <p:cNvSpPr/>
          <p:nvPr/>
        </p:nvSpPr>
        <p:spPr>
          <a:xfrm>
            <a:off x="6355080" y="1627632"/>
            <a:ext cx="4974336" cy="4114800"/>
          </a:xfrm>
          <a:prstGeom prst="roundRect">
            <a:avLst>
              <a:gd name="adj" fmla="val 2444"/>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24" name="Text 17"/>
          <p:cNvSpPr txBox="1"/>
          <p:nvPr/>
        </p:nvSpPr>
        <p:spPr>
          <a:xfrm>
            <a:off x="6684264" y="1901952"/>
            <a:ext cx="4315968" cy="347472"/>
          </a:xfrm>
          <a:prstGeom prst="rect">
            <a:avLst/>
          </a:prstGeom>
          <a:noFill/>
          <a:ln/>
        </p:spPr>
        <p:txBody>
          <a:bodyPr wrap="square" lIns="0" tIns="0" rIns="0" bIns="0" rtlCol="0" anchor="ctr"/>
          <a:lstStyle/>
          <a:p>
            <a:pPr indent="0" marL="0">
              <a:buNone/>
            </a:pPr>
            <a:r>
              <a:rPr lang="en-US" sz="1900" b="1" dirty="0">
                <a:solidFill>
                  <a:srgbClr val="F07818"/>
                </a:solidFill>
                <a:latin typeface="Cambria" pitchFamily="34" charset="0"/>
                <a:ea typeface="Cambria" pitchFamily="34" charset="-122"/>
                <a:cs typeface="Cambria" pitchFamily="34" charset="-120"/>
              </a:rPr>
              <a:t>Kullanıcı Profilleri</a:t>
            </a:r>
            <a:endParaRPr lang="en-US" sz="1900" dirty="0"/>
          </a:p>
        </p:txBody>
      </p:sp>
      <p:sp>
        <p:nvSpPr>
          <p:cNvPr id="25" name="Shape 18"/>
          <p:cNvSpPr/>
          <p:nvPr/>
        </p:nvSpPr>
        <p:spPr>
          <a:xfrm>
            <a:off x="6684264" y="2468880"/>
            <a:ext cx="402336" cy="402336"/>
          </a:xfrm>
          <a:prstGeom prst="ellipse">
            <a:avLst/>
          </a:prstGeom>
          <a:solidFill>
            <a:srgbClr val="F07818"/>
          </a:solidFill>
          <a:ln w="12700">
            <a:solidFill>
              <a:srgbClr val="F07818"/>
            </a:solidFill>
            <a:prstDash val="solid"/>
          </a:ln>
        </p:spPr>
      </p:sp>
      <p:pic>
        <p:nvPicPr>
          <p:cNvPr id="26" name="Image 5" descr="img/icons/helmet_w.png">    </p:cNvPr>
          <p:cNvPicPr>
            <a:picLocks noChangeAspect="1"/>
          </p:cNvPicPr>
          <p:nvPr/>
        </p:nvPicPr>
        <p:blipFill>
          <a:blip r:embed="rId6"/>
          <a:stretch>
            <a:fillRect/>
          </a:stretch>
        </p:blipFill>
        <p:spPr>
          <a:xfrm>
            <a:off x="6792895" y="2577511"/>
            <a:ext cx="185075" cy="185075"/>
          </a:xfrm>
          <a:prstGeom prst="rect">
            <a:avLst/>
          </a:prstGeom>
        </p:spPr>
      </p:pic>
      <p:sp>
        <p:nvSpPr>
          <p:cNvPr id="27" name="Text 19"/>
          <p:cNvSpPr txBox="1"/>
          <p:nvPr/>
        </p:nvSpPr>
        <p:spPr>
          <a:xfrm>
            <a:off x="7269480" y="2432304"/>
            <a:ext cx="3730752" cy="274320"/>
          </a:xfrm>
          <a:prstGeom prst="rect">
            <a:avLst/>
          </a:prstGeom>
          <a:noFill/>
          <a:ln/>
        </p:spPr>
        <p:txBody>
          <a:bodyPr wrap="square" lIns="0" tIns="0" rIns="0" bIns="0" rtlCol="0" anchor="ctr"/>
          <a:lstStyle/>
          <a:p>
            <a:pPr indent="0" marL="0">
              <a:buNone/>
            </a:pPr>
            <a:r>
              <a:rPr lang="en-US" sz="1300" b="1" dirty="0">
                <a:solidFill>
                  <a:srgbClr val="07281D"/>
                </a:solidFill>
                <a:latin typeface="Calibri" pitchFamily="34" charset="0"/>
                <a:ea typeface="Calibri" pitchFamily="34" charset="-122"/>
                <a:cs typeface="Calibri" pitchFamily="34" charset="-120"/>
              </a:rPr>
              <a:t>Tesis yöneticileri</a:t>
            </a:r>
            <a:endParaRPr lang="en-US" sz="1300" dirty="0"/>
          </a:p>
        </p:txBody>
      </p:sp>
      <p:sp>
        <p:nvSpPr>
          <p:cNvPr id="28" name="Text 20"/>
          <p:cNvSpPr txBox="1"/>
          <p:nvPr/>
        </p:nvSpPr>
        <p:spPr>
          <a:xfrm>
            <a:off x="7269480" y="2706624"/>
            <a:ext cx="3730752" cy="438912"/>
          </a:xfrm>
          <a:prstGeom prst="rect">
            <a:avLst/>
          </a:prstGeom>
          <a:noFill/>
          <a:ln/>
        </p:spPr>
        <p:txBody>
          <a:bodyPr wrap="square" lIns="0" tIns="0" rIns="0" bIns="0" rtlCol="0" anchor="ctr"/>
          <a:lstStyle/>
          <a:p>
            <a:pPr indent="0" marL="0">
              <a:lnSpc>
                <a:spcPts val="1400"/>
              </a:lnSpc>
              <a:buNone/>
            </a:pPr>
            <a:r>
              <a:rPr lang="en-US" sz="1100" dirty="0">
                <a:solidFill>
                  <a:srgbClr val="6F7F76"/>
                </a:solidFill>
                <a:latin typeface="Calibri" pitchFamily="34" charset="0"/>
                <a:ea typeface="Calibri" pitchFamily="34" charset="-122"/>
                <a:cs typeface="Calibri" pitchFamily="34" charset="-120"/>
              </a:rPr>
              <a:t>Yangın güvenliği yatırımından sorumlu karar vericiler</a:t>
            </a:r>
            <a:endParaRPr lang="en-US" sz="1100" dirty="0"/>
          </a:p>
        </p:txBody>
      </p:sp>
      <p:sp>
        <p:nvSpPr>
          <p:cNvPr id="29" name="Shape 21"/>
          <p:cNvSpPr/>
          <p:nvPr/>
        </p:nvSpPr>
        <p:spPr>
          <a:xfrm>
            <a:off x="6684264" y="3310128"/>
            <a:ext cx="402336" cy="402336"/>
          </a:xfrm>
          <a:prstGeom prst="ellipse">
            <a:avLst/>
          </a:prstGeom>
          <a:solidFill>
            <a:srgbClr val="F07818"/>
          </a:solidFill>
          <a:ln w="12700">
            <a:solidFill>
              <a:srgbClr val="F07818"/>
            </a:solidFill>
            <a:prstDash val="solid"/>
          </a:ln>
        </p:spPr>
      </p:sp>
      <p:pic>
        <p:nvPicPr>
          <p:cNvPr id="30" name="Image 6" descr="img/icons/clipboard_w.png">    </p:cNvPr>
          <p:cNvPicPr>
            <a:picLocks noChangeAspect="1"/>
          </p:cNvPicPr>
          <p:nvPr/>
        </p:nvPicPr>
        <p:blipFill>
          <a:blip r:embed="rId7"/>
          <a:stretch>
            <a:fillRect/>
          </a:stretch>
        </p:blipFill>
        <p:spPr>
          <a:xfrm>
            <a:off x="6792895" y="3418759"/>
            <a:ext cx="185075" cy="185075"/>
          </a:xfrm>
          <a:prstGeom prst="rect">
            <a:avLst/>
          </a:prstGeom>
        </p:spPr>
      </p:pic>
      <p:sp>
        <p:nvSpPr>
          <p:cNvPr id="31" name="Text 22"/>
          <p:cNvSpPr txBox="1"/>
          <p:nvPr/>
        </p:nvSpPr>
        <p:spPr>
          <a:xfrm>
            <a:off x="7269480" y="3273552"/>
            <a:ext cx="3730752" cy="274320"/>
          </a:xfrm>
          <a:prstGeom prst="rect">
            <a:avLst/>
          </a:prstGeom>
          <a:noFill/>
          <a:ln/>
        </p:spPr>
        <p:txBody>
          <a:bodyPr wrap="square" lIns="0" tIns="0" rIns="0" bIns="0" rtlCol="0" anchor="ctr"/>
          <a:lstStyle/>
          <a:p>
            <a:pPr indent="0" marL="0">
              <a:buNone/>
            </a:pPr>
            <a:r>
              <a:rPr lang="en-US" sz="1300" b="1" dirty="0">
                <a:solidFill>
                  <a:srgbClr val="07281D"/>
                </a:solidFill>
                <a:latin typeface="Calibri" pitchFamily="34" charset="0"/>
                <a:ea typeface="Calibri" pitchFamily="34" charset="-122"/>
                <a:cs typeface="Calibri" pitchFamily="34" charset="-120"/>
              </a:rPr>
              <a:t>Satın alma sorumluları</a:t>
            </a:r>
            <a:endParaRPr lang="en-US" sz="1300" dirty="0"/>
          </a:p>
        </p:txBody>
      </p:sp>
      <p:sp>
        <p:nvSpPr>
          <p:cNvPr id="32" name="Text 23"/>
          <p:cNvSpPr txBox="1"/>
          <p:nvPr/>
        </p:nvSpPr>
        <p:spPr>
          <a:xfrm>
            <a:off x="7269480" y="3547872"/>
            <a:ext cx="3730752" cy="438912"/>
          </a:xfrm>
          <a:prstGeom prst="rect">
            <a:avLst/>
          </a:prstGeom>
          <a:noFill/>
          <a:ln/>
        </p:spPr>
        <p:txBody>
          <a:bodyPr wrap="square" lIns="0" tIns="0" rIns="0" bIns="0" rtlCol="0" anchor="ctr"/>
          <a:lstStyle/>
          <a:p>
            <a:pPr indent="0" marL="0">
              <a:lnSpc>
                <a:spcPts val="1400"/>
              </a:lnSpc>
              <a:buNone/>
            </a:pPr>
            <a:r>
              <a:rPr lang="en-US" sz="1100" dirty="0">
                <a:solidFill>
                  <a:srgbClr val="6F7F76"/>
                </a:solidFill>
                <a:latin typeface="Calibri" pitchFamily="34" charset="0"/>
                <a:ea typeface="Calibri" pitchFamily="34" charset="-122"/>
                <a:cs typeface="Calibri" pitchFamily="34" charset="-120"/>
              </a:rPr>
              <a:t>Güvenlik ekipmanı tedarik eden birimler</a:t>
            </a:r>
            <a:endParaRPr lang="en-US" sz="1100" dirty="0"/>
          </a:p>
        </p:txBody>
      </p:sp>
      <p:sp>
        <p:nvSpPr>
          <p:cNvPr id="33" name="Shape 24"/>
          <p:cNvSpPr/>
          <p:nvPr/>
        </p:nvSpPr>
        <p:spPr>
          <a:xfrm>
            <a:off x="6684264" y="4151376"/>
            <a:ext cx="402336" cy="402336"/>
          </a:xfrm>
          <a:prstGeom prst="ellipse">
            <a:avLst/>
          </a:prstGeom>
          <a:solidFill>
            <a:srgbClr val="F07818"/>
          </a:solidFill>
          <a:ln w="12700">
            <a:solidFill>
              <a:srgbClr val="F07818"/>
            </a:solidFill>
            <a:prstDash val="solid"/>
          </a:ln>
        </p:spPr>
      </p:sp>
      <p:pic>
        <p:nvPicPr>
          <p:cNvPr id="34" name="Image 7" descr="img/icons/shield_w.png">    </p:cNvPr>
          <p:cNvPicPr>
            <a:picLocks noChangeAspect="1"/>
          </p:cNvPicPr>
          <p:nvPr/>
        </p:nvPicPr>
        <p:blipFill>
          <a:blip r:embed="rId8"/>
          <a:stretch>
            <a:fillRect/>
          </a:stretch>
        </p:blipFill>
        <p:spPr>
          <a:xfrm>
            <a:off x="6792895" y="4260007"/>
            <a:ext cx="185075" cy="185075"/>
          </a:xfrm>
          <a:prstGeom prst="rect">
            <a:avLst/>
          </a:prstGeom>
        </p:spPr>
      </p:pic>
      <p:sp>
        <p:nvSpPr>
          <p:cNvPr id="35" name="Text 25"/>
          <p:cNvSpPr txBox="1"/>
          <p:nvPr/>
        </p:nvSpPr>
        <p:spPr>
          <a:xfrm>
            <a:off x="7269480" y="4114800"/>
            <a:ext cx="3730752" cy="274320"/>
          </a:xfrm>
          <a:prstGeom prst="rect">
            <a:avLst/>
          </a:prstGeom>
          <a:noFill/>
          <a:ln/>
        </p:spPr>
        <p:txBody>
          <a:bodyPr wrap="square" lIns="0" tIns="0" rIns="0" bIns="0" rtlCol="0" anchor="ctr"/>
          <a:lstStyle/>
          <a:p>
            <a:pPr indent="0" marL="0">
              <a:buNone/>
            </a:pPr>
            <a:r>
              <a:rPr lang="en-US" sz="1300" b="1" dirty="0">
                <a:solidFill>
                  <a:srgbClr val="07281D"/>
                </a:solidFill>
                <a:latin typeface="Calibri" pitchFamily="34" charset="0"/>
                <a:ea typeface="Calibri" pitchFamily="34" charset="-122"/>
                <a:cs typeface="Calibri" pitchFamily="34" charset="-120"/>
              </a:rPr>
              <a:t>İş güvenliği uzmanları</a:t>
            </a:r>
            <a:endParaRPr lang="en-US" sz="1300" dirty="0"/>
          </a:p>
        </p:txBody>
      </p:sp>
      <p:sp>
        <p:nvSpPr>
          <p:cNvPr id="36" name="Text 26"/>
          <p:cNvSpPr txBox="1"/>
          <p:nvPr/>
        </p:nvSpPr>
        <p:spPr>
          <a:xfrm>
            <a:off x="7269480" y="4389120"/>
            <a:ext cx="3730752" cy="438912"/>
          </a:xfrm>
          <a:prstGeom prst="rect">
            <a:avLst/>
          </a:prstGeom>
          <a:noFill/>
          <a:ln/>
        </p:spPr>
        <p:txBody>
          <a:bodyPr wrap="square" lIns="0" tIns="0" rIns="0" bIns="0" rtlCol="0" anchor="ctr"/>
          <a:lstStyle/>
          <a:p>
            <a:pPr indent="0" marL="0">
              <a:lnSpc>
                <a:spcPts val="1400"/>
              </a:lnSpc>
              <a:buNone/>
            </a:pPr>
            <a:r>
              <a:rPr lang="en-US" sz="1100" dirty="0">
                <a:solidFill>
                  <a:srgbClr val="6F7F76"/>
                </a:solidFill>
                <a:latin typeface="Calibri" pitchFamily="34" charset="0"/>
                <a:ea typeface="Calibri" pitchFamily="34" charset="-122"/>
                <a:cs typeface="Calibri" pitchFamily="34" charset="-120"/>
              </a:rPr>
              <a:t>EHS (Çevre–Sağlık–Güvenlik) personeli</a:t>
            </a:r>
            <a:endParaRPr lang="en-US" sz="1100" dirty="0"/>
          </a:p>
        </p:txBody>
      </p:sp>
      <p:sp>
        <p:nvSpPr>
          <p:cNvPr id="37" name="Shape 27"/>
          <p:cNvSpPr/>
          <p:nvPr/>
        </p:nvSpPr>
        <p:spPr>
          <a:xfrm>
            <a:off x="6684264" y="4992624"/>
            <a:ext cx="402336" cy="402336"/>
          </a:xfrm>
          <a:prstGeom prst="ellipse">
            <a:avLst/>
          </a:prstGeom>
          <a:solidFill>
            <a:srgbClr val="F07818"/>
          </a:solidFill>
          <a:ln w="12700">
            <a:solidFill>
              <a:srgbClr val="F07818"/>
            </a:solidFill>
            <a:prstDash val="solid"/>
          </a:ln>
        </p:spPr>
      </p:sp>
      <p:pic>
        <p:nvPicPr>
          <p:cNvPr id="38" name="Image 8" descr="img/icons/extinguisher_w.png">    </p:cNvPr>
          <p:cNvPicPr>
            <a:picLocks noChangeAspect="1"/>
          </p:cNvPicPr>
          <p:nvPr/>
        </p:nvPicPr>
        <p:blipFill>
          <a:blip r:embed="rId9"/>
          <a:stretch>
            <a:fillRect/>
          </a:stretch>
        </p:blipFill>
        <p:spPr>
          <a:xfrm>
            <a:off x="6792895" y="5101255"/>
            <a:ext cx="185075" cy="185075"/>
          </a:xfrm>
          <a:prstGeom prst="rect">
            <a:avLst/>
          </a:prstGeom>
        </p:spPr>
      </p:pic>
      <p:sp>
        <p:nvSpPr>
          <p:cNvPr id="39" name="Text 28"/>
          <p:cNvSpPr txBox="1"/>
          <p:nvPr/>
        </p:nvSpPr>
        <p:spPr>
          <a:xfrm>
            <a:off x="7269480" y="4956048"/>
            <a:ext cx="3730752" cy="274320"/>
          </a:xfrm>
          <a:prstGeom prst="rect">
            <a:avLst/>
          </a:prstGeom>
          <a:noFill/>
          <a:ln/>
        </p:spPr>
        <p:txBody>
          <a:bodyPr wrap="square" lIns="0" tIns="0" rIns="0" bIns="0" rtlCol="0" anchor="ctr"/>
          <a:lstStyle/>
          <a:p>
            <a:pPr indent="0" marL="0">
              <a:buNone/>
            </a:pPr>
            <a:r>
              <a:rPr lang="en-US" sz="1300" b="1" dirty="0">
                <a:solidFill>
                  <a:srgbClr val="07281D"/>
                </a:solidFill>
                <a:latin typeface="Calibri" pitchFamily="34" charset="0"/>
                <a:ea typeface="Calibri" pitchFamily="34" charset="-122"/>
                <a:cs typeface="Calibri" pitchFamily="34" charset="-120"/>
              </a:rPr>
              <a:t>Yangın uzmanları</a:t>
            </a:r>
            <a:endParaRPr lang="en-US" sz="1300" dirty="0"/>
          </a:p>
        </p:txBody>
      </p:sp>
      <p:sp>
        <p:nvSpPr>
          <p:cNvPr id="40" name="Text 29"/>
          <p:cNvSpPr txBox="1"/>
          <p:nvPr/>
        </p:nvSpPr>
        <p:spPr>
          <a:xfrm>
            <a:off x="7269480" y="5230368"/>
            <a:ext cx="3730752" cy="438912"/>
          </a:xfrm>
          <a:prstGeom prst="rect">
            <a:avLst/>
          </a:prstGeom>
          <a:noFill/>
          <a:ln/>
        </p:spPr>
        <p:txBody>
          <a:bodyPr wrap="square" lIns="0" tIns="0" rIns="0" bIns="0" rtlCol="0" anchor="ctr"/>
          <a:lstStyle/>
          <a:p>
            <a:pPr indent="0" marL="0">
              <a:lnSpc>
                <a:spcPts val="1400"/>
              </a:lnSpc>
              <a:buNone/>
            </a:pPr>
            <a:r>
              <a:rPr lang="en-US" sz="1100" dirty="0">
                <a:solidFill>
                  <a:srgbClr val="6F7F76"/>
                </a:solidFill>
                <a:latin typeface="Calibri" pitchFamily="34" charset="0"/>
                <a:ea typeface="Calibri" pitchFamily="34" charset="-122"/>
                <a:cs typeface="Calibri" pitchFamily="34" charset="-120"/>
              </a:rPr>
              <a:t>İtfaiye ekipleri ve yangın güvenliği danışmanları</a:t>
            </a:r>
            <a:endParaRPr lang="en-US" sz="1100" dirty="0"/>
          </a:p>
        </p:txBody>
      </p:sp>
      <p:sp>
        <p:nvSpPr>
          <p:cNvPr id="41" name="Text 30"/>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14</a:t>
            </a:r>
            <a:endParaRPr lang="en-US" sz="1000" dirty="0"/>
          </a:p>
        </p:txBody>
      </p:sp>
      <p:sp>
        <p:nvSpPr>
          <p:cNvPr id="42" name="Text 31"/>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PLAN</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12 Aylık Yol Haritası</a:t>
            </a:r>
            <a:endParaRPr lang="en-US" sz="3300" dirty="0"/>
          </a:p>
        </p:txBody>
      </p:sp>
      <p:sp>
        <p:nvSpPr>
          <p:cNvPr id="5" name="Shape 2"/>
          <p:cNvSpPr/>
          <p:nvPr/>
        </p:nvSpPr>
        <p:spPr>
          <a:xfrm>
            <a:off x="685800" y="1700784"/>
            <a:ext cx="2512771" cy="3566160"/>
          </a:xfrm>
          <a:prstGeom prst="roundRect">
            <a:avLst>
              <a:gd name="adj" fmla="val 4003"/>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6" name="Shape 3"/>
          <p:cNvSpPr/>
          <p:nvPr/>
        </p:nvSpPr>
        <p:spPr>
          <a:xfrm>
            <a:off x="960120" y="1975104"/>
            <a:ext cx="548640" cy="548640"/>
          </a:xfrm>
          <a:prstGeom prst="ellipse">
            <a:avLst/>
          </a:prstGeom>
          <a:solidFill>
            <a:srgbClr val="1B6B3A"/>
          </a:solidFill>
          <a:ln w="12700">
            <a:solidFill>
              <a:srgbClr val="1B6B3A"/>
            </a:solidFill>
            <a:prstDash val="solid"/>
          </a:ln>
        </p:spPr>
      </p:sp>
      <p:sp>
        <p:nvSpPr>
          <p:cNvPr id="7" name="Text 4"/>
          <p:cNvSpPr txBox="1"/>
          <p:nvPr/>
        </p:nvSpPr>
        <p:spPr>
          <a:xfrm>
            <a:off x="960120" y="19751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Q1</a:t>
            </a:r>
            <a:endParaRPr lang="en-US" sz="1600" dirty="0"/>
          </a:p>
        </p:txBody>
      </p:sp>
      <p:sp>
        <p:nvSpPr>
          <p:cNvPr id="8" name="Text 5"/>
          <p:cNvSpPr txBox="1"/>
          <p:nvPr/>
        </p:nvSpPr>
        <p:spPr>
          <a:xfrm>
            <a:off x="960120" y="2651760"/>
            <a:ext cx="1964131" cy="237744"/>
          </a:xfrm>
          <a:prstGeom prst="rect">
            <a:avLst/>
          </a:prstGeom>
          <a:noFill/>
          <a:ln/>
        </p:spPr>
        <p:txBody>
          <a:bodyPr wrap="square" lIns="0" tIns="0" rIns="0" bIns="0" rtlCol="0" anchor="ctr"/>
          <a:lstStyle/>
          <a:p>
            <a:pPr indent="0" marL="0">
              <a:buNone/>
            </a:pPr>
            <a:r>
              <a:rPr lang="en-US" sz="1050" b="1" spc="120" kern="0" dirty="0">
                <a:solidFill>
                  <a:srgbClr val="6F7F76"/>
                </a:solidFill>
                <a:latin typeface="Calibri" pitchFamily="34" charset="0"/>
                <a:ea typeface="Calibri" pitchFamily="34" charset="-122"/>
                <a:cs typeface="Calibri" pitchFamily="34" charset="-120"/>
              </a:rPr>
              <a:t>Haz – Eyl 2026</a:t>
            </a:r>
            <a:endParaRPr lang="en-US" sz="1050" dirty="0"/>
          </a:p>
        </p:txBody>
      </p:sp>
      <p:sp>
        <p:nvSpPr>
          <p:cNvPr id="9" name="Text 6"/>
          <p:cNvSpPr txBox="1"/>
          <p:nvPr/>
        </p:nvSpPr>
        <p:spPr>
          <a:xfrm>
            <a:off x="960120" y="2907792"/>
            <a:ext cx="1964131" cy="457200"/>
          </a:xfrm>
          <a:prstGeom prst="rect">
            <a:avLst/>
          </a:prstGeom>
          <a:noFill/>
          <a:ln/>
        </p:spPr>
        <p:txBody>
          <a:bodyPr wrap="square" lIns="0" tIns="0" rIns="0" bIns="0" rtlCol="0" anchor="ctr"/>
          <a:lstStyle/>
          <a:p>
            <a:pPr indent="0" marL="0">
              <a:buNone/>
            </a:pPr>
            <a:r>
              <a:rPr lang="en-US" sz="1600" b="1" dirty="0">
                <a:solidFill>
                  <a:srgbClr val="07281D"/>
                </a:solidFill>
                <a:latin typeface="Cambria" pitchFamily="34" charset="0"/>
                <a:ea typeface="Cambria" pitchFamily="34" charset="-122"/>
                <a:cs typeface="Cambria" pitchFamily="34" charset="-120"/>
              </a:rPr>
              <a:t>Saha testleri</a:t>
            </a:r>
            <a:endParaRPr lang="en-US" sz="1600" dirty="0"/>
          </a:p>
        </p:txBody>
      </p:sp>
      <p:sp>
        <p:nvSpPr>
          <p:cNvPr id="10" name="Text 7"/>
          <p:cNvSpPr txBox="1"/>
          <p:nvPr/>
        </p:nvSpPr>
        <p:spPr>
          <a:xfrm>
            <a:off x="960120" y="3438144"/>
            <a:ext cx="1964131" cy="786384"/>
          </a:xfrm>
          <a:prstGeom prst="rect">
            <a:avLst/>
          </a:prstGeom>
          <a:noFill/>
          <a:ln/>
        </p:spPr>
        <p:txBody>
          <a:bodyPr wrap="square" lIns="0" tIns="0" rIns="0" bIns="0" rtlCol="0" anchor="ctr"/>
          <a:lstStyle/>
          <a:p>
            <a:pPr indent="0" marL="0">
              <a:lnSpc>
                <a:spcPts val="1500"/>
              </a:lnSpc>
              <a:buNone/>
            </a:pPr>
            <a:r>
              <a:rPr lang="en-US" sz="1150" dirty="0">
                <a:solidFill>
                  <a:srgbClr val="6F7F76"/>
                </a:solidFill>
                <a:latin typeface="Calibri" pitchFamily="34" charset="0"/>
                <a:ea typeface="Calibri" pitchFamily="34" charset="-122"/>
                <a:cs typeface="Calibri" pitchFamily="34" charset="-120"/>
              </a:rPr>
              <a:t>Bursa İtfaiye tatbikat sahasında kontrollü testler</a:t>
            </a:r>
            <a:endParaRPr lang="en-US" sz="1150" dirty="0"/>
          </a:p>
        </p:txBody>
      </p:sp>
      <p:sp>
        <p:nvSpPr>
          <p:cNvPr id="11" name="Text 8"/>
          <p:cNvSpPr txBox="1"/>
          <p:nvPr/>
        </p:nvSpPr>
        <p:spPr>
          <a:xfrm>
            <a:off x="960120" y="4261104"/>
            <a:ext cx="1964131" cy="219456"/>
          </a:xfrm>
          <a:prstGeom prst="rect">
            <a:avLst/>
          </a:prstGeom>
          <a:noFill/>
          <a:ln/>
        </p:spPr>
        <p:txBody>
          <a:bodyPr wrap="square" lIns="0" tIns="0" rIns="0" bIns="0" rtlCol="0" anchor="ctr"/>
          <a:lstStyle/>
          <a:p>
            <a:pPr indent="0" marL="0">
              <a:buNone/>
            </a:pPr>
            <a:r>
              <a:rPr lang="en-US" sz="900" b="1" spc="160" kern="0" dirty="0">
                <a:solidFill>
                  <a:srgbClr val="1B6B3A"/>
                </a:solidFill>
                <a:latin typeface="Calibri" pitchFamily="34" charset="0"/>
                <a:ea typeface="Calibri" pitchFamily="34" charset="-122"/>
                <a:cs typeface="Calibri" pitchFamily="34" charset="-120"/>
              </a:rPr>
              <a:t>ÇIKTI</a:t>
            </a:r>
            <a:endParaRPr lang="en-US" sz="900" dirty="0"/>
          </a:p>
        </p:txBody>
      </p:sp>
      <p:sp>
        <p:nvSpPr>
          <p:cNvPr id="12" name="Text 9"/>
          <p:cNvSpPr txBox="1"/>
          <p:nvPr/>
        </p:nvSpPr>
        <p:spPr>
          <a:xfrm>
            <a:off x="960120" y="4480560"/>
            <a:ext cx="1964131" cy="585216"/>
          </a:xfrm>
          <a:prstGeom prst="rect">
            <a:avLst/>
          </a:prstGeom>
          <a:noFill/>
          <a:ln/>
        </p:spPr>
        <p:txBody>
          <a:bodyPr wrap="square" lIns="0" tIns="0" rIns="0" bIns="0" rtlCol="0" anchor="ctr"/>
          <a:lstStyle/>
          <a:p>
            <a:pPr indent="0" marL="0">
              <a:lnSpc>
                <a:spcPts val="1500"/>
              </a:lnSpc>
              <a:buNone/>
            </a:pPr>
            <a:r>
              <a:rPr lang="en-US" sz="1150" b="1" dirty="0">
                <a:solidFill>
                  <a:srgbClr val="2C3A33"/>
                </a:solidFill>
                <a:latin typeface="Calibri" pitchFamily="34" charset="0"/>
                <a:ea typeface="Calibri" pitchFamily="34" charset="-122"/>
                <a:cs typeface="Calibri" pitchFamily="34" charset="-120"/>
              </a:rPr>
              <a:t>Nicel söndürme verisi ve teknik rapor</a:t>
            </a:r>
            <a:endParaRPr lang="en-US" sz="1150" dirty="0"/>
          </a:p>
        </p:txBody>
      </p:sp>
      <p:sp>
        <p:nvSpPr>
          <p:cNvPr id="13" name="Shape 10"/>
          <p:cNvSpPr/>
          <p:nvPr/>
        </p:nvSpPr>
        <p:spPr>
          <a:xfrm>
            <a:off x="3454603" y="1700784"/>
            <a:ext cx="2512771" cy="3566160"/>
          </a:xfrm>
          <a:prstGeom prst="roundRect">
            <a:avLst>
              <a:gd name="adj" fmla="val 4003"/>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14" name="Shape 11"/>
          <p:cNvSpPr/>
          <p:nvPr/>
        </p:nvSpPr>
        <p:spPr>
          <a:xfrm>
            <a:off x="3728923" y="1975104"/>
            <a:ext cx="548640" cy="548640"/>
          </a:xfrm>
          <a:prstGeom prst="ellipse">
            <a:avLst/>
          </a:prstGeom>
          <a:solidFill>
            <a:srgbClr val="F07818"/>
          </a:solidFill>
          <a:ln w="12700">
            <a:solidFill>
              <a:srgbClr val="F07818"/>
            </a:solidFill>
            <a:prstDash val="solid"/>
          </a:ln>
        </p:spPr>
      </p:sp>
      <p:sp>
        <p:nvSpPr>
          <p:cNvPr id="15" name="Text 12"/>
          <p:cNvSpPr txBox="1"/>
          <p:nvPr/>
        </p:nvSpPr>
        <p:spPr>
          <a:xfrm>
            <a:off x="3728923" y="19751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Q2</a:t>
            </a:r>
            <a:endParaRPr lang="en-US" sz="1600" dirty="0"/>
          </a:p>
        </p:txBody>
      </p:sp>
      <p:sp>
        <p:nvSpPr>
          <p:cNvPr id="16" name="Text 13"/>
          <p:cNvSpPr txBox="1"/>
          <p:nvPr/>
        </p:nvSpPr>
        <p:spPr>
          <a:xfrm>
            <a:off x="3728923" y="2651760"/>
            <a:ext cx="1964131" cy="237744"/>
          </a:xfrm>
          <a:prstGeom prst="rect">
            <a:avLst/>
          </a:prstGeom>
          <a:noFill/>
          <a:ln/>
        </p:spPr>
        <p:txBody>
          <a:bodyPr wrap="square" lIns="0" tIns="0" rIns="0" bIns="0" rtlCol="0" anchor="ctr"/>
          <a:lstStyle/>
          <a:p>
            <a:pPr indent="0" marL="0">
              <a:buNone/>
            </a:pPr>
            <a:r>
              <a:rPr lang="en-US" sz="1050" b="1" spc="120" kern="0" dirty="0">
                <a:solidFill>
                  <a:srgbClr val="6F7F76"/>
                </a:solidFill>
                <a:latin typeface="Calibri" pitchFamily="34" charset="0"/>
                <a:ea typeface="Calibri" pitchFamily="34" charset="-122"/>
                <a:cs typeface="Calibri" pitchFamily="34" charset="-120"/>
              </a:rPr>
              <a:t>Eyl – Ara 2026</a:t>
            </a:r>
            <a:endParaRPr lang="en-US" sz="1050" dirty="0"/>
          </a:p>
        </p:txBody>
      </p:sp>
      <p:sp>
        <p:nvSpPr>
          <p:cNvPr id="17" name="Text 14"/>
          <p:cNvSpPr txBox="1"/>
          <p:nvPr/>
        </p:nvSpPr>
        <p:spPr>
          <a:xfrm>
            <a:off x="3728923" y="2907792"/>
            <a:ext cx="1964131" cy="457200"/>
          </a:xfrm>
          <a:prstGeom prst="rect">
            <a:avLst/>
          </a:prstGeom>
          <a:noFill/>
          <a:ln/>
        </p:spPr>
        <p:txBody>
          <a:bodyPr wrap="square" lIns="0" tIns="0" rIns="0" bIns="0" rtlCol="0" anchor="ctr"/>
          <a:lstStyle/>
          <a:p>
            <a:pPr indent="0" marL="0">
              <a:buNone/>
            </a:pPr>
            <a:r>
              <a:rPr lang="en-US" sz="1600" b="1" dirty="0">
                <a:solidFill>
                  <a:srgbClr val="07281D"/>
                </a:solidFill>
                <a:latin typeface="Cambria" pitchFamily="34" charset="0"/>
                <a:ea typeface="Cambria" pitchFamily="34" charset="-122"/>
                <a:cs typeface="Cambria" pitchFamily="34" charset="-120"/>
              </a:rPr>
              <a:t>Sertifikasyon</a:t>
            </a:r>
            <a:endParaRPr lang="en-US" sz="1600" dirty="0"/>
          </a:p>
        </p:txBody>
      </p:sp>
      <p:sp>
        <p:nvSpPr>
          <p:cNvPr id="18" name="Text 15"/>
          <p:cNvSpPr txBox="1"/>
          <p:nvPr/>
        </p:nvSpPr>
        <p:spPr>
          <a:xfrm>
            <a:off x="3728923" y="3438144"/>
            <a:ext cx="1964131" cy="786384"/>
          </a:xfrm>
          <a:prstGeom prst="rect">
            <a:avLst/>
          </a:prstGeom>
          <a:noFill/>
          <a:ln/>
        </p:spPr>
        <p:txBody>
          <a:bodyPr wrap="square" lIns="0" tIns="0" rIns="0" bIns="0" rtlCol="0" anchor="ctr"/>
          <a:lstStyle/>
          <a:p>
            <a:pPr indent="0" marL="0">
              <a:lnSpc>
                <a:spcPts val="1500"/>
              </a:lnSpc>
              <a:buNone/>
            </a:pPr>
            <a:r>
              <a:rPr lang="en-US" sz="1150" dirty="0">
                <a:solidFill>
                  <a:srgbClr val="6F7F76"/>
                </a:solidFill>
                <a:latin typeface="Calibri" pitchFamily="34" charset="0"/>
                <a:ea typeface="Calibri" pitchFamily="34" charset="-122"/>
                <a:cs typeface="Calibri" pitchFamily="34" charset="-120"/>
              </a:rPr>
              <a:t>TS EN 615 standardına başvuru süreci</a:t>
            </a:r>
            <a:endParaRPr lang="en-US" sz="1150" dirty="0"/>
          </a:p>
        </p:txBody>
      </p:sp>
      <p:sp>
        <p:nvSpPr>
          <p:cNvPr id="19" name="Text 16"/>
          <p:cNvSpPr txBox="1"/>
          <p:nvPr/>
        </p:nvSpPr>
        <p:spPr>
          <a:xfrm>
            <a:off x="3728923" y="4261104"/>
            <a:ext cx="1964131" cy="219456"/>
          </a:xfrm>
          <a:prstGeom prst="rect">
            <a:avLst/>
          </a:prstGeom>
          <a:noFill/>
          <a:ln/>
        </p:spPr>
        <p:txBody>
          <a:bodyPr wrap="square" lIns="0" tIns="0" rIns="0" bIns="0" rtlCol="0" anchor="ctr"/>
          <a:lstStyle/>
          <a:p>
            <a:pPr indent="0" marL="0">
              <a:buNone/>
            </a:pPr>
            <a:r>
              <a:rPr lang="en-US" sz="900" b="1" spc="160" kern="0" dirty="0">
                <a:solidFill>
                  <a:srgbClr val="F07818"/>
                </a:solidFill>
                <a:latin typeface="Calibri" pitchFamily="34" charset="0"/>
                <a:ea typeface="Calibri" pitchFamily="34" charset="-122"/>
                <a:cs typeface="Calibri" pitchFamily="34" charset="-120"/>
              </a:rPr>
              <a:t>ÇIKTI</a:t>
            </a:r>
            <a:endParaRPr lang="en-US" sz="900" dirty="0"/>
          </a:p>
        </p:txBody>
      </p:sp>
      <p:sp>
        <p:nvSpPr>
          <p:cNvPr id="20" name="Text 17"/>
          <p:cNvSpPr txBox="1"/>
          <p:nvPr/>
        </p:nvSpPr>
        <p:spPr>
          <a:xfrm>
            <a:off x="3728923" y="4480560"/>
            <a:ext cx="1964131" cy="585216"/>
          </a:xfrm>
          <a:prstGeom prst="rect">
            <a:avLst/>
          </a:prstGeom>
          <a:noFill/>
          <a:ln/>
        </p:spPr>
        <p:txBody>
          <a:bodyPr wrap="square" lIns="0" tIns="0" rIns="0" bIns="0" rtlCol="0" anchor="ctr"/>
          <a:lstStyle/>
          <a:p>
            <a:pPr indent="0" marL="0">
              <a:lnSpc>
                <a:spcPts val="1500"/>
              </a:lnSpc>
              <a:buNone/>
            </a:pPr>
            <a:r>
              <a:rPr lang="en-US" sz="1150" b="1" dirty="0">
                <a:solidFill>
                  <a:srgbClr val="2C3A33"/>
                </a:solidFill>
                <a:latin typeface="Calibri" pitchFamily="34" charset="0"/>
                <a:ea typeface="Calibri" pitchFamily="34" charset="-122"/>
                <a:cs typeface="Calibri" pitchFamily="34" charset="-120"/>
              </a:rPr>
              <a:t>Uluslararası standart uyumluluk belgesi</a:t>
            </a:r>
            <a:endParaRPr lang="en-US" sz="1150" dirty="0"/>
          </a:p>
        </p:txBody>
      </p:sp>
      <p:sp>
        <p:nvSpPr>
          <p:cNvPr id="21" name="Shape 18"/>
          <p:cNvSpPr/>
          <p:nvPr/>
        </p:nvSpPr>
        <p:spPr>
          <a:xfrm>
            <a:off x="6223406" y="1700784"/>
            <a:ext cx="2512771" cy="3566160"/>
          </a:xfrm>
          <a:prstGeom prst="roundRect">
            <a:avLst>
              <a:gd name="adj" fmla="val 4003"/>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22" name="Shape 19"/>
          <p:cNvSpPr/>
          <p:nvPr/>
        </p:nvSpPr>
        <p:spPr>
          <a:xfrm>
            <a:off x="6497726" y="1975104"/>
            <a:ext cx="548640" cy="548640"/>
          </a:xfrm>
          <a:prstGeom prst="ellipse">
            <a:avLst/>
          </a:prstGeom>
          <a:solidFill>
            <a:srgbClr val="1B6B3A"/>
          </a:solidFill>
          <a:ln w="12700">
            <a:solidFill>
              <a:srgbClr val="1B6B3A"/>
            </a:solidFill>
            <a:prstDash val="solid"/>
          </a:ln>
        </p:spPr>
      </p:sp>
      <p:sp>
        <p:nvSpPr>
          <p:cNvPr id="23" name="Text 20"/>
          <p:cNvSpPr txBox="1"/>
          <p:nvPr/>
        </p:nvSpPr>
        <p:spPr>
          <a:xfrm>
            <a:off x="6497726" y="19751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Q3</a:t>
            </a:r>
            <a:endParaRPr lang="en-US" sz="1600" dirty="0"/>
          </a:p>
        </p:txBody>
      </p:sp>
      <p:sp>
        <p:nvSpPr>
          <p:cNvPr id="24" name="Text 21"/>
          <p:cNvSpPr txBox="1"/>
          <p:nvPr/>
        </p:nvSpPr>
        <p:spPr>
          <a:xfrm>
            <a:off x="6497726" y="2651760"/>
            <a:ext cx="1964131" cy="237744"/>
          </a:xfrm>
          <a:prstGeom prst="rect">
            <a:avLst/>
          </a:prstGeom>
          <a:noFill/>
          <a:ln/>
        </p:spPr>
        <p:txBody>
          <a:bodyPr wrap="square" lIns="0" tIns="0" rIns="0" bIns="0" rtlCol="0" anchor="ctr"/>
          <a:lstStyle/>
          <a:p>
            <a:pPr indent="0" marL="0">
              <a:buNone/>
            </a:pPr>
            <a:r>
              <a:rPr lang="en-US" sz="1050" b="1" spc="120" kern="0" dirty="0">
                <a:solidFill>
                  <a:srgbClr val="6F7F76"/>
                </a:solidFill>
                <a:latin typeface="Calibri" pitchFamily="34" charset="0"/>
                <a:ea typeface="Calibri" pitchFamily="34" charset="-122"/>
                <a:cs typeface="Calibri" pitchFamily="34" charset="-120"/>
              </a:rPr>
              <a:t>Oca – Mar 2027</a:t>
            </a:r>
            <a:endParaRPr lang="en-US" sz="1050" dirty="0"/>
          </a:p>
        </p:txBody>
      </p:sp>
      <p:sp>
        <p:nvSpPr>
          <p:cNvPr id="25" name="Text 22"/>
          <p:cNvSpPr txBox="1"/>
          <p:nvPr/>
        </p:nvSpPr>
        <p:spPr>
          <a:xfrm>
            <a:off x="6497726" y="2907792"/>
            <a:ext cx="1964131" cy="457200"/>
          </a:xfrm>
          <a:prstGeom prst="rect">
            <a:avLst/>
          </a:prstGeom>
          <a:noFill/>
          <a:ln/>
        </p:spPr>
        <p:txBody>
          <a:bodyPr wrap="square" lIns="0" tIns="0" rIns="0" bIns="0" rtlCol="0" anchor="ctr"/>
          <a:lstStyle/>
          <a:p>
            <a:pPr indent="0" marL="0">
              <a:buNone/>
            </a:pPr>
            <a:r>
              <a:rPr lang="en-US" sz="1600" b="1" dirty="0">
                <a:solidFill>
                  <a:srgbClr val="07281D"/>
                </a:solidFill>
                <a:latin typeface="Cambria" pitchFamily="34" charset="0"/>
                <a:ea typeface="Cambria" pitchFamily="34" charset="-122"/>
                <a:cs typeface="Cambria" pitchFamily="34" charset="-120"/>
              </a:rPr>
              <a:t>Pilot üretim</a:t>
            </a:r>
            <a:endParaRPr lang="en-US" sz="1600" dirty="0"/>
          </a:p>
        </p:txBody>
      </p:sp>
      <p:sp>
        <p:nvSpPr>
          <p:cNvPr id="26" name="Text 23"/>
          <p:cNvSpPr txBox="1"/>
          <p:nvPr/>
        </p:nvSpPr>
        <p:spPr>
          <a:xfrm>
            <a:off x="6497726" y="3438144"/>
            <a:ext cx="1964131" cy="786384"/>
          </a:xfrm>
          <a:prstGeom prst="rect">
            <a:avLst/>
          </a:prstGeom>
          <a:noFill/>
          <a:ln/>
        </p:spPr>
        <p:txBody>
          <a:bodyPr wrap="square" lIns="0" tIns="0" rIns="0" bIns="0" rtlCol="0" anchor="ctr"/>
          <a:lstStyle/>
          <a:p>
            <a:pPr indent="0" marL="0">
              <a:lnSpc>
                <a:spcPts val="1500"/>
              </a:lnSpc>
              <a:buNone/>
            </a:pPr>
            <a:r>
              <a:rPr lang="en-US" sz="1150" dirty="0">
                <a:solidFill>
                  <a:srgbClr val="6F7F76"/>
                </a:solidFill>
                <a:latin typeface="Calibri" pitchFamily="34" charset="0"/>
                <a:ea typeface="Calibri" pitchFamily="34" charset="-122"/>
                <a:cs typeface="Calibri" pitchFamily="34" charset="-120"/>
              </a:rPr>
              <a:t>Pilot üretim hattının kurulması</a:t>
            </a:r>
            <a:endParaRPr lang="en-US" sz="1150" dirty="0"/>
          </a:p>
        </p:txBody>
      </p:sp>
      <p:sp>
        <p:nvSpPr>
          <p:cNvPr id="27" name="Text 24"/>
          <p:cNvSpPr txBox="1"/>
          <p:nvPr/>
        </p:nvSpPr>
        <p:spPr>
          <a:xfrm>
            <a:off x="6497726" y="4261104"/>
            <a:ext cx="1964131" cy="219456"/>
          </a:xfrm>
          <a:prstGeom prst="rect">
            <a:avLst/>
          </a:prstGeom>
          <a:noFill/>
          <a:ln/>
        </p:spPr>
        <p:txBody>
          <a:bodyPr wrap="square" lIns="0" tIns="0" rIns="0" bIns="0" rtlCol="0" anchor="ctr"/>
          <a:lstStyle/>
          <a:p>
            <a:pPr indent="0" marL="0">
              <a:buNone/>
            </a:pPr>
            <a:r>
              <a:rPr lang="en-US" sz="900" b="1" spc="160" kern="0" dirty="0">
                <a:solidFill>
                  <a:srgbClr val="1B6B3A"/>
                </a:solidFill>
                <a:latin typeface="Calibri" pitchFamily="34" charset="0"/>
                <a:ea typeface="Calibri" pitchFamily="34" charset="-122"/>
                <a:cs typeface="Calibri" pitchFamily="34" charset="-120"/>
              </a:rPr>
              <a:t>ÇIKTI</a:t>
            </a:r>
            <a:endParaRPr lang="en-US" sz="900" dirty="0"/>
          </a:p>
        </p:txBody>
      </p:sp>
      <p:sp>
        <p:nvSpPr>
          <p:cNvPr id="28" name="Text 25"/>
          <p:cNvSpPr txBox="1"/>
          <p:nvPr/>
        </p:nvSpPr>
        <p:spPr>
          <a:xfrm>
            <a:off x="6497726" y="4480560"/>
            <a:ext cx="1964131" cy="585216"/>
          </a:xfrm>
          <a:prstGeom prst="rect">
            <a:avLst/>
          </a:prstGeom>
          <a:noFill/>
          <a:ln/>
        </p:spPr>
        <p:txBody>
          <a:bodyPr wrap="square" lIns="0" tIns="0" rIns="0" bIns="0" rtlCol="0" anchor="ctr"/>
          <a:lstStyle/>
          <a:p>
            <a:pPr indent="0" marL="0">
              <a:lnSpc>
                <a:spcPts val="1500"/>
              </a:lnSpc>
              <a:buNone/>
            </a:pPr>
            <a:r>
              <a:rPr lang="en-US" sz="1150" b="1" dirty="0">
                <a:solidFill>
                  <a:srgbClr val="2C3A33"/>
                </a:solidFill>
                <a:latin typeface="Calibri" pitchFamily="34" charset="0"/>
                <a:ea typeface="Calibri" pitchFamily="34" charset="-122"/>
                <a:cs typeface="Calibri" pitchFamily="34" charset="-120"/>
              </a:rPr>
              <a:t>İlk B2B satış sözleşmeleri</a:t>
            </a:r>
            <a:endParaRPr lang="en-US" sz="1150" dirty="0"/>
          </a:p>
        </p:txBody>
      </p:sp>
      <p:sp>
        <p:nvSpPr>
          <p:cNvPr id="29" name="Shape 26"/>
          <p:cNvSpPr/>
          <p:nvPr/>
        </p:nvSpPr>
        <p:spPr>
          <a:xfrm>
            <a:off x="8992210" y="1700784"/>
            <a:ext cx="2512771" cy="3566160"/>
          </a:xfrm>
          <a:prstGeom prst="roundRect">
            <a:avLst>
              <a:gd name="adj" fmla="val 4003"/>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30" name="Shape 27"/>
          <p:cNvSpPr/>
          <p:nvPr/>
        </p:nvSpPr>
        <p:spPr>
          <a:xfrm>
            <a:off x="9266530" y="1975104"/>
            <a:ext cx="548640" cy="548640"/>
          </a:xfrm>
          <a:prstGeom prst="ellipse">
            <a:avLst/>
          </a:prstGeom>
          <a:solidFill>
            <a:srgbClr val="F07818"/>
          </a:solidFill>
          <a:ln w="12700">
            <a:solidFill>
              <a:srgbClr val="F07818"/>
            </a:solidFill>
            <a:prstDash val="solid"/>
          </a:ln>
        </p:spPr>
      </p:sp>
      <p:sp>
        <p:nvSpPr>
          <p:cNvPr id="31" name="Text 28"/>
          <p:cNvSpPr txBox="1"/>
          <p:nvPr/>
        </p:nvSpPr>
        <p:spPr>
          <a:xfrm>
            <a:off x="9266530" y="197510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Q4</a:t>
            </a:r>
            <a:endParaRPr lang="en-US" sz="1600" dirty="0"/>
          </a:p>
        </p:txBody>
      </p:sp>
      <p:sp>
        <p:nvSpPr>
          <p:cNvPr id="32" name="Text 29"/>
          <p:cNvSpPr txBox="1"/>
          <p:nvPr/>
        </p:nvSpPr>
        <p:spPr>
          <a:xfrm>
            <a:off x="9266530" y="2651760"/>
            <a:ext cx="1964131" cy="237744"/>
          </a:xfrm>
          <a:prstGeom prst="rect">
            <a:avLst/>
          </a:prstGeom>
          <a:noFill/>
          <a:ln/>
        </p:spPr>
        <p:txBody>
          <a:bodyPr wrap="square" lIns="0" tIns="0" rIns="0" bIns="0" rtlCol="0" anchor="ctr"/>
          <a:lstStyle/>
          <a:p>
            <a:pPr indent="0" marL="0">
              <a:buNone/>
            </a:pPr>
            <a:r>
              <a:rPr lang="en-US" sz="1050" b="1" spc="120" kern="0" dirty="0">
                <a:solidFill>
                  <a:srgbClr val="6F7F76"/>
                </a:solidFill>
                <a:latin typeface="Calibri" pitchFamily="34" charset="0"/>
                <a:ea typeface="Calibri" pitchFamily="34" charset="-122"/>
                <a:cs typeface="Calibri" pitchFamily="34" charset="-120"/>
              </a:rPr>
              <a:t>Mar – Haz 2027</a:t>
            </a:r>
            <a:endParaRPr lang="en-US" sz="1050" dirty="0"/>
          </a:p>
        </p:txBody>
      </p:sp>
      <p:sp>
        <p:nvSpPr>
          <p:cNvPr id="33" name="Text 30"/>
          <p:cNvSpPr txBox="1"/>
          <p:nvPr/>
        </p:nvSpPr>
        <p:spPr>
          <a:xfrm>
            <a:off x="9266530" y="2907792"/>
            <a:ext cx="1964131" cy="457200"/>
          </a:xfrm>
          <a:prstGeom prst="rect">
            <a:avLst/>
          </a:prstGeom>
          <a:noFill/>
          <a:ln/>
        </p:spPr>
        <p:txBody>
          <a:bodyPr wrap="square" lIns="0" tIns="0" rIns="0" bIns="0" rtlCol="0" anchor="ctr"/>
          <a:lstStyle/>
          <a:p>
            <a:pPr indent="0" marL="0">
              <a:buNone/>
            </a:pPr>
            <a:r>
              <a:rPr lang="en-US" sz="1600" b="1" dirty="0">
                <a:solidFill>
                  <a:srgbClr val="07281D"/>
                </a:solidFill>
                <a:latin typeface="Cambria" pitchFamily="34" charset="0"/>
                <a:ea typeface="Cambria" pitchFamily="34" charset="-122"/>
                <a:cs typeface="Cambria" pitchFamily="34" charset="-120"/>
              </a:rPr>
              <a:t>Yatırım ve ihracat</a:t>
            </a:r>
            <a:endParaRPr lang="en-US" sz="1600" dirty="0"/>
          </a:p>
        </p:txBody>
      </p:sp>
      <p:sp>
        <p:nvSpPr>
          <p:cNvPr id="34" name="Text 31"/>
          <p:cNvSpPr txBox="1"/>
          <p:nvPr/>
        </p:nvSpPr>
        <p:spPr>
          <a:xfrm>
            <a:off x="9266530" y="3438144"/>
            <a:ext cx="1964131" cy="786384"/>
          </a:xfrm>
          <a:prstGeom prst="rect">
            <a:avLst/>
          </a:prstGeom>
          <a:noFill/>
          <a:ln/>
        </p:spPr>
        <p:txBody>
          <a:bodyPr wrap="square" lIns="0" tIns="0" rIns="0" bIns="0" rtlCol="0" anchor="ctr"/>
          <a:lstStyle/>
          <a:p>
            <a:pPr indent="0" marL="0">
              <a:lnSpc>
                <a:spcPts val="1500"/>
              </a:lnSpc>
              <a:buNone/>
            </a:pPr>
            <a:r>
              <a:rPr lang="en-US" sz="1150" dirty="0">
                <a:solidFill>
                  <a:srgbClr val="6F7F76"/>
                </a:solidFill>
                <a:latin typeface="Calibri" pitchFamily="34" charset="0"/>
                <a:ea typeface="Calibri" pitchFamily="34" charset="-122"/>
                <a:cs typeface="Calibri" pitchFamily="34" charset="-120"/>
              </a:rPr>
              <a:t>Yatırım turu ve ihracat stratejisi</a:t>
            </a:r>
            <a:endParaRPr lang="en-US" sz="1150" dirty="0"/>
          </a:p>
        </p:txBody>
      </p:sp>
      <p:sp>
        <p:nvSpPr>
          <p:cNvPr id="35" name="Text 32"/>
          <p:cNvSpPr txBox="1"/>
          <p:nvPr/>
        </p:nvSpPr>
        <p:spPr>
          <a:xfrm>
            <a:off x="9266530" y="4261104"/>
            <a:ext cx="1964131" cy="219456"/>
          </a:xfrm>
          <a:prstGeom prst="rect">
            <a:avLst/>
          </a:prstGeom>
          <a:noFill/>
          <a:ln/>
        </p:spPr>
        <p:txBody>
          <a:bodyPr wrap="square" lIns="0" tIns="0" rIns="0" bIns="0" rtlCol="0" anchor="ctr"/>
          <a:lstStyle/>
          <a:p>
            <a:pPr indent="0" marL="0">
              <a:buNone/>
            </a:pPr>
            <a:r>
              <a:rPr lang="en-US" sz="900" b="1" spc="160" kern="0" dirty="0">
                <a:solidFill>
                  <a:srgbClr val="F07818"/>
                </a:solidFill>
                <a:latin typeface="Calibri" pitchFamily="34" charset="0"/>
                <a:ea typeface="Calibri" pitchFamily="34" charset="-122"/>
                <a:cs typeface="Calibri" pitchFamily="34" charset="-120"/>
              </a:rPr>
              <a:t>ÇIKTI</a:t>
            </a:r>
            <a:endParaRPr lang="en-US" sz="900" dirty="0"/>
          </a:p>
        </p:txBody>
      </p:sp>
      <p:sp>
        <p:nvSpPr>
          <p:cNvPr id="36" name="Text 33"/>
          <p:cNvSpPr txBox="1"/>
          <p:nvPr/>
        </p:nvSpPr>
        <p:spPr>
          <a:xfrm>
            <a:off x="9266530" y="4480560"/>
            <a:ext cx="1964131" cy="585216"/>
          </a:xfrm>
          <a:prstGeom prst="rect">
            <a:avLst/>
          </a:prstGeom>
          <a:noFill/>
          <a:ln/>
        </p:spPr>
        <p:txBody>
          <a:bodyPr wrap="square" lIns="0" tIns="0" rIns="0" bIns="0" rtlCol="0" anchor="ctr"/>
          <a:lstStyle/>
          <a:p>
            <a:pPr indent="0" marL="0">
              <a:lnSpc>
                <a:spcPts val="1500"/>
              </a:lnSpc>
              <a:buNone/>
            </a:pPr>
            <a:r>
              <a:rPr lang="en-US" sz="1150" b="1" dirty="0">
                <a:solidFill>
                  <a:srgbClr val="2C3A33"/>
                </a:solidFill>
                <a:latin typeface="Calibri" pitchFamily="34" charset="0"/>
                <a:ea typeface="Calibri" pitchFamily="34" charset="-122"/>
                <a:cs typeface="Calibri" pitchFamily="34" charset="-120"/>
              </a:rPr>
              <a:t>Tohum sermaye + KOBİ hibe başvurusu</a:t>
            </a:r>
            <a:endParaRPr lang="en-US" sz="1150" dirty="0"/>
          </a:p>
        </p:txBody>
      </p:sp>
      <p:sp>
        <p:nvSpPr>
          <p:cNvPr id="37" name="Shape 34"/>
          <p:cNvSpPr/>
          <p:nvPr/>
        </p:nvSpPr>
        <p:spPr>
          <a:xfrm>
            <a:off x="685800" y="5431536"/>
            <a:ext cx="10820095" cy="676656"/>
          </a:xfrm>
          <a:prstGeom prst="roundRect">
            <a:avLst>
              <a:gd name="adj" fmla="val 14865"/>
            </a:avLst>
          </a:prstGeom>
          <a:solidFill>
            <a:srgbClr val="F2F6F3"/>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38" name="Text 35"/>
          <p:cNvSpPr txBox="1"/>
          <p:nvPr/>
        </p:nvSpPr>
        <p:spPr>
          <a:xfrm>
            <a:off x="1014984" y="5577840"/>
            <a:ext cx="10161727" cy="384048"/>
          </a:xfrm>
          <a:prstGeom prst="rect">
            <a:avLst/>
          </a:prstGeom>
          <a:noFill/>
          <a:ln/>
        </p:spPr>
        <p:txBody>
          <a:bodyPr wrap="square" lIns="0" tIns="0" rIns="0" bIns="0" rtlCol="0" anchor="ctr"/>
          <a:lstStyle/>
          <a:p>
            <a:pPr indent="0" marL="0">
              <a:buNone/>
            </a:pPr>
            <a:r>
              <a:rPr lang="en-US" sz="1250" b="1" dirty="0">
                <a:solidFill>
                  <a:srgbClr val="1B6B3A"/>
                </a:solidFill>
                <a:latin typeface="Calibri" pitchFamily="34" charset="0"/>
                <a:ea typeface="Calibri" pitchFamily="34" charset="-122"/>
                <a:cs typeface="Calibri" pitchFamily="34" charset="-120"/>
              </a:rPr>
              <a:t>Uzun vade:  PCT uluslararası patent genişlemesi — öncelikli pazarlar AB (EPO), Türkiye ve Körfez ülkeleri.</a:t>
            </a:r>
            <a:endParaRPr lang="en-US" sz="1250" dirty="0"/>
          </a:p>
        </p:txBody>
      </p:sp>
      <p:sp>
        <p:nvSpPr>
          <p:cNvPr id="39" name="Text 36"/>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15</a:t>
            </a:r>
            <a:endParaRPr lang="en-US" sz="1000" dirty="0"/>
          </a:p>
        </p:txBody>
      </p:sp>
      <p:sp>
        <p:nvSpPr>
          <p:cNvPr id="40" name="Text 37"/>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img/bg_ligh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3E9B5F"/>
                </a:solidFill>
                <a:latin typeface="Calibri" pitchFamily="34" charset="0"/>
                <a:ea typeface="Calibri" pitchFamily="34" charset="-122"/>
                <a:cs typeface="Calibri" pitchFamily="34" charset="-120"/>
              </a:rPr>
              <a:t>REFERANSLAR</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07281D"/>
                </a:solidFill>
                <a:latin typeface="Cambria" pitchFamily="34" charset="0"/>
                <a:ea typeface="Cambria" pitchFamily="34" charset="-122"/>
                <a:cs typeface="Cambria" pitchFamily="34" charset="-120"/>
              </a:rPr>
              <a:t>Başarılar ve Kurumsal İlişkiler</a:t>
            </a:r>
            <a:endParaRPr lang="en-US" sz="3300" dirty="0"/>
          </a:p>
        </p:txBody>
      </p:sp>
      <p:sp>
        <p:nvSpPr>
          <p:cNvPr id="5" name="Shape 2"/>
          <p:cNvSpPr/>
          <p:nvPr/>
        </p:nvSpPr>
        <p:spPr>
          <a:xfrm>
            <a:off x="685800" y="1664208"/>
            <a:ext cx="4206240" cy="4114800"/>
          </a:xfrm>
          <a:prstGeom prst="roundRect">
            <a:avLst>
              <a:gd name="adj" fmla="val 2444"/>
            </a:avLst>
          </a:prstGeom>
          <a:solidFill>
            <a:srgbClr val="FFFFFF"/>
          </a:solidFill>
          <a:ln w="12700">
            <a:solidFill>
              <a:srgbClr val="DCE6DE"/>
            </a:solidFill>
            <a:prstDash val="solid"/>
          </a:ln>
          <a:effectLst>
            <a:outerShdw sx="100000" sy="100000" kx="0" ky="0" algn="bl" rotWithShape="0" blurRad="177800" dist="38100" dir="5400000">
              <a:srgbClr val="0B2E22">
                <a:alpha val="12000"/>
              </a:srgbClr>
            </a:outerShdw>
          </a:effectLst>
        </p:spPr>
      </p:sp>
      <p:sp>
        <p:nvSpPr>
          <p:cNvPr id="6" name="Shape 3"/>
          <p:cNvSpPr/>
          <p:nvPr/>
        </p:nvSpPr>
        <p:spPr>
          <a:xfrm>
            <a:off x="1069848" y="2121408"/>
            <a:ext cx="786384" cy="786384"/>
          </a:xfrm>
          <a:prstGeom prst="ellipse">
            <a:avLst/>
          </a:prstGeom>
          <a:solidFill>
            <a:srgbClr val="F07818"/>
          </a:solidFill>
          <a:ln w="12700">
            <a:solidFill>
              <a:srgbClr val="F07818"/>
            </a:solidFill>
            <a:prstDash val="solid"/>
          </a:ln>
        </p:spPr>
      </p:sp>
      <p:pic>
        <p:nvPicPr>
          <p:cNvPr id="7" name="Image 1" descr="img/icons/award_w.png">    </p:cNvPr>
          <p:cNvPicPr>
            <a:picLocks noChangeAspect="1"/>
          </p:cNvPicPr>
          <p:nvPr/>
        </p:nvPicPr>
        <p:blipFill>
          <a:blip r:embed="rId2"/>
          <a:stretch>
            <a:fillRect/>
          </a:stretch>
        </p:blipFill>
        <p:spPr>
          <a:xfrm>
            <a:off x="1274308" y="2325868"/>
            <a:ext cx="377464" cy="377464"/>
          </a:xfrm>
          <a:prstGeom prst="rect">
            <a:avLst/>
          </a:prstGeom>
        </p:spPr>
      </p:pic>
      <p:sp>
        <p:nvSpPr>
          <p:cNvPr id="8" name="Text 4"/>
          <p:cNvSpPr txBox="1"/>
          <p:nvPr/>
        </p:nvSpPr>
        <p:spPr>
          <a:xfrm>
            <a:off x="1069848" y="3145536"/>
            <a:ext cx="3438144" cy="786384"/>
          </a:xfrm>
          <a:prstGeom prst="rect">
            <a:avLst/>
          </a:prstGeom>
          <a:noFill/>
          <a:ln/>
        </p:spPr>
        <p:txBody>
          <a:bodyPr wrap="square" lIns="0" tIns="0" rIns="0" bIns="0" rtlCol="0" anchor="ctr"/>
          <a:lstStyle/>
          <a:p>
            <a:pPr indent="0" marL="0">
              <a:buNone/>
            </a:pPr>
            <a:r>
              <a:rPr lang="en-US" sz="5000" b="1" dirty="0">
                <a:solidFill>
                  <a:srgbClr val="F07818"/>
                </a:solidFill>
                <a:latin typeface="Cambria" pitchFamily="34" charset="0"/>
                <a:ea typeface="Cambria" pitchFamily="34" charset="-122"/>
                <a:cs typeface="Cambria" pitchFamily="34" charset="-120"/>
              </a:rPr>
              <a:t>2.lik</a:t>
            </a:r>
            <a:endParaRPr lang="en-US" sz="5000" dirty="0"/>
          </a:p>
        </p:txBody>
      </p:sp>
      <p:sp>
        <p:nvSpPr>
          <p:cNvPr id="9" name="Text 5"/>
          <p:cNvSpPr txBox="1"/>
          <p:nvPr/>
        </p:nvSpPr>
        <p:spPr>
          <a:xfrm>
            <a:off x="1069848" y="4005072"/>
            <a:ext cx="3438144" cy="786384"/>
          </a:xfrm>
          <a:prstGeom prst="rect">
            <a:avLst/>
          </a:prstGeom>
          <a:noFill/>
          <a:ln/>
        </p:spPr>
        <p:txBody>
          <a:bodyPr wrap="square" lIns="0" tIns="0" rIns="0" bIns="0" rtlCol="0" anchor="ctr"/>
          <a:lstStyle/>
          <a:p>
            <a:pPr indent="0" marL="0">
              <a:lnSpc>
                <a:spcPts val="2400"/>
              </a:lnSpc>
              <a:buNone/>
            </a:pPr>
            <a:r>
              <a:rPr lang="en-US" sz="1800" b="1" dirty="0">
                <a:solidFill>
                  <a:srgbClr val="07281D"/>
                </a:solidFill>
                <a:latin typeface="Cambria" pitchFamily="34" charset="0"/>
                <a:ea typeface="Cambria" pitchFamily="34" charset="-122"/>
                <a:cs typeface="Cambria" pitchFamily="34" charset="-120"/>
              </a:rPr>
              <a:t>Üsküdar Üniversitesi</a:t>
            </a:r>
            <a:endParaRPr lang="en-US" sz="1800" dirty="0"/>
          </a:p>
          <a:p>
            <a:pPr indent="0" marL="0">
              <a:lnSpc>
                <a:spcPts val="2400"/>
              </a:lnSpc>
              <a:buNone/>
            </a:pPr>
            <a:r>
              <a:rPr lang="en-US" sz="1800" b="1" dirty="0">
                <a:solidFill>
                  <a:srgbClr val="07281D"/>
                </a:solidFill>
                <a:latin typeface="Cambria" pitchFamily="34" charset="0"/>
                <a:ea typeface="Cambria" pitchFamily="34" charset="-122"/>
                <a:cs typeface="Cambria" pitchFamily="34" charset="-120"/>
              </a:rPr>
              <a:t>10. Bilim ve Fikir Festivali</a:t>
            </a:r>
            <a:endParaRPr lang="en-US" sz="1800" dirty="0"/>
          </a:p>
        </p:txBody>
      </p:sp>
      <p:sp>
        <p:nvSpPr>
          <p:cNvPr id="10" name="Text 6"/>
          <p:cNvSpPr txBox="1"/>
          <p:nvPr/>
        </p:nvSpPr>
        <p:spPr>
          <a:xfrm>
            <a:off x="1069848" y="4791456"/>
            <a:ext cx="3438144" cy="786384"/>
          </a:xfrm>
          <a:prstGeom prst="rect">
            <a:avLst/>
          </a:prstGeom>
          <a:noFill/>
          <a:ln/>
        </p:spPr>
        <p:txBody>
          <a:bodyPr wrap="square" lIns="0" tIns="0" rIns="0" bIns="0" rtlCol="0" anchor="ctr"/>
          <a:lstStyle/>
          <a:p>
            <a:pPr indent="0" marL="0">
              <a:lnSpc>
                <a:spcPts val="1700"/>
              </a:lnSpc>
              <a:buNone/>
            </a:pPr>
            <a:r>
              <a:rPr lang="en-US" sz="1200" dirty="0">
                <a:solidFill>
                  <a:srgbClr val="6F7F76"/>
                </a:solidFill>
                <a:latin typeface="Calibri" pitchFamily="34" charset="0"/>
                <a:ea typeface="Calibri" pitchFamily="34" charset="-122"/>
                <a:cs typeface="Calibri" pitchFamily="34" charset="-120"/>
              </a:rPr>
              <a:t>Sağlık kategorisinde ikincilik ödülü — ExtinGard'ın bilimsel geçerliliğinin bağımsız bir jüri tarafından tescili.</a:t>
            </a:r>
            <a:endParaRPr lang="en-US" sz="1200" dirty="0"/>
          </a:p>
        </p:txBody>
      </p:sp>
      <p:sp>
        <p:nvSpPr>
          <p:cNvPr id="11" name="Shape 7"/>
          <p:cNvSpPr/>
          <p:nvPr/>
        </p:nvSpPr>
        <p:spPr>
          <a:xfrm>
            <a:off x="5440680" y="1828800"/>
            <a:ext cx="493776" cy="493776"/>
          </a:xfrm>
          <a:prstGeom prst="ellipse">
            <a:avLst/>
          </a:prstGeom>
          <a:solidFill>
            <a:srgbClr val="1B6B3A"/>
          </a:solidFill>
          <a:ln w="12700">
            <a:solidFill>
              <a:srgbClr val="1B6B3A"/>
            </a:solidFill>
            <a:prstDash val="solid"/>
          </a:ln>
        </p:spPr>
      </p:sp>
      <p:pic>
        <p:nvPicPr>
          <p:cNvPr id="12" name="Image 2" descr="img/icons/rocket_w.png">    </p:cNvPr>
          <p:cNvPicPr>
            <a:picLocks noChangeAspect="1"/>
          </p:cNvPicPr>
          <p:nvPr/>
        </p:nvPicPr>
        <p:blipFill>
          <a:blip r:embed="rId3"/>
          <a:stretch>
            <a:fillRect/>
          </a:stretch>
        </p:blipFill>
        <p:spPr>
          <a:xfrm>
            <a:off x="5574000" y="1962120"/>
            <a:ext cx="227137" cy="227137"/>
          </a:xfrm>
          <a:prstGeom prst="rect">
            <a:avLst/>
          </a:prstGeom>
        </p:spPr>
      </p:pic>
      <p:sp>
        <p:nvSpPr>
          <p:cNvPr id="13" name="Text 8"/>
          <p:cNvSpPr txBox="1"/>
          <p:nvPr/>
        </p:nvSpPr>
        <p:spPr>
          <a:xfrm>
            <a:off x="6153912" y="1810512"/>
            <a:ext cx="5351983" cy="310896"/>
          </a:xfrm>
          <a:prstGeom prst="rect">
            <a:avLst/>
          </a:prstGeom>
          <a:noFill/>
          <a:ln/>
        </p:spPr>
        <p:txBody>
          <a:bodyPr wrap="square" lIns="0" tIns="0" rIns="0" bIns="0" rtlCol="0" anchor="ctr"/>
          <a:lstStyle/>
          <a:p>
            <a:pPr indent="0" marL="0">
              <a:buNone/>
            </a:pPr>
            <a:r>
              <a:rPr lang="en-US" sz="1500" b="1" dirty="0">
                <a:solidFill>
                  <a:srgbClr val="07281D"/>
                </a:solidFill>
                <a:latin typeface="Cambria" pitchFamily="34" charset="0"/>
                <a:ea typeface="Cambria" pitchFamily="34" charset="-122"/>
                <a:cs typeface="Cambria" pitchFamily="34" charset="-120"/>
              </a:rPr>
              <a:t>T3 Girişim Merkezi – DENEYAP Girişim Programı</a:t>
            </a:r>
            <a:endParaRPr lang="en-US" sz="1500" dirty="0"/>
          </a:p>
        </p:txBody>
      </p:sp>
      <p:sp>
        <p:nvSpPr>
          <p:cNvPr id="14" name="Text 9"/>
          <p:cNvSpPr txBox="1"/>
          <p:nvPr/>
        </p:nvSpPr>
        <p:spPr>
          <a:xfrm>
            <a:off x="6153912" y="2139696"/>
            <a:ext cx="5351983" cy="493776"/>
          </a:xfrm>
          <a:prstGeom prst="rect">
            <a:avLst/>
          </a:prstGeom>
          <a:noFill/>
          <a:ln/>
        </p:spPr>
        <p:txBody>
          <a:bodyPr wrap="square" lIns="0" tIns="0" rIns="0" bIns="0" rtlCol="0" anchor="ctr"/>
          <a:lstStyle/>
          <a:p>
            <a:pPr indent="0" marL="0">
              <a:lnSpc>
                <a:spcPts val="1600"/>
              </a:lnSpc>
              <a:buNone/>
            </a:pPr>
            <a:r>
              <a:rPr lang="en-US" sz="1200" dirty="0">
                <a:solidFill>
                  <a:srgbClr val="6F7F76"/>
                </a:solidFill>
                <a:latin typeface="Calibri" pitchFamily="34" charset="0"/>
                <a:ea typeface="Calibri" pitchFamily="34" charset="-122"/>
                <a:cs typeface="Calibri" pitchFamily="34" charset="-120"/>
              </a:rPr>
              <a:t>Eğitim kampına katılım; iş modeli ve IP stratejisi değerlendirmesi alındı.</a:t>
            </a:r>
            <a:endParaRPr lang="en-US" sz="1200" dirty="0"/>
          </a:p>
        </p:txBody>
      </p:sp>
      <p:sp>
        <p:nvSpPr>
          <p:cNvPr id="15" name="Shape 10"/>
          <p:cNvSpPr/>
          <p:nvPr/>
        </p:nvSpPr>
        <p:spPr>
          <a:xfrm>
            <a:off x="5440680" y="2871216"/>
            <a:ext cx="493776" cy="493776"/>
          </a:xfrm>
          <a:prstGeom prst="ellipse">
            <a:avLst/>
          </a:prstGeom>
          <a:solidFill>
            <a:srgbClr val="1B6B3A"/>
          </a:solidFill>
          <a:ln w="12700">
            <a:solidFill>
              <a:srgbClr val="1B6B3A"/>
            </a:solidFill>
            <a:prstDash val="solid"/>
          </a:ln>
        </p:spPr>
      </p:sp>
      <p:pic>
        <p:nvPicPr>
          <p:cNvPr id="16" name="Image 3" descr="img/icons/helmet_w.png">    </p:cNvPr>
          <p:cNvPicPr>
            <a:picLocks noChangeAspect="1"/>
          </p:cNvPicPr>
          <p:nvPr/>
        </p:nvPicPr>
        <p:blipFill>
          <a:blip r:embed="rId4"/>
          <a:stretch>
            <a:fillRect/>
          </a:stretch>
        </p:blipFill>
        <p:spPr>
          <a:xfrm>
            <a:off x="5574000" y="3004536"/>
            <a:ext cx="227137" cy="227137"/>
          </a:xfrm>
          <a:prstGeom prst="rect">
            <a:avLst/>
          </a:prstGeom>
        </p:spPr>
      </p:pic>
      <p:sp>
        <p:nvSpPr>
          <p:cNvPr id="17" name="Text 11"/>
          <p:cNvSpPr txBox="1"/>
          <p:nvPr/>
        </p:nvSpPr>
        <p:spPr>
          <a:xfrm>
            <a:off x="6153912" y="2852928"/>
            <a:ext cx="5351983" cy="310896"/>
          </a:xfrm>
          <a:prstGeom prst="rect">
            <a:avLst/>
          </a:prstGeom>
          <a:noFill/>
          <a:ln/>
        </p:spPr>
        <p:txBody>
          <a:bodyPr wrap="square" lIns="0" tIns="0" rIns="0" bIns="0" rtlCol="0" anchor="ctr"/>
          <a:lstStyle/>
          <a:p>
            <a:pPr indent="0" marL="0">
              <a:buNone/>
            </a:pPr>
            <a:r>
              <a:rPr lang="en-US" sz="1500" b="1" dirty="0">
                <a:solidFill>
                  <a:srgbClr val="07281D"/>
                </a:solidFill>
                <a:latin typeface="Cambria" pitchFamily="34" charset="0"/>
                <a:ea typeface="Cambria" pitchFamily="34" charset="-122"/>
                <a:cs typeface="Cambria" pitchFamily="34" charset="-120"/>
              </a:rPr>
              <a:t>Bursa İtfaiye Arama Kurtarma ve Müdahale Birimleri</a:t>
            </a:r>
            <a:endParaRPr lang="en-US" sz="1500" dirty="0"/>
          </a:p>
        </p:txBody>
      </p:sp>
      <p:sp>
        <p:nvSpPr>
          <p:cNvPr id="18" name="Text 12"/>
          <p:cNvSpPr txBox="1"/>
          <p:nvPr/>
        </p:nvSpPr>
        <p:spPr>
          <a:xfrm>
            <a:off x="6153912" y="3182112"/>
            <a:ext cx="5351983" cy="493776"/>
          </a:xfrm>
          <a:prstGeom prst="rect">
            <a:avLst/>
          </a:prstGeom>
          <a:noFill/>
          <a:ln/>
        </p:spPr>
        <p:txBody>
          <a:bodyPr wrap="square" lIns="0" tIns="0" rIns="0" bIns="0" rtlCol="0" anchor="ctr"/>
          <a:lstStyle/>
          <a:p>
            <a:pPr indent="0" marL="0">
              <a:lnSpc>
                <a:spcPts val="1600"/>
              </a:lnSpc>
              <a:buNone/>
            </a:pPr>
            <a:r>
              <a:rPr lang="en-US" sz="1200" dirty="0">
                <a:solidFill>
                  <a:srgbClr val="6F7F76"/>
                </a:solidFill>
                <a:latin typeface="Calibri" pitchFamily="34" charset="0"/>
                <a:ea typeface="Calibri" pitchFamily="34" charset="-122"/>
                <a:cs typeface="Calibri" pitchFamily="34" charset="-120"/>
              </a:rPr>
              <a:t>Ortak saha testleri ve profesyonel teknik değerlendirme görüşmeleri.</a:t>
            </a:r>
            <a:endParaRPr lang="en-US" sz="1200" dirty="0"/>
          </a:p>
        </p:txBody>
      </p:sp>
      <p:sp>
        <p:nvSpPr>
          <p:cNvPr id="19" name="Shape 13"/>
          <p:cNvSpPr/>
          <p:nvPr/>
        </p:nvSpPr>
        <p:spPr>
          <a:xfrm>
            <a:off x="5440680" y="3913632"/>
            <a:ext cx="493776" cy="493776"/>
          </a:xfrm>
          <a:prstGeom prst="ellipse">
            <a:avLst/>
          </a:prstGeom>
          <a:solidFill>
            <a:srgbClr val="1B6B3A"/>
          </a:solidFill>
          <a:ln w="12700">
            <a:solidFill>
              <a:srgbClr val="1B6B3A"/>
            </a:solidFill>
            <a:prstDash val="solid"/>
          </a:ln>
        </p:spPr>
      </p:sp>
      <p:pic>
        <p:nvPicPr>
          <p:cNvPr id="20" name="Image 4" descr="img/icons/microscope_w.png">    </p:cNvPr>
          <p:cNvPicPr>
            <a:picLocks noChangeAspect="1"/>
          </p:cNvPicPr>
          <p:nvPr/>
        </p:nvPicPr>
        <p:blipFill>
          <a:blip r:embed="rId5"/>
          <a:stretch>
            <a:fillRect/>
          </a:stretch>
        </p:blipFill>
        <p:spPr>
          <a:xfrm>
            <a:off x="5574000" y="4046952"/>
            <a:ext cx="227137" cy="227137"/>
          </a:xfrm>
          <a:prstGeom prst="rect">
            <a:avLst/>
          </a:prstGeom>
        </p:spPr>
      </p:pic>
      <p:sp>
        <p:nvSpPr>
          <p:cNvPr id="21" name="Text 14"/>
          <p:cNvSpPr txBox="1"/>
          <p:nvPr/>
        </p:nvSpPr>
        <p:spPr>
          <a:xfrm>
            <a:off x="6153912" y="3895344"/>
            <a:ext cx="5351983" cy="310896"/>
          </a:xfrm>
          <a:prstGeom prst="rect">
            <a:avLst/>
          </a:prstGeom>
          <a:noFill/>
          <a:ln/>
        </p:spPr>
        <p:txBody>
          <a:bodyPr wrap="square" lIns="0" tIns="0" rIns="0" bIns="0" rtlCol="0" anchor="ctr"/>
          <a:lstStyle/>
          <a:p>
            <a:pPr indent="0" marL="0">
              <a:buNone/>
            </a:pPr>
            <a:r>
              <a:rPr lang="en-US" sz="1500" b="1" dirty="0">
                <a:solidFill>
                  <a:srgbClr val="07281D"/>
                </a:solidFill>
                <a:latin typeface="Cambria" pitchFamily="34" charset="0"/>
                <a:ea typeface="Cambria" pitchFamily="34" charset="-122"/>
                <a:cs typeface="Cambria" pitchFamily="34" charset="-120"/>
              </a:rPr>
              <a:t>BTSO Kamil Tolon Bilim ve Sanat Merkezi</a:t>
            </a:r>
            <a:endParaRPr lang="en-US" sz="1500" dirty="0"/>
          </a:p>
        </p:txBody>
      </p:sp>
      <p:sp>
        <p:nvSpPr>
          <p:cNvPr id="22" name="Text 15"/>
          <p:cNvSpPr txBox="1"/>
          <p:nvPr/>
        </p:nvSpPr>
        <p:spPr>
          <a:xfrm>
            <a:off x="6153912" y="4224528"/>
            <a:ext cx="5351983" cy="493776"/>
          </a:xfrm>
          <a:prstGeom prst="rect">
            <a:avLst/>
          </a:prstGeom>
          <a:noFill/>
          <a:ln/>
        </p:spPr>
        <p:txBody>
          <a:bodyPr wrap="square" lIns="0" tIns="0" rIns="0" bIns="0" rtlCol="0" anchor="ctr"/>
          <a:lstStyle/>
          <a:p>
            <a:pPr indent="0" marL="0">
              <a:lnSpc>
                <a:spcPts val="1600"/>
              </a:lnSpc>
              <a:buNone/>
            </a:pPr>
            <a:r>
              <a:rPr lang="en-US" sz="1200" dirty="0">
                <a:solidFill>
                  <a:srgbClr val="6F7F76"/>
                </a:solidFill>
                <a:latin typeface="Calibri" pitchFamily="34" charset="0"/>
                <a:ea typeface="Calibri" pitchFamily="34" charset="-122"/>
                <a:cs typeface="Calibri" pitchFamily="34" charset="-120"/>
              </a:rPr>
              <a:t>Ürünün geliştirildiği Ar-Ge ortamı ve laboratuvar altyapısı.</a:t>
            </a:r>
            <a:endParaRPr lang="en-US" sz="1200" dirty="0"/>
          </a:p>
        </p:txBody>
      </p:sp>
      <p:sp>
        <p:nvSpPr>
          <p:cNvPr id="23" name="Shape 16"/>
          <p:cNvSpPr/>
          <p:nvPr/>
        </p:nvSpPr>
        <p:spPr>
          <a:xfrm>
            <a:off x="5440680" y="4956048"/>
            <a:ext cx="493776" cy="493776"/>
          </a:xfrm>
          <a:prstGeom prst="ellipse">
            <a:avLst/>
          </a:prstGeom>
          <a:solidFill>
            <a:srgbClr val="F07818"/>
          </a:solidFill>
          <a:ln w="12700">
            <a:solidFill>
              <a:srgbClr val="F07818"/>
            </a:solidFill>
            <a:prstDash val="solid"/>
          </a:ln>
        </p:spPr>
      </p:sp>
      <p:pic>
        <p:nvPicPr>
          <p:cNvPr id="24" name="Image 5" descr="img/icons/certificate_w.png">    </p:cNvPr>
          <p:cNvPicPr>
            <a:picLocks noChangeAspect="1"/>
          </p:cNvPicPr>
          <p:nvPr/>
        </p:nvPicPr>
        <p:blipFill>
          <a:blip r:embed="rId6"/>
          <a:stretch>
            <a:fillRect/>
          </a:stretch>
        </p:blipFill>
        <p:spPr>
          <a:xfrm>
            <a:off x="5574000" y="5089368"/>
            <a:ext cx="227137" cy="227137"/>
          </a:xfrm>
          <a:prstGeom prst="rect">
            <a:avLst/>
          </a:prstGeom>
        </p:spPr>
      </p:pic>
      <p:sp>
        <p:nvSpPr>
          <p:cNvPr id="25" name="Text 17"/>
          <p:cNvSpPr txBox="1"/>
          <p:nvPr/>
        </p:nvSpPr>
        <p:spPr>
          <a:xfrm>
            <a:off x="6153912" y="4937760"/>
            <a:ext cx="5351983" cy="310896"/>
          </a:xfrm>
          <a:prstGeom prst="rect">
            <a:avLst/>
          </a:prstGeom>
          <a:noFill/>
          <a:ln/>
        </p:spPr>
        <p:txBody>
          <a:bodyPr wrap="square" lIns="0" tIns="0" rIns="0" bIns="0" rtlCol="0" anchor="ctr"/>
          <a:lstStyle/>
          <a:p>
            <a:pPr indent="0" marL="0">
              <a:buNone/>
            </a:pPr>
            <a:r>
              <a:rPr lang="en-US" sz="1500" b="1" dirty="0">
                <a:solidFill>
                  <a:srgbClr val="07281D"/>
                </a:solidFill>
                <a:latin typeface="Cambria" pitchFamily="34" charset="0"/>
                <a:ea typeface="Cambria" pitchFamily="34" charset="-122"/>
                <a:cs typeface="Cambria" pitchFamily="34" charset="-120"/>
              </a:rPr>
              <a:t>Türk Patent ve Marka Kurumu</a:t>
            </a:r>
            <a:endParaRPr lang="en-US" sz="1500" dirty="0"/>
          </a:p>
        </p:txBody>
      </p:sp>
      <p:sp>
        <p:nvSpPr>
          <p:cNvPr id="26" name="Text 18"/>
          <p:cNvSpPr txBox="1"/>
          <p:nvPr/>
        </p:nvSpPr>
        <p:spPr>
          <a:xfrm>
            <a:off x="6153912" y="5266944"/>
            <a:ext cx="5351983" cy="493776"/>
          </a:xfrm>
          <a:prstGeom prst="rect">
            <a:avLst/>
          </a:prstGeom>
          <a:noFill/>
          <a:ln/>
        </p:spPr>
        <p:txBody>
          <a:bodyPr wrap="square" lIns="0" tIns="0" rIns="0" bIns="0" rtlCol="0" anchor="ctr"/>
          <a:lstStyle/>
          <a:p>
            <a:pPr indent="0" marL="0">
              <a:lnSpc>
                <a:spcPts val="1600"/>
              </a:lnSpc>
              <a:buNone/>
            </a:pPr>
            <a:r>
              <a:rPr lang="en-US" sz="1200" dirty="0">
                <a:solidFill>
                  <a:srgbClr val="6F7F76"/>
                </a:solidFill>
                <a:latin typeface="Calibri" pitchFamily="34" charset="0"/>
                <a:ea typeface="Calibri" pitchFamily="34" charset="-122"/>
                <a:cs typeface="Calibri" pitchFamily="34" charset="-120"/>
              </a:rPr>
              <a:t>ExtinGard markası ve söndürme formülasyonu koruma altında.</a:t>
            </a:r>
            <a:endParaRPr lang="en-US" sz="1200" dirty="0"/>
          </a:p>
        </p:txBody>
      </p:sp>
      <p:sp>
        <p:nvSpPr>
          <p:cNvPr id="27" name="Text 19"/>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A9BBAF"/>
                </a:solidFill>
                <a:latin typeface="Calibri" pitchFamily="34" charset="0"/>
                <a:ea typeface="Calibri" pitchFamily="34" charset="-122"/>
                <a:cs typeface="Calibri" pitchFamily="34" charset="-120"/>
              </a:rPr>
              <a:t>16</a:t>
            </a:r>
            <a:endParaRPr lang="en-US" sz="1000" dirty="0"/>
          </a:p>
        </p:txBody>
      </p:sp>
      <p:sp>
        <p:nvSpPr>
          <p:cNvPr id="28" name="Text 20"/>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A9BBAF"/>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85800" y="457200"/>
            <a:ext cx="10820095" cy="237744"/>
          </a:xfrm>
          <a:prstGeom prst="rect">
            <a:avLst/>
          </a:prstGeom>
          <a:noFill/>
          <a:ln/>
        </p:spPr>
        <p:txBody>
          <a:bodyPr wrap="square" lIns="0" tIns="0" rIns="0" bIns="0" rtlCol="0" anchor="ctr"/>
          <a:lstStyle/>
          <a:p>
            <a:pPr indent="0" marL="0">
              <a:buNone/>
            </a:pPr>
            <a:r>
              <a:rPr lang="en-US" sz="1100" b="1" spc="240" kern="0" dirty="0">
                <a:solidFill>
                  <a:srgbClr val="8CC084"/>
                </a:solidFill>
                <a:latin typeface="Calibri" pitchFamily="34" charset="0"/>
                <a:ea typeface="Calibri" pitchFamily="34" charset="-122"/>
                <a:cs typeface="Calibri" pitchFamily="34" charset="-120"/>
              </a:rPr>
              <a:t>EKİP</a:t>
            </a:r>
            <a:endParaRPr lang="en-US" sz="1100" dirty="0"/>
          </a:p>
        </p:txBody>
      </p:sp>
      <p:sp>
        <p:nvSpPr>
          <p:cNvPr id="4" name="Text 1"/>
          <p:cNvSpPr txBox="1"/>
          <p:nvPr/>
        </p:nvSpPr>
        <p:spPr>
          <a:xfrm>
            <a:off x="685800" y="694944"/>
            <a:ext cx="10820095" cy="658368"/>
          </a:xfrm>
          <a:prstGeom prst="rect">
            <a:avLst/>
          </a:prstGeom>
          <a:noFill/>
          <a:ln/>
        </p:spPr>
        <p:txBody>
          <a:bodyPr wrap="square" lIns="0" tIns="0" rIns="0" bIns="0" rtlCol="0" anchor="t"/>
          <a:lstStyle/>
          <a:p>
            <a:pPr indent="0" marL="0">
              <a:buNone/>
            </a:pPr>
            <a:r>
              <a:rPr lang="en-US" sz="3300" b="1" dirty="0">
                <a:solidFill>
                  <a:srgbClr val="FFFFFF"/>
                </a:solidFill>
                <a:latin typeface="Cambria" pitchFamily="34" charset="0"/>
                <a:ea typeface="Cambria" pitchFamily="34" charset="-122"/>
                <a:cs typeface="Cambria" pitchFamily="34" charset="-120"/>
              </a:rPr>
              <a:t>Ateş Kes Takımı</a:t>
            </a:r>
            <a:endParaRPr lang="en-US" sz="3300" dirty="0"/>
          </a:p>
        </p:txBody>
      </p:sp>
      <p:sp>
        <p:nvSpPr>
          <p:cNvPr id="5" name="Text 2"/>
          <p:cNvSpPr txBox="1"/>
          <p:nvPr/>
        </p:nvSpPr>
        <p:spPr>
          <a:xfrm>
            <a:off x="685800" y="1316736"/>
            <a:ext cx="9601200" cy="292608"/>
          </a:xfrm>
          <a:prstGeom prst="rect">
            <a:avLst/>
          </a:prstGeom>
          <a:noFill/>
          <a:ln/>
        </p:spPr>
        <p:txBody>
          <a:bodyPr wrap="square" lIns="0" tIns="0" rIns="0" bIns="0" rtlCol="0" anchor="ctr"/>
          <a:lstStyle/>
          <a:p>
            <a:pPr indent="0" marL="0">
              <a:buNone/>
            </a:pPr>
            <a:r>
              <a:rPr lang="en-US" sz="1450" dirty="0">
                <a:solidFill>
                  <a:srgbClr val="CFE3D6"/>
                </a:solidFill>
                <a:latin typeface="Calibri" pitchFamily="34" charset="0"/>
                <a:ea typeface="Calibri" pitchFamily="34" charset="-122"/>
                <a:cs typeface="Calibri" pitchFamily="34" charset="-120"/>
              </a:rPr>
              <a:t>DENEYAP, BİLSEM ve T3 Girişim Merkezi geçmişine sahip üç kişilik öğrenci ekibi ve proje danışmanı.</a:t>
            </a:r>
            <a:endParaRPr lang="en-US" sz="1450" dirty="0"/>
          </a:p>
        </p:txBody>
      </p:sp>
      <p:sp>
        <p:nvSpPr>
          <p:cNvPr id="6" name="Shape 3"/>
          <p:cNvSpPr/>
          <p:nvPr/>
        </p:nvSpPr>
        <p:spPr>
          <a:xfrm>
            <a:off x="685800" y="1975104"/>
            <a:ext cx="2512771" cy="2834640"/>
          </a:xfrm>
          <a:prstGeom prst="roundRect">
            <a:avLst>
              <a:gd name="adj" fmla="val 4003"/>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7" name="Shape 4"/>
          <p:cNvSpPr/>
          <p:nvPr/>
        </p:nvSpPr>
        <p:spPr>
          <a:xfrm>
            <a:off x="960120" y="2286000"/>
            <a:ext cx="749808" cy="749808"/>
          </a:xfrm>
          <a:prstGeom prst="ellipse">
            <a:avLst/>
          </a:prstGeom>
          <a:solidFill>
            <a:srgbClr val="F07818"/>
          </a:solidFill>
          <a:ln w="12700">
            <a:solidFill>
              <a:srgbClr val="F07818"/>
            </a:solidFill>
            <a:prstDash val="solid"/>
          </a:ln>
        </p:spPr>
      </p:sp>
      <p:sp>
        <p:nvSpPr>
          <p:cNvPr id="8" name="Text 5"/>
          <p:cNvSpPr txBox="1"/>
          <p:nvPr/>
        </p:nvSpPr>
        <p:spPr>
          <a:xfrm>
            <a:off x="960120" y="2286000"/>
            <a:ext cx="749808" cy="749808"/>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AE</a:t>
            </a:r>
            <a:endParaRPr lang="en-US" sz="2300" dirty="0"/>
          </a:p>
        </p:txBody>
      </p:sp>
      <p:sp>
        <p:nvSpPr>
          <p:cNvPr id="9" name="Text 6"/>
          <p:cNvSpPr txBox="1"/>
          <p:nvPr/>
        </p:nvSpPr>
        <p:spPr>
          <a:xfrm>
            <a:off x="960120" y="3127248"/>
            <a:ext cx="1964131" cy="512064"/>
          </a:xfrm>
          <a:prstGeom prst="rect">
            <a:avLst/>
          </a:prstGeom>
          <a:noFill/>
          <a:ln/>
        </p:spPr>
        <p:txBody>
          <a:bodyPr wrap="square" lIns="0" tIns="0" rIns="0" bIns="0" rtlCol="0" anchor="b"/>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Alp Kayra Erguvan</a:t>
            </a:r>
            <a:endParaRPr lang="en-US" sz="1550" dirty="0"/>
          </a:p>
        </p:txBody>
      </p:sp>
      <p:sp>
        <p:nvSpPr>
          <p:cNvPr id="10" name="Text 7"/>
          <p:cNvSpPr txBox="1"/>
          <p:nvPr/>
        </p:nvSpPr>
        <p:spPr>
          <a:xfrm>
            <a:off x="960120" y="3675888"/>
            <a:ext cx="1964131" cy="256032"/>
          </a:xfrm>
          <a:prstGeom prst="rect">
            <a:avLst/>
          </a:prstGeom>
          <a:noFill/>
          <a:ln/>
        </p:spPr>
        <p:txBody>
          <a:bodyPr wrap="square" lIns="0" tIns="0" rIns="0" bIns="0" rtlCol="0" anchor="ctr"/>
          <a:lstStyle/>
          <a:p>
            <a:pPr indent="0" marL="0">
              <a:buNone/>
            </a:pPr>
            <a:r>
              <a:rPr lang="en-US" sz="1100" b="1" spc="180" kern="0" dirty="0">
                <a:solidFill>
                  <a:srgbClr val="8CC084"/>
                </a:solidFill>
                <a:latin typeface="Calibri" pitchFamily="34" charset="0"/>
                <a:ea typeface="Calibri" pitchFamily="34" charset="-122"/>
                <a:cs typeface="Calibri" pitchFamily="34" charset="-120"/>
              </a:rPr>
              <a:t>Ar-Ge</a:t>
            </a:r>
            <a:endParaRPr lang="en-US" sz="1100" dirty="0"/>
          </a:p>
        </p:txBody>
      </p:sp>
      <p:sp>
        <p:nvSpPr>
          <p:cNvPr id="11" name="Text 8"/>
          <p:cNvSpPr txBox="1"/>
          <p:nvPr/>
        </p:nvSpPr>
        <p:spPr>
          <a:xfrm>
            <a:off x="960120" y="3986784"/>
            <a:ext cx="1964131" cy="713232"/>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Formülasyon geliştirme, test protokolleri ve üretim süreci.</a:t>
            </a:r>
            <a:endParaRPr lang="en-US" sz="1100" dirty="0"/>
          </a:p>
        </p:txBody>
      </p:sp>
      <p:sp>
        <p:nvSpPr>
          <p:cNvPr id="12" name="Shape 9"/>
          <p:cNvSpPr/>
          <p:nvPr/>
        </p:nvSpPr>
        <p:spPr>
          <a:xfrm>
            <a:off x="3454603" y="1975104"/>
            <a:ext cx="2512771" cy="2834640"/>
          </a:xfrm>
          <a:prstGeom prst="roundRect">
            <a:avLst>
              <a:gd name="adj" fmla="val 4003"/>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13" name="Shape 10"/>
          <p:cNvSpPr/>
          <p:nvPr/>
        </p:nvSpPr>
        <p:spPr>
          <a:xfrm>
            <a:off x="3728923" y="2286000"/>
            <a:ext cx="749808" cy="749808"/>
          </a:xfrm>
          <a:prstGeom prst="ellipse">
            <a:avLst/>
          </a:prstGeom>
          <a:solidFill>
            <a:srgbClr val="3E9B5F"/>
          </a:solidFill>
          <a:ln w="12700">
            <a:solidFill>
              <a:srgbClr val="3E9B5F"/>
            </a:solidFill>
            <a:prstDash val="solid"/>
          </a:ln>
        </p:spPr>
      </p:sp>
      <p:sp>
        <p:nvSpPr>
          <p:cNvPr id="14" name="Text 11"/>
          <p:cNvSpPr txBox="1"/>
          <p:nvPr/>
        </p:nvSpPr>
        <p:spPr>
          <a:xfrm>
            <a:off x="3728923" y="2286000"/>
            <a:ext cx="749808" cy="749808"/>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CS</a:t>
            </a:r>
            <a:endParaRPr lang="en-US" sz="2300" dirty="0"/>
          </a:p>
        </p:txBody>
      </p:sp>
      <p:sp>
        <p:nvSpPr>
          <p:cNvPr id="15" name="Text 12"/>
          <p:cNvSpPr txBox="1"/>
          <p:nvPr/>
        </p:nvSpPr>
        <p:spPr>
          <a:xfrm>
            <a:off x="3728923" y="3127248"/>
            <a:ext cx="1964131" cy="512064"/>
          </a:xfrm>
          <a:prstGeom prst="rect">
            <a:avLst/>
          </a:prstGeom>
          <a:noFill/>
          <a:ln/>
        </p:spPr>
        <p:txBody>
          <a:bodyPr wrap="square" lIns="0" tIns="0" rIns="0" bIns="0" rtlCol="0" anchor="b"/>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Ceyda Nur Söylemez</a:t>
            </a:r>
            <a:endParaRPr lang="en-US" sz="1550" dirty="0"/>
          </a:p>
        </p:txBody>
      </p:sp>
      <p:sp>
        <p:nvSpPr>
          <p:cNvPr id="16" name="Text 13"/>
          <p:cNvSpPr txBox="1"/>
          <p:nvPr/>
        </p:nvSpPr>
        <p:spPr>
          <a:xfrm>
            <a:off x="3728923" y="3675888"/>
            <a:ext cx="1964131" cy="256032"/>
          </a:xfrm>
          <a:prstGeom prst="rect">
            <a:avLst/>
          </a:prstGeom>
          <a:noFill/>
          <a:ln/>
        </p:spPr>
        <p:txBody>
          <a:bodyPr wrap="square" lIns="0" tIns="0" rIns="0" bIns="0" rtlCol="0" anchor="ctr"/>
          <a:lstStyle/>
          <a:p>
            <a:pPr indent="0" marL="0">
              <a:buNone/>
            </a:pPr>
            <a:r>
              <a:rPr lang="en-US" sz="1100" b="1" spc="180" kern="0" dirty="0">
                <a:solidFill>
                  <a:srgbClr val="8CC084"/>
                </a:solidFill>
                <a:latin typeface="Calibri" pitchFamily="34" charset="0"/>
                <a:ea typeface="Calibri" pitchFamily="34" charset="-122"/>
                <a:cs typeface="Calibri" pitchFamily="34" charset="-120"/>
              </a:rPr>
              <a:t>Analist</a:t>
            </a:r>
            <a:endParaRPr lang="en-US" sz="1100" dirty="0"/>
          </a:p>
        </p:txBody>
      </p:sp>
      <p:sp>
        <p:nvSpPr>
          <p:cNvPr id="17" name="Text 14"/>
          <p:cNvSpPr txBox="1"/>
          <p:nvPr/>
        </p:nvSpPr>
        <p:spPr>
          <a:xfrm>
            <a:off x="3728923" y="3986784"/>
            <a:ext cx="1964131" cy="713232"/>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Pazar araştırması, rekabet analizi ve maliyet modellemesi.</a:t>
            </a:r>
            <a:endParaRPr lang="en-US" sz="1100" dirty="0"/>
          </a:p>
        </p:txBody>
      </p:sp>
      <p:sp>
        <p:nvSpPr>
          <p:cNvPr id="18" name="Shape 15"/>
          <p:cNvSpPr/>
          <p:nvPr/>
        </p:nvSpPr>
        <p:spPr>
          <a:xfrm>
            <a:off x="6223406" y="1975104"/>
            <a:ext cx="2512771" cy="2834640"/>
          </a:xfrm>
          <a:prstGeom prst="roundRect">
            <a:avLst>
              <a:gd name="adj" fmla="val 4003"/>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19" name="Shape 16"/>
          <p:cNvSpPr/>
          <p:nvPr/>
        </p:nvSpPr>
        <p:spPr>
          <a:xfrm>
            <a:off x="6497726" y="2286000"/>
            <a:ext cx="749808" cy="749808"/>
          </a:xfrm>
          <a:prstGeom prst="ellipse">
            <a:avLst/>
          </a:prstGeom>
          <a:solidFill>
            <a:srgbClr val="F07818"/>
          </a:solidFill>
          <a:ln w="12700">
            <a:solidFill>
              <a:srgbClr val="F07818"/>
            </a:solidFill>
            <a:prstDash val="solid"/>
          </a:ln>
        </p:spPr>
      </p:sp>
      <p:sp>
        <p:nvSpPr>
          <p:cNvPr id="20" name="Text 17"/>
          <p:cNvSpPr txBox="1"/>
          <p:nvPr/>
        </p:nvSpPr>
        <p:spPr>
          <a:xfrm>
            <a:off x="6497726" y="2286000"/>
            <a:ext cx="749808" cy="749808"/>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HA</a:t>
            </a:r>
            <a:endParaRPr lang="en-US" sz="2300" dirty="0"/>
          </a:p>
        </p:txBody>
      </p:sp>
      <p:sp>
        <p:nvSpPr>
          <p:cNvPr id="21" name="Text 18"/>
          <p:cNvSpPr txBox="1"/>
          <p:nvPr/>
        </p:nvSpPr>
        <p:spPr>
          <a:xfrm>
            <a:off x="6497726" y="3127248"/>
            <a:ext cx="1964131" cy="512064"/>
          </a:xfrm>
          <a:prstGeom prst="rect">
            <a:avLst/>
          </a:prstGeom>
          <a:noFill/>
          <a:ln/>
        </p:spPr>
        <p:txBody>
          <a:bodyPr wrap="square" lIns="0" tIns="0" rIns="0" bIns="0" rtlCol="0" anchor="b"/>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Havva Yaren Aydın</a:t>
            </a:r>
            <a:endParaRPr lang="en-US" sz="1550" dirty="0"/>
          </a:p>
        </p:txBody>
      </p:sp>
      <p:sp>
        <p:nvSpPr>
          <p:cNvPr id="22" name="Text 19"/>
          <p:cNvSpPr txBox="1"/>
          <p:nvPr/>
        </p:nvSpPr>
        <p:spPr>
          <a:xfrm>
            <a:off x="6497726" y="3675888"/>
            <a:ext cx="1964131" cy="256032"/>
          </a:xfrm>
          <a:prstGeom prst="rect">
            <a:avLst/>
          </a:prstGeom>
          <a:noFill/>
          <a:ln/>
        </p:spPr>
        <p:txBody>
          <a:bodyPr wrap="square" lIns="0" tIns="0" rIns="0" bIns="0" rtlCol="0" anchor="ctr"/>
          <a:lstStyle/>
          <a:p>
            <a:pPr indent="0" marL="0">
              <a:buNone/>
            </a:pPr>
            <a:r>
              <a:rPr lang="en-US" sz="1100" b="1" spc="180" kern="0" dirty="0">
                <a:solidFill>
                  <a:srgbClr val="8CC084"/>
                </a:solidFill>
                <a:latin typeface="Calibri" pitchFamily="34" charset="0"/>
                <a:ea typeface="Calibri" pitchFamily="34" charset="-122"/>
                <a:cs typeface="Calibri" pitchFamily="34" charset="-120"/>
              </a:rPr>
              <a:t>Stratejist</a:t>
            </a:r>
            <a:endParaRPr lang="en-US" sz="1100" dirty="0"/>
          </a:p>
        </p:txBody>
      </p:sp>
      <p:sp>
        <p:nvSpPr>
          <p:cNvPr id="23" name="Text 20"/>
          <p:cNvSpPr txBox="1"/>
          <p:nvPr/>
        </p:nvSpPr>
        <p:spPr>
          <a:xfrm>
            <a:off x="6497726" y="3986784"/>
            <a:ext cx="1964131" cy="713232"/>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İş modeli, kurumsal ilişkiler ve pazara çıkış stratejisi.</a:t>
            </a:r>
            <a:endParaRPr lang="en-US" sz="1100" dirty="0"/>
          </a:p>
        </p:txBody>
      </p:sp>
      <p:sp>
        <p:nvSpPr>
          <p:cNvPr id="24" name="Shape 21"/>
          <p:cNvSpPr/>
          <p:nvPr/>
        </p:nvSpPr>
        <p:spPr>
          <a:xfrm>
            <a:off x="8992210" y="1975104"/>
            <a:ext cx="2512771" cy="2834640"/>
          </a:xfrm>
          <a:prstGeom prst="roundRect">
            <a:avLst>
              <a:gd name="adj" fmla="val 4003"/>
            </a:avLst>
          </a:prstGeom>
          <a:solidFill>
            <a:srgbClr val="113522"/>
          </a:solidFill>
          <a:ln w="12700">
            <a:solidFill>
              <a:srgbClr val="23593F"/>
            </a:solidFill>
            <a:prstDash val="solid"/>
          </a:ln>
          <a:effectLst>
            <a:outerShdw sx="100000" sy="100000" kx="0" ky="0" algn="bl" rotWithShape="0" blurRad="203200" dist="50800" dir="5400000">
              <a:srgbClr val="000000">
                <a:alpha val="30000"/>
              </a:srgbClr>
            </a:outerShdw>
          </a:effectLst>
        </p:spPr>
      </p:sp>
      <p:sp>
        <p:nvSpPr>
          <p:cNvPr id="25" name="Shape 22"/>
          <p:cNvSpPr/>
          <p:nvPr/>
        </p:nvSpPr>
        <p:spPr>
          <a:xfrm>
            <a:off x="9266530" y="2286000"/>
            <a:ext cx="749808" cy="749808"/>
          </a:xfrm>
          <a:prstGeom prst="ellipse">
            <a:avLst/>
          </a:prstGeom>
          <a:solidFill>
            <a:srgbClr val="3E9B5F"/>
          </a:solidFill>
          <a:ln w="12700">
            <a:solidFill>
              <a:srgbClr val="3E9B5F"/>
            </a:solidFill>
            <a:prstDash val="solid"/>
          </a:ln>
        </p:spPr>
      </p:sp>
      <p:sp>
        <p:nvSpPr>
          <p:cNvPr id="26" name="Text 23"/>
          <p:cNvSpPr txBox="1"/>
          <p:nvPr/>
        </p:nvSpPr>
        <p:spPr>
          <a:xfrm>
            <a:off x="9266530" y="2286000"/>
            <a:ext cx="749808" cy="749808"/>
          </a:xfrm>
          <a:prstGeom prst="rect">
            <a:avLst/>
          </a:prstGeom>
          <a:noFill/>
          <a:ln/>
        </p:spPr>
        <p:txBody>
          <a:bodyPr wrap="square" lIns="0" tIns="0" rIns="0" bIns="0" rtlCol="0" anchor="ctr"/>
          <a:lstStyle/>
          <a:p>
            <a:pPr algn="ctr" indent="0" marL="0">
              <a:buNone/>
            </a:pPr>
            <a:r>
              <a:rPr lang="en-US" sz="2300" b="1" dirty="0">
                <a:solidFill>
                  <a:srgbClr val="FFFFFF"/>
                </a:solidFill>
                <a:latin typeface="Cambria" pitchFamily="34" charset="0"/>
                <a:ea typeface="Cambria" pitchFamily="34" charset="-122"/>
                <a:cs typeface="Cambria" pitchFamily="34" charset="-120"/>
              </a:rPr>
              <a:t>GS</a:t>
            </a:r>
            <a:endParaRPr lang="en-US" sz="2300" dirty="0"/>
          </a:p>
        </p:txBody>
      </p:sp>
      <p:sp>
        <p:nvSpPr>
          <p:cNvPr id="27" name="Text 24"/>
          <p:cNvSpPr txBox="1"/>
          <p:nvPr/>
        </p:nvSpPr>
        <p:spPr>
          <a:xfrm>
            <a:off x="9266530" y="3127248"/>
            <a:ext cx="1964131" cy="512064"/>
          </a:xfrm>
          <a:prstGeom prst="rect">
            <a:avLst/>
          </a:prstGeom>
          <a:noFill/>
          <a:ln/>
        </p:spPr>
        <p:txBody>
          <a:bodyPr wrap="square" lIns="0" tIns="0" rIns="0" bIns="0" rtlCol="0" anchor="b"/>
          <a:lstStyle/>
          <a:p>
            <a:pPr indent="0" marL="0">
              <a:lnSpc>
                <a:spcPts val="2000"/>
              </a:lnSpc>
              <a:buNone/>
            </a:pPr>
            <a:r>
              <a:rPr lang="en-US" sz="1550" b="1" dirty="0">
                <a:solidFill>
                  <a:srgbClr val="FFFFFF"/>
                </a:solidFill>
                <a:latin typeface="Cambria" pitchFamily="34" charset="0"/>
                <a:ea typeface="Cambria" pitchFamily="34" charset="-122"/>
                <a:cs typeface="Cambria" pitchFamily="34" charset="-120"/>
              </a:rPr>
              <a:t>Gülçin Sezen</a:t>
            </a:r>
            <a:endParaRPr lang="en-US" sz="1550" dirty="0"/>
          </a:p>
        </p:txBody>
      </p:sp>
      <p:sp>
        <p:nvSpPr>
          <p:cNvPr id="28" name="Text 25"/>
          <p:cNvSpPr txBox="1"/>
          <p:nvPr/>
        </p:nvSpPr>
        <p:spPr>
          <a:xfrm>
            <a:off x="9266530" y="3675888"/>
            <a:ext cx="1964131" cy="256032"/>
          </a:xfrm>
          <a:prstGeom prst="rect">
            <a:avLst/>
          </a:prstGeom>
          <a:noFill/>
          <a:ln/>
        </p:spPr>
        <p:txBody>
          <a:bodyPr wrap="square" lIns="0" tIns="0" rIns="0" bIns="0" rtlCol="0" anchor="ctr"/>
          <a:lstStyle/>
          <a:p>
            <a:pPr indent="0" marL="0">
              <a:buNone/>
            </a:pPr>
            <a:r>
              <a:rPr lang="en-US" sz="1100" b="1" spc="180" kern="0" dirty="0">
                <a:solidFill>
                  <a:srgbClr val="8CC084"/>
                </a:solidFill>
                <a:latin typeface="Calibri" pitchFamily="34" charset="0"/>
                <a:ea typeface="Calibri" pitchFamily="34" charset="-122"/>
                <a:cs typeface="Calibri" pitchFamily="34" charset="-120"/>
              </a:rPr>
              <a:t>Danışman</a:t>
            </a:r>
            <a:endParaRPr lang="en-US" sz="1100" dirty="0"/>
          </a:p>
        </p:txBody>
      </p:sp>
      <p:sp>
        <p:nvSpPr>
          <p:cNvPr id="29" name="Text 26"/>
          <p:cNvSpPr txBox="1"/>
          <p:nvPr/>
        </p:nvSpPr>
        <p:spPr>
          <a:xfrm>
            <a:off x="9266530" y="3986784"/>
            <a:ext cx="1964131" cy="713232"/>
          </a:xfrm>
          <a:prstGeom prst="rect">
            <a:avLst/>
          </a:prstGeom>
          <a:noFill/>
          <a:ln/>
        </p:spPr>
        <p:txBody>
          <a:bodyPr wrap="square" lIns="0" tIns="0" rIns="0" bIns="0" rtlCol="0" anchor="ctr"/>
          <a:lstStyle/>
          <a:p>
            <a:pPr indent="0" marL="0">
              <a:lnSpc>
                <a:spcPts val="1500"/>
              </a:lnSpc>
              <a:buNone/>
            </a:pPr>
            <a:r>
              <a:rPr lang="en-US" sz="1100" dirty="0">
                <a:solidFill>
                  <a:srgbClr val="CFE3D6"/>
                </a:solidFill>
                <a:latin typeface="Calibri" pitchFamily="34" charset="0"/>
                <a:ea typeface="Calibri" pitchFamily="34" charset="-122"/>
                <a:cs typeface="Calibri" pitchFamily="34" charset="-120"/>
              </a:rPr>
              <a:t>Proje danışmanlığı, bilimsel yönlendirme ve kurumsal süreçler.</a:t>
            </a:r>
            <a:endParaRPr lang="en-US" sz="1100" dirty="0"/>
          </a:p>
        </p:txBody>
      </p:sp>
      <p:sp>
        <p:nvSpPr>
          <p:cNvPr id="30" name="Text 27"/>
          <p:cNvSpPr txBox="1"/>
          <p:nvPr/>
        </p:nvSpPr>
        <p:spPr>
          <a:xfrm>
            <a:off x="685800" y="5084064"/>
            <a:ext cx="5276088" cy="237744"/>
          </a:xfrm>
          <a:prstGeom prst="rect">
            <a:avLst/>
          </a:prstGeom>
          <a:noFill/>
          <a:ln/>
        </p:spPr>
        <p:txBody>
          <a:bodyPr wrap="square" lIns="0" tIns="0" rIns="0" bIns="0" rtlCol="0" anchor="ctr"/>
          <a:lstStyle/>
          <a:p>
            <a:pPr indent="0" marL="0">
              <a:buNone/>
            </a:pPr>
            <a:r>
              <a:rPr lang="en-US" sz="1050" b="1" spc="240" kern="0" dirty="0">
                <a:solidFill>
                  <a:srgbClr val="8CC084"/>
                </a:solidFill>
                <a:latin typeface="Calibri" pitchFamily="34" charset="0"/>
                <a:ea typeface="Calibri" pitchFamily="34" charset="-122"/>
                <a:cs typeface="Calibri" pitchFamily="34" charset="-120"/>
              </a:rPr>
              <a:t>MİSYON</a:t>
            </a:r>
            <a:endParaRPr lang="en-US" sz="1050" dirty="0"/>
          </a:p>
        </p:txBody>
      </p:sp>
      <p:sp>
        <p:nvSpPr>
          <p:cNvPr id="31" name="Text 28"/>
          <p:cNvSpPr txBox="1"/>
          <p:nvPr/>
        </p:nvSpPr>
        <p:spPr>
          <a:xfrm>
            <a:off x="685800" y="5340096"/>
            <a:ext cx="5276088" cy="713232"/>
          </a:xfrm>
          <a:prstGeom prst="rect">
            <a:avLst/>
          </a:prstGeom>
          <a:noFill/>
          <a:ln/>
        </p:spPr>
        <p:txBody>
          <a:bodyPr wrap="square" lIns="0" tIns="0" rIns="0" bIns="0" rtlCol="0" anchor="ctr"/>
          <a:lstStyle/>
          <a:p>
            <a:pPr indent="0" marL="0">
              <a:lnSpc>
                <a:spcPts val="1500"/>
              </a:lnSpc>
              <a:buNone/>
            </a:pPr>
            <a:r>
              <a:rPr lang="en-US" sz="1150" dirty="0">
                <a:solidFill>
                  <a:srgbClr val="CFE3D6"/>
                </a:solidFill>
                <a:latin typeface="Calibri" pitchFamily="34" charset="0"/>
                <a:ea typeface="Calibri" pitchFamily="34" charset="-122"/>
                <a:cs typeface="Calibri" pitchFamily="34" charset="-120"/>
              </a:rPr>
              <a:t>Yangınla mücadelede kimyasal bağımlılığı azaltmak; doğaya ve insan sağlığına zarar vermeyen sürdürülebilir çözümlerle öncülük etmek.</a:t>
            </a:r>
            <a:endParaRPr lang="en-US" sz="1150" dirty="0"/>
          </a:p>
        </p:txBody>
      </p:sp>
      <p:sp>
        <p:nvSpPr>
          <p:cNvPr id="32" name="Text 29"/>
          <p:cNvSpPr txBox="1"/>
          <p:nvPr/>
        </p:nvSpPr>
        <p:spPr>
          <a:xfrm>
            <a:off x="6227064" y="5084064"/>
            <a:ext cx="5276088" cy="237744"/>
          </a:xfrm>
          <a:prstGeom prst="rect">
            <a:avLst/>
          </a:prstGeom>
          <a:noFill/>
          <a:ln/>
        </p:spPr>
        <p:txBody>
          <a:bodyPr wrap="square" lIns="0" tIns="0" rIns="0" bIns="0" rtlCol="0" anchor="ctr"/>
          <a:lstStyle/>
          <a:p>
            <a:pPr indent="0" marL="0">
              <a:buNone/>
            </a:pPr>
            <a:r>
              <a:rPr lang="en-US" sz="1050" b="1" spc="240" kern="0" dirty="0">
                <a:solidFill>
                  <a:srgbClr val="8CC084"/>
                </a:solidFill>
                <a:latin typeface="Calibri" pitchFamily="34" charset="0"/>
                <a:ea typeface="Calibri" pitchFamily="34" charset="-122"/>
                <a:cs typeface="Calibri" pitchFamily="34" charset="-120"/>
              </a:rPr>
              <a:t>VİZYON</a:t>
            </a:r>
            <a:endParaRPr lang="en-US" sz="1050" dirty="0"/>
          </a:p>
        </p:txBody>
      </p:sp>
      <p:sp>
        <p:nvSpPr>
          <p:cNvPr id="33" name="Text 30"/>
          <p:cNvSpPr txBox="1"/>
          <p:nvPr/>
        </p:nvSpPr>
        <p:spPr>
          <a:xfrm>
            <a:off x="6227064" y="5340096"/>
            <a:ext cx="5276088" cy="713232"/>
          </a:xfrm>
          <a:prstGeom prst="rect">
            <a:avLst/>
          </a:prstGeom>
          <a:noFill/>
          <a:ln/>
        </p:spPr>
        <p:txBody>
          <a:bodyPr wrap="square" lIns="0" tIns="0" rIns="0" bIns="0" rtlCol="0" anchor="ctr"/>
          <a:lstStyle/>
          <a:p>
            <a:pPr indent="0" marL="0">
              <a:lnSpc>
                <a:spcPts val="1500"/>
              </a:lnSpc>
              <a:buNone/>
            </a:pPr>
            <a:r>
              <a:rPr lang="en-US" sz="1150" dirty="0">
                <a:solidFill>
                  <a:srgbClr val="CFE3D6"/>
                </a:solidFill>
                <a:latin typeface="Calibri" pitchFamily="34" charset="0"/>
                <a:ea typeface="Calibri" pitchFamily="34" charset="-122"/>
                <a:cs typeface="Calibri" pitchFamily="34" charset="-120"/>
              </a:rPr>
              <a:t>Türkiye'den çıkan bir yeşil teknoloji markasını, erişilebilir ürünlerle dünya çapında bir standart hâline getirmek.</a:t>
            </a:r>
            <a:endParaRPr lang="en-US" sz="1150" dirty="0"/>
          </a:p>
        </p:txBody>
      </p:sp>
      <p:sp>
        <p:nvSpPr>
          <p:cNvPr id="34" name="Text 31"/>
          <p:cNvSpPr txBox="1"/>
          <p:nvPr/>
        </p:nvSpPr>
        <p:spPr>
          <a:xfrm>
            <a:off x="10682935" y="6291072"/>
            <a:ext cx="822960" cy="274320"/>
          </a:xfrm>
          <a:prstGeom prst="rect">
            <a:avLst/>
          </a:prstGeom>
          <a:noFill/>
          <a:ln/>
        </p:spPr>
        <p:txBody>
          <a:bodyPr wrap="square" lIns="0" tIns="0" rIns="0" bIns="0" rtlCol="0" anchor="ctr"/>
          <a:lstStyle/>
          <a:p>
            <a:pPr algn="r" indent="0" marL="0">
              <a:buNone/>
            </a:pPr>
            <a:r>
              <a:rPr lang="en-US" sz="1000" b="1" dirty="0">
                <a:solidFill>
                  <a:srgbClr val="5E8770"/>
                </a:solidFill>
                <a:latin typeface="Calibri" pitchFamily="34" charset="0"/>
                <a:ea typeface="Calibri" pitchFamily="34" charset="-122"/>
                <a:cs typeface="Calibri" pitchFamily="34" charset="-120"/>
              </a:rPr>
              <a:t>17</a:t>
            </a:r>
            <a:endParaRPr lang="en-US" sz="1000" dirty="0"/>
          </a:p>
        </p:txBody>
      </p:sp>
      <p:sp>
        <p:nvSpPr>
          <p:cNvPr id="35" name="Text 32"/>
          <p:cNvSpPr txBox="1"/>
          <p:nvPr/>
        </p:nvSpPr>
        <p:spPr>
          <a:xfrm>
            <a:off x="685800" y="6291072"/>
            <a:ext cx="2743200" cy="274320"/>
          </a:xfrm>
          <a:prstGeom prst="rect">
            <a:avLst/>
          </a:prstGeom>
          <a:noFill/>
          <a:ln/>
        </p:spPr>
        <p:txBody>
          <a:bodyPr wrap="square" lIns="0" tIns="0" rIns="0" bIns="0" rtlCol="0" anchor="ctr"/>
          <a:lstStyle/>
          <a:p>
            <a:pPr indent="0" marL="0">
              <a:buNone/>
            </a:pPr>
            <a:r>
              <a:rPr lang="en-US" sz="1000" dirty="0">
                <a:solidFill>
                  <a:srgbClr val="5E8770"/>
                </a:solidFill>
                <a:latin typeface="Calibri" pitchFamily="34" charset="0"/>
                <a:ea typeface="Calibri" pitchFamily="34" charset="-122"/>
                <a:cs typeface="Calibri" pitchFamily="34" charset="-120"/>
              </a:rPr>
              <a:t>ExtinGard</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img/bg_dark.png">    </p:cNvPr>
          <p:cNvPicPr>
            <a:picLocks noChangeAspect="1"/>
          </p:cNvPicPr>
          <p:nvPr/>
        </p:nvPicPr>
        <p:blipFill>
          <a:blip r:embed="rId1"/>
          <a:stretch>
            <a:fillRect/>
          </a:stretch>
        </p:blipFill>
        <p:spPr>
          <a:xfrm>
            <a:off x="0" y="0"/>
            <a:ext cx="12191695" cy="6858000"/>
          </a:xfrm>
          <a:prstGeom prst="rect">
            <a:avLst/>
          </a:prstGeom>
        </p:spPr>
      </p:pic>
      <p:pic>
        <p:nvPicPr>
          <p:cNvPr id="3" name="Image 1" descr="img/logo_w.png">    </p:cNvPr>
          <p:cNvPicPr>
            <a:picLocks noChangeAspect="1"/>
          </p:cNvPicPr>
          <p:nvPr/>
        </p:nvPicPr>
        <p:blipFill>
          <a:blip r:embed="rId2"/>
          <a:stretch>
            <a:fillRect/>
          </a:stretch>
        </p:blipFill>
        <p:spPr>
          <a:xfrm>
            <a:off x="685800" y="658368"/>
            <a:ext cx="1536192" cy="1053389"/>
          </a:xfrm>
          <a:prstGeom prst="rect">
            <a:avLst/>
          </a:prstGeom>
        </p:spPr>
      </p:pic>
      <p:sp>
        <p:nvSpPr>
          <p:cNvPr id="4" name="Text 0"/>
          <p:cNvSpPr txBox="1"/>
          <p:nvPr/>
        </p:nvSpPr>
        <p:spPr>
          <a:xfrm>
            <a:off x="685800" y="2139696"/>
            <a:ext cx="10058400" cy="1024128"/>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Teşekkür Ederiz</a:t>
            </a:r>
            <a:endParaRPr lang="en-US" sz="5800" dirty="0"/>
          </a:p>
        </p:txBody>
      </p:sp>
      <p:sp>
        <p:nvSpPr>
          <p:cNvPr id="5" name="Text 1"/>
          <p:cNvSpPr txBox="1"/>
          <p:nvPr/>
        </p:nvSpPr>
        <p:spPr>
          <a:xfrm>
            <a:off x="685800" y="3218688"/>
            <a:ext cx="7772400" cy="384048"/>
          </a:xfrm>
          <a:prstGeom prst="rect">
            <a:avLst/>
          </a:prstGeom>
          <a:noFill/>
          <a:ln/>
        </p:spPr>
        <p:txBody>
          <a:bodyPr wrap="square" lIns="0" tIns="0" rIns="0" bIns="0" rtlCol="0" anchor="ctr"/>
          <a:lstStyle/>
          <a:p>
            <a:pPr indent="0" marL="0">
              <a:buNone/>
            </a:pPr>
            <a:r>
              <a:rPr lang="en-US" sz="1700" dirty="0">
                <a:solidFill>
                  <a:srgbClr val="CFE3D6"/>
                </a:solidFill>
                <a:latin typeface="Calibri" pitchFamily="34" charset="0"/>
                <a:ea typeface="Calibri" pitchFamily="34" charset="-122"/>
                <a:cs typeface="Calibri" pitchFamily="34" charset="-120"/>
              </a:rPr>
              <a:t>Sorularınız mı var? Bizimle iletişime geçin.</a:t>
            </a:r>
            <a:endParaRPr lang="en-US" sz="1700" dirty="0"/>
          </a:p>
        </p:txBody>
      </p:sp>
      <p:sp>
        <p:nvSpPr>
          <p:cNvPr id="6" name="Shape 2"/>
          <p:cNvSpPr/>
          <p:nvPr/>
        </p:nvSpPr>
        <p:spPr>
          <a:xfrm>
            <a:off x="685800" y="4114800"/>
            <a:ext cx="512064" cy="512064"/>
          </a:xfrm>
          <a:prstGeom prst="ellipse">
            <a:avLst/>
          </a:prstGeom>
          <a:solidFill>
            <a:srgbClr val="3E9B5F"/>
          </a:solidFill>
          <a:ln w="12700">
            <a:solidFill>
              <a:srgbClr val="3E9B5F"/>
            </a:solidFill>
            <a:prstDash val="solid"/>
          </a:ln>
        </p:spPr>
      </p:sp>
      <p:pic>
        <p:nvPicPr>
          <p:cNvPr id="7" name="Image 2" descr="img/icons/mail_w.png">    </p:cNvPr>
          <p:cNvPicPr>
            <a:picLocks noChangeAspect="1"/>
          </p:cNvPicPr>
          <p:nvPr/>
        </p:nvPicPr>
        <p:blipFill>
          <a:blip r:embed="rId3"/>
          <a:stretch>
            <a:fillRect/>
          </a:stretch>
        </p:blipFill>
        <p:spPr>
          <a:xfrm>
            <a:off x="824057" y="4253057"/>
            <a:ext cx="235549" cy="235549"/>
          </a:xfrm>
          <a:prstGeom prst="rect">
            <a:avLst/>
          </a:prstGeom>
        </p:spPr>
      </p:pic>
      <p:sp>
        <p:nvSpPr>
          <p:cNvPr id="8" name="Text 3"/>
          <p:cNvSpPr txBox="1"/>
          <p:nvPr/>
        </p:nvSpPr>
        <p:spPr>
          <a:xfrm>
            <a:off x="1417320" y="4096512"/>
            <a:ext cx="4754880" cy="256032"/>
          </a:xfrm>
          <a:prstGeom prst="rect">
            <a:avLst/>
          </a:prstGeom>
          <a:noFill/>
          <a:ln/>
        </p:spPr>
        <p:txBody>
          <a:bodyPr wrap="square" lIns="0" tIns="0" rIns="0" bIns="0" rtlCol="0" anchor="ctr"/>
          <a:lstStyle/>
          <a:p>
            <a:pPr indent="0" marL="0">
              <a:buNone/>
            </a:pPr>
            <a:r>
              <a:rPr lang="en-US" sz="1050" b="1" spc="180" kern="0" dirty="0">
                <a:solidFill>
                  <a:srgbClr val="7FA88F"/>
                </a:solidFill>
                <a:latin typeface="Calibri" pitchFamily="34" charset="0"/>
                <a:ea typeface="Calibri" pitchFamily="34" charset="-122"/>
                <a:cs typeface="Calibri" pitchFamily="34" charset="-120"/>
              </a:rPr>
              <a:t>E-posta</a:t>
            </a:r>
            <a:endParaRPr lang="en-US" sz="1050" dirty="0"/>
          </a:p>
        </p:txBody>
      </p:sp>
      <p:sp>
        <p:nvSpPr>
          <p:cNvPr id="9" name="Text 4"/>
          <p:cNvSpPr txBox="1"/>
          <p:nvPr/>
        </p:nvSpPr>
        <p:spPr>
          <a:xfrm>
            <a:off x="1417320" y="4334256"/>
            <a:ext cx="475488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extingard@gmail.com</a:t>
            </a:r>
            <a:endParaRPr lang="en-US" sz="1550" dirty="0"/>
          </a:p>
        </p:txBody>
      </p:sp>
      <p:sp>
        <p:nvSpPr>
          <p:cNvPr id="10" name="Shape 5"/>
          <p:cNvSpPr/>
          <p:nvPr/>
        </p:nvSpPr>
        <p:spPr>
          <a:xfrm>
            <a:off x="6355080" y="4114800"/>
            <a:ext cx="512064" cy="512064"/>
          </a:xfrm>
          <a:prstGeom prst="ellipse">
            <a:avLst/>
          </a:prstGeom>
          <a:solidFill>
            <a:srgbClr val="F07818"/>
          </a:solidFill>
          <a:ln w="12700">
            <a:solidFill>
              <a:srgbClr val="F07818"/>
            </a:solidFill>
            <a:prstDash val="solid"/>
          </a:ln>
        </p:spPr>
      </p:sp>
      <p:pic>
        <p:nvPicPr>
          <p:cNvPr id="11" name="Image 3" descr="img/icons/phone_w.png">    </p:cNvPr>
          <p:cNvPicPr>
            <a:picLocks noChangeAspect="1"/>
          </p:cNvPicPr>
          <p:nvPr/>
        </p:nvPicPr>
        <p:blipFill>
          <a:blip r:embed="rId4"/>
          <a:stretch>
            <a:fillRect/>
          </a:stretch>
        </p:blipFill>
        <p:spPr>
          <a:xfrm>
            <a:off x="6493337" y="4253057"/>
            <a:ext cx="235549" cy="235549"/>
          </a:xfrm>
          <a:prstGeom prst="rect">
            <a:avLst/>
          </a:prstGeom>
        </p:spPr>
      </p:pic>
      <p:sp>
        <p:nvSpPr>
          <p:cNvPr id="12" name="Text 6"/>
          <p:cNvSpPr txBox="1"/>
          <p:nvPr/>
        </p:nvSpPr>
        <p:spPr>
          <a:xfrm>
            <a:off x="7086600" y="4096512"/>
            <a:ext cx="4754880" cy="256032"/>
          </a:xfrm>
          <a:prstGeom prst="rect">
            <a:avLst/>
          </a:prstGeom>
          <a:noFill/>
          <a:ln/>
        </p:spPr>
        <p:txBody>
          <a:bodyPr wrap="square" lIns="0" tIns="0" rIns="0" bIns="0" rtlCol="0" anchor="ctr"/>
          <a:lstStyle/>
          <a:p>
            <a:pPr indent="0" marL="0">
              <a:buNone/>
            </a:pPr>
            <a:r>
              <a:rPr lang="en-US" sz="1050" b="1" spc="180" kern="0" dirty="0">
                <a:solidFill>
                  <a:srgbClr val="7FA88F"/>
                </a:solidFill>
                <a:latin typeface="Calibri" pitchFamily="34" charset="0"/>
                <a:ea typeface="Calibri" pitchFamily="34" charset="-122"/>
                <a:cs typeface="Calibri" pitchFamily="34" charset="-120"/>
              </a:rPr>
              <a:t>Telefon</a:t>
            </a:r>
            <a:endParaRPr lang="en-US" sz="1050" dirty="0"/>
          </a:p>
        </p:txBody>
      </p:sp>
      <p:sp>
        <p:nvSpPr>
          <p:cNvPr id="13" name="Text 7"/>
          <p:cNvSpPr txBox="1"/>
          <p:nvPr/>
        </p:nvSpPr>
        <p:spPr>
          <a:xfrm>
            <a:off x="7086600" y="4334256"/>
            <a:ext cx="475488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0542 245 24 46</a:t>
            </a:r>
            <a:endParaRPr lang="en-US" sz="1550" dirty="0"/>
          </a:p>
        </p:txBody>
      </p:sp>
      <p:sp>
        <p:nvSpPr>
          <p:cNvPr id="14" name="Shape 8"/>
          <p:cNvSpPr/>
          <p:nvPr/>
        </p:nvSpPr>
        <p:spPr>
          <a:xfrm>
            <a:off x="685800" y="5138928"/>
            <a:ext cx="512064" cy="512064"/>
          </a:xfrm>
          <a:prstGeom prst="ellipse">
            <a:avLst/>
          </a:prstGeom>
          <a:solidFill>
            <a:srgbClr val="3E9B5F"/>
          </a:solidFill>
          <a:ln w="12700">
            <a:solidFill>
              <a:srgbClr val="3E9B5F"/>
            </a:solidFill>
            <a:prstDash val="solid"/>
          </a:ln>
        </p:spPr>
      </p:sp>
      <p:pic>
        <p:nvPicPr>
          <p:cNvPr id="15" name="Image 4" descr="img/icons/instagram_w.png">    </p:cNvPr>
          <p:cNvPicPr>
            <a:picLocks noChangeAspect="1"/>
          </p:cNvPicPr>
          <p:nvPr/>
        </p:nvPicPr>
        <p:blipFill>
          <a:blip r:embed="rId5"/>
          <a:stretch>
            <a:fillRect/>
          </a:stretch>
        </p:blipFill>
        <p:spPr>
          <a:xfrm>
            <a:off x="824057" y="5277185"/>
            <a:ext cx="235549" cy="235549"/>
          </a:xfrm>
          <a:prstGeom prst="rect">
            <a:avLst/>
          </a:prstGeom>
        </p:spPr>
      </p:pic>
      <p:sp>
        <p:nvSpPr>
          <p:cNvPr id="16" name="Text 9"/>
          <p:cNvSpPr txBox="1"/>
          <p:nvPr/>
        </p:nvSpPr>
        <p:spPr>
          <a:xfrm>
            <a:off x="1417320" y="5120640"/>
            <a:ext cx="4754880" cy="256032"/>
          </a:xfrm>
          <a:prstGeom prst="rect">
            <a:avLst/>
          </a:prstGeom>
          <a:noFill/>
          <a:ln/>
        </p:spPr>
        <p:txBody>
          <a:bodyPr wrap="square" lIns="0" tIns="0" rIns="0" bIns="0" rtlCol="0" anchor="ctr"/>
          <a:lstStyle/>
          <a:p>
            <a:pPr indent="0" marL="0">
              <a:buNone/>
            </a:pPr>
            <a:r>
              <a:rPr lang="en-US" sz="1050" b="1" spc="180" kern="0" dirty="0">
                <a:solidFill>
                  <a:srgbClr val="7FA88F"/>
                </a:solidFill>
                <a:latin typeface="Calibri" pitchFamily="34" charset="0"/>
                <a:ea typeface="Calibri" pitchFamily="34" charset="-122"/>
                <a:cs typeface="Calibri" pitchFamily="34" charset="-120"/>
              </a:rPr>
              <a:t>Instagram</a:t>
            </a:r>
            <a:endParaRPr lang="en-US" sz="1050" dirty="0"/>
          </a:p>
        </p:txBody>
      </p:sp>
      <p:sp>
        <p:nvSpPr>
          <p:cNvPr id="17" name="Text 10"/>
          <p:cNvSpPr txBox="1"/>
          <p:nvPr/>
        </p:nvSpPr>
        <p:spPr>
          <a:xfrm>
            <a:off x="1417320" y="5358384"/>
            <a:ext cx="475488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@extingard</a:t>
            </a:r>
            <a:endParaRPr lang="en-US" sz="1550" dirty="0"/>
          </a:p>
        </p:txBody>
      </p:sp>
      <p:sp>
        <p:nvSpPr>
          <p:cNvPr id="18" name="Shape 11"/>
          <p:cNvSpPr/>
          <p:nvPr/>
        </p:nvSpPr>
        <p:spPr>
          <a:xfrm>
            <a:off x="6355080" y="5138928"/>
            <a:ext cx="512064" cy="512064"/>
          </a:xfrm>
          <a:prstGeom prst="ellipse">
            <a:avLst/>
          </a:prstGeom>
          <a:solidFill>
            <a:srgbClr val="F07818"/>
          </a:solidFill>
          <a:ln w="12700">
            <a:solidFill>
              <a:srgbClr val="F07818"/>
            </a:solidFill>
            <a:prstDash val="solid"/>
          </a:ln>
        </p:spPr>
      </p:sp>
      <p:pic>
        <p:nvPicPr>
          <p:cNvPr id="19" name="Image 5" descr="img/icons/linkedin_w.png">    </p:cNvPr>
          <p:cNvPicPr>
            <a:picLocks noChangeAspect="1"/>
          </p:cNvPicPr>
          <p:nvPr/>
        </p:nvPicPr>
        <p:blipFill>
          <a:blip r:embed="rId6"/>
          <a:stretch>
            <a:fillRect/>
          </a:stretch>
        </p:blipFill>
        <p:spPr>
          <a:xfrm>
            <a:off x="6493337" y="5277185"/>
            <a:ext cx="235549" cy="235549"/>
          </a:xfrm>
          <a:prstGeom prst="rect">
            <a:avLst/>
          </a:prstGeom>
        </p:spPr>
      </p:pic>
      <p:sp>
        <p:nvSpPr>
          <p:cNvPr id="20" name="Text 12"/>
          <p:cNvSpPr txBox="1"/>
          <p:nvPr/>
        </p:nvSpPr>
        <p:spPr>
          <a:xfrm>
            <a:off x="7086600" y="5120640"/>
            <a:ext cx="4754880" cy="256032"/>
          </a:xfrm>
          <a:prstGeom prst="rect">
            <a:avLst/>
          </a:prstGeom>
          <a:noFill/>
          <a:ln/>
        </p:spPr>
        <p:txBody>
          <a:bodyPr wrap="square" lIns="0" tIns="0" rIns="0" bIns="0" rtlCol="0" anchor="ctr"/>
          <a:lstStyle/>
          <a:p>
            <a:pPr indent="0" marL="0">
              <a:buNone/>
            </a:pPr>
            <a:r>
              <a:rPr lang="en-US" sz="1050" b="1" spc="180" kern="0" dirty="0">
                <a:solidFill>
                  <a:srgbClr val="7FA88F"/>
                </a:solidFill>
                <a:latin typeface="Calibri" pitchFamily="34" charset="0"/>
                <a:ea typeface="Calibri" pitchFamily="34" charset="-122"/>
                <a:cs typeface="Calibri" pitchFamily="34" charset="-120"/>
              </a:rPr>
              <a:t>LinkedIn</a:t>
            </a:r>
            <a:endParaRPr lang="en-US" sz="1050" dirty="0"/>
          </a:p>
        </p:txBody>
      </p:sp>
      <p:sp>
        <p:nvSpPr>
          <p:cNvPr id="21" name="Text 13"/>
          <p:cNvSpPr txBox="1"/>
          <p:nvPr/>
        </p:nvSpPr>
        <p:spPr>
          <a:xfrm>
            <a:off x="7086600" y="5358384"/>
            <a:ext cx="4754880" cy="329184"/>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ExtinGard</a:t>
            </a:r>
            <a:endParaRPr lang="en-US" sz="1550" dirty="0"/>
          </a:p>
        </p:txBody>
      </p:sp>
      <p:sp>
        <p:nvSpPr>
          <p:cNvPr id="22" name="Text 14"/>
          <p:cNvSpPr txBox="1"/>
          <p:nvPr/>
        </p:nvSpPr>
        <p:spPr>
          <a:xfrm>
            <a:off x="685800" y="6144768"/>
            <a:ext cx="10789920" cy="274320"/>
          </a:xfrm>
          <a:prstGeom prst="rect">
            <a:avLst/>
          </a:prstGeom>
          <a:noFill/>
          <a:ln/>
        </p:spPr>
        <p:txBody>
          <a:bodyPr wrap="square" lIns="0" tIns="0" rIns="0" bIns="0" rtlCol="0" anchor="ctr"/>
          <a:lstStyle/>
          <a:p>
            <a:pPr indent="0" marL="0">
              <a:buNone/>
            </a:pPr>
            <a:r>
              <a:rPr lang="en-US" sz="1050" dirty="0">
                <a:solidFill>
                  <a:srgbClr val="5E8770"/>
                </a:solidFill>
                <a:latin typeface="Calibri" pitchFamily="34" charset="0"/>
                <a:ea typeface="Calibri" pitchFamily="34" charset="-122"/>
                <a:cs typeface="Calibri" pitchFamily="34" charset="-120"/>
              </a:rPr>
              <a:t>ExtinGard  ·  TÜRKPATENT tescilli marka (2026/001631) ve onaylı patent başvurusu (2025/021562)</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Ateş Kes Teknoloji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ExtinGard Kurumsal Sunum</dc:title>
  <dc:subject>PptxGenJS Presentation</dc:subject>
  <dc:creator>Ateş Kes Teknoloji</dc:creator>
  <cp:lastModifiedBy>Ateş Kes Teknoloji</cp:lastModifiedBy>
  <cp:revision>1</cp:revision>
  <dcterms:created xsi:type="dcterms:W3CDTF">2026-09-20T20:58:28Z</dcterms:created>
  <dcterms:modified xsi:type="dcterms:W3CDTF">2026-09-20T20:58:28Z</dcterms:modified>
</cp:coreProperties>
</file>
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1-2.jpg" ContentType="image/jpg"/>
  <Override PartName="/ppt/media/image-15-2.jpg" ContentType="image/jpg"/>
  <Override PartName="/ppt/media/image-1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6F7F7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F7F76"/>
                </a:solidFill>
                <a:latin typeface="Calibri"/>
              </a:rPr>
              <a:t>Unit cost (TL / kg)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 / kg</c:v>
                </c:pt>
              </c:strCache>
            </c:strRef>
          </c:tx>
          <c:spPr>
            <a:solidFill>
              <a:srgbClr val="B9C7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C3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7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B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3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FA5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6B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Halon extinguisher</c:v>
                  </c:pt>
                  <c:pt idx="1">
                    <c:v>CO₂ extinguisher</c:v>
                  </c:pt>
                  <c:pt idx="2">
                    <c:v>ABC powder (MAP)</c:v>
                  </c:pt>
                  <c:pt idx="3">
                    <c:v>BC powder (NaHCO₃)</c:v>
                  </c:pt>
                  <c:pt idx="4">
                    <c:v>ExtinGard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475</c:v>
                </c:pt>
                <c:pt idx="2">
                  <c:v>275</c:v>
                </c:pt>
                <c:pt idx="3">
                  <c:v>135</c:v>
                </c:pt>
                <c:pt idx="4">
                  <c:v>49.7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C3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C3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b"/>
        <c:majorGridlines>
          <c:spPr>
            <a:ln w="12700" cap="flat">
              <a:solidFill>
                <a:srgbClr val="E6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F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DCE6DE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and the project briefly: ExtinGard is a TURKPATENT-registered and patented fire extinguishing powder made from eggshell and natural minerals.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main sections of the deck. If time is short, focus on 02 and 03; section 06 is for investors and commercially minded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the team introduces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the team is and what it set out to do. Emphasise our BİLSEM origins — the source of our scientific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mission describes today, the vision describes the future. The three principles are the values behind every technical decision we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can introduce themselves briefly. Gülçin Sezen is one of the rights holders of both the trademark and the patent.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two: the two layers of the problem — fires are increasing, but the response tools leave damage of their own. The second layer is where our solution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two layers: fires are increasing (first layer) and the response tools cause damage too (second layer). The second layer is where our solution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Kırtaş &amp; Altundağ 2023; Lee et al. 2021; EPA 2019. Emphasise the Montreal Protocol restriction for halon.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three: what the product is, its formulation and its working principle. The technical core of the deck and the most important section for a technical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product in one sentence, then open the six points in order. Emphasise the patent point — it means novelty verified by an independent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striking thing about the formulation: half its mass is waste eggshell. The product is both a fire solution and a recycling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Drawing the fire triangle on the board works well here. Most competing products use only one or two of these three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jury the scientific depth. The key point: the components activate at staged temperatures, so the suppression effect is not a single moment but continues throughout the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process can be done with simple equipment — an important advantage that eases the move to pilot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four: test method, results and field validation. Be sure to restate the transparency note here — certification is not yet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the method clearly builds credibility. Always state the transparency note — the jury will ask anyway, and saying it first earns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 F (cooking oil) result is our most valuable finding — the ABC powder on the market is ineffective in this class. It makes a direct difference for kitchen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validation is the step that moves the project from school work to a commercialisable product. The fire department relationship also means a reference customer down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five: trademark registration and the patent. Emphasise that the patent is not yet final and that the six-month opposition period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three-class registration means: we protect not only the powder but also the device and the sales activity. If we widen the product range later, the trademark protection is already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patent is not final yet — there is a six-month opposition period. Say this openly; saying “a decision to grant has been issued” instead of “we have a patent” is both accurate and trust-building.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six: competition, cost, market and roadmap. Give this section more weight for an investor or commercially minded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can be good on one axis; we are good on all three. Emphasise the class F difference in particular.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advantage means accessibility: large-scale stockpiling becomes economical for public institutions.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timing is in our favour: the EU's PFAS restrictions are forcing incumbents to reformulate, while we were PFAS-free from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B2G is our priority because a public reference brings both volume and credibility. The buyer and the user are different people — we frame the message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is the most critical quarter: without the TS EN 615 certificate we cannot enter public tenders.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different kinds of validation: academic (Üsküdar), entrepreneurial (T3) and operational (Bursa Fire Department) — with formal IP protection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summary. Repeat the four points one by one, then finish with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references slide. It is not read out during the talk; it is there as a reference for the jury and for readers.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Move into the Q&amp;A section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3.png"/><Relationship Id="rId5" Type="http://schemas.openxmlformats.org/officeDocument/2006/relationships/image" Target="../media/image-2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chart" Target="../charts/chart1.xml"/><Relationship Id="rId3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1691640" cy="115945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ATEŞ KES TEAM  ·  PROJECT PRESENTATION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30936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6758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Extinguishing Powder Composed of Natural Components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domestic, biodegradable and patented fire extinguishing powder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recycled eggshell and natural minerals.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230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468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Kayra ERGUVAN  ·  Ceyda Nur SÖYLEMEZ  ·  Havva Yaren AYDIN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8155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60533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Gülçin SEZEN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762695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580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80744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80744" y="1975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 · Mission and vision · Our team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25735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4 – 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459736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85800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80744" y="2441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80744" y="27340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fire crisis · Problems with existing extinguishants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225735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8 – 9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8580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80744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and Technology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0744" y="3493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· Formulation · Working principle · Production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225735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11 – 15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5800" y="3977640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580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80744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80744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 · Results · Field validation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225735" y="4032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17 – 19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736592"/>
            <a:ext cx="475488" cy="47548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85800" y="4736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380744" y="4718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Intellectual Property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380744" y="5010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registration · Patent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225735" y="4791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21 – 22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85800" y="5495544"/>
            <a:ext cx="475488" cy="47548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685800" y="5495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80744" y="5477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Commercialisation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380744" y="5769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· Cost · Market · Business model · Roadmap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225735" y="5550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24 – 28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team, our purpose and why we started this project.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45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“Ateş Kes” team, formed at the BTSO Kamil Tolon Science and Art Centre. We are a research group working to develop an eco-friendly and sustainable fire extinguishing powder.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285292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96696" y="2743200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a natural, safe alternative to the harmful chemicals used in fire suppression.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6027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96696" y="3493008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is made from recycled biological waste; it responds effectively without harming nature.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435254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996696" y="4242816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 is to produce solutions that respect human health and the environment, guided by science.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" y="5102352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96696" y="4992624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 has been protected by TURKPATENT as both a trademark and a patent.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0" y="1645920"/>
            <a:ext cx="3730752" cy="3950208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101584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1584" y="21579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BTSO Kamil Tolon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and Art Centre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01584" y="2852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101584" y="30906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students + 1 advisor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101584" y="3785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101584" y="40233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fire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extinguishing powder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101584" y="4718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49560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trademark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allowed patent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 and Vision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645920"/>
            <a:ext cx="5276088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51560" y="1993392"/>
            <a:ext cx="603504" cy="6035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7" name="Image 1" descr="img/icons/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71" y="2150303"/>
            <a:ext cx="289682" cy="2896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01368" y="215798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2834640"/>
            <a:ext cx="4544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chemical dependence in firefighting and to lead the fire safety approach of Türkiye and the world with sustainable solutions that harm neither nature nor human health.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27064" y="1645920"/>
            <a:ext cx="5276088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592824" y="1993392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mg/icons/glob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35" y="2150303"/>
            <a:ext cx="289682" cy="28968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215798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6592824" y="2834640"/>
            <a:ext cx="4544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fire safety with eco-friendly, affordable products by developing extinguishing solutions from natural and recyclable materials, and to turn a green technology brand born in Türkiye into a worldwide standard.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4261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principles on the way to that goal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85800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23544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leaf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12978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90472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nature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490472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bio-waste, zero chemical residue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70832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608576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img/icons/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512978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175504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for people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175504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that releases no toxic gas and is safe indoors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055864" y="4718304"/>
            <a:ext cx="3456432" cy="1042416"/>
          </a:xfrm>
          <a:prstGeom prst="roundRect">
            <a:avLst>
              <a:gd name="adj" fmla="val 9649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8293608" y="5010912"/>
            <a:ext cx="457200" cy="45720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img/icons/scal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512978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860536" y="4937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8860536" y="52120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use enabled by a low unit cost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three-student team and a project advisor. Every member brings technical grounding from the DENEYAP, BİLSEM and T3 Entrepreneurship Centre programmes.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60120" y="246888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0120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 Kayra Erguvan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Lead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development, design of laboratory test protocols and running the production process.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4603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728923" y="2468880"/>
            <a:ext cx="786384" cy="78638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728923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728923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Ceyda Nur Söylemez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28923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competitor analysis, cost modelling and reporting of data.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23406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97726" y="246888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97726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97726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Havva Yaren Aydın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97726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97726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business model, managing institutional relationships and go-to-market strategy.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92210" y="2157984"/>
            <a:ext cx="2512771" cy="320040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266530" y="2468880"/>
            <a:ext cx="786384" cy="78638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266530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266530" y="3383280"/>
            <a:ext cx="19641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Gülçin Sezen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266530" y="3968496"/>
            <a:ext cx="1964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Advisor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66530" y="4297680"/>
            <a:ext cx="19641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guidance, project advisory and coordination of institutional processes.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are increasing, but the extinguishants in use bring problems of their own.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Global Fire Crisis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crisis is increasing both the frequency and the severity of fires. The resulting damage is not only economic; it includes loss of life and irreversible ecosystem destruction.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60120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global fire frequency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IPCC, 2023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0832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45152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$328 B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economic loss from fire disasters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645152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55864" y="2231136"/>
            <a:ext cx="3456432" cy="1499616"/>
          </a:xfrm>
          <a:prstGeom prst="roundRect">
            <a:avLst>
              <a:gd name="adj" fmla="val 670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30184" y="24140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 ha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330184" y="2962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forest area burned each year in Türkiye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330184" y="340156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Directorate of Forestry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4041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dimensions of the problem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85800" y="457200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996696" y="4462272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dimension — Chemical extinguishants leave irreversible damage in the ecosystem; soil structure degrades and water sources are contaminated.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513892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96696" y="5029200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dimension — Conventional powders irritate the airways and cause adverse effects on contact with skin and eyes.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" y="570585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996696" y="5596128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dimension — Dependence on imported raw material raises the cost of large-scale disaster response.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With Existing Extinguishants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fire extinguishants on the market are based on ammonium phosphate, sodium bicarbonate and similar chemicals. Effective as they are at suppressing fire, they create serious secondary problems.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231136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78408" y="2542032"/>
            <a:ext cx="512064" cy="512064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warn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680289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54203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Powder (Monoammonium phosphate)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88950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metal surfaces, degrades soil structure and contaminates water sources. It is ineffective on class F (cooking oil) fires.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231136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519672" y="2542032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mg/icons/lun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680289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54203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Extinguishers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88950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ambient oxygen concentration to dangerous levels indoors, creating a risk of asphyxiation.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9867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78408" y="42976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eart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43593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2976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Halogenated Extinguishers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645152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the ozone layer. Its use is restricted under the Montreal Protocol.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9867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519672" y="42976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img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43593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2976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Dependence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645152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raw material is imported; exchange rate swings feed straight through to cost.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72414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the product that puts out the fire becomes a second environmental and health problem.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and Technology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ExtinGard is, what it is made of and how it works.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powder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989320"/>
            <a:ext cx="4663440" cy="868680"/>
          </a:xfrm>
          <a:prstGeom prst="rect">
            <a:avLst/>
          </a:prstGeom>
          <a:solidFill>
            <a:srgbClr val="07281D">
              <a:alpha val="75000"/>
            </a:srgbClr>
          </a:solidFill>
          <a:ln w="12700">
            <a:solidFill>
              <a:srgbClr val="07281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411480" y="6236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powder — laboratory production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457200"/>
            <a:ext cx="6202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694944"/>
            <a:ext cx="6202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ExtinGard?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303520" y="1572768"/>
            <a:ext cx="62023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is a next-generation fire extinguishing powder made from recycled eggshell and natural minerals that leaves no chemical residue. It attacks all three corners of the fire triangle at once.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303520" y="26883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5614416" y="2578608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natural content: releases no toxic gas and can be used safely indoors.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303520" y="326440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5614416" y="3154680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Biodegradable: creates no post-fire cleaning or disposal cost.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303520" y="384048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5614416" y="3730752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coverage: observed in testing to be effective on class A, B, C and F fires.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303520" y="4416552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5614416" y="4306824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Economical: at a unit cost of 0.0497 TL/g it is 5–6× cheaper than ABC powder.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303520" y="499262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5614416" y="4882896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domestic: the raw material supply chain sits entirely within Türkiye.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03520" y="556869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5614416" y="5458968"/>
            <a:ext cx="58914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Patented: TURKPATENT assessed all 11 claims positively.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Patented Formulation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below is defined verbatim in claim 1 of patent application 2025/021562.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39696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3E8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86968" y="2194560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%50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01368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Eggshell (CaCO₃ source)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19456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bio-waste. Releases CO₂ under heat and dilutes oxygen.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761488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86968" y="2816352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801368" y="28163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hydroxide — Mg(OH)₂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81635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endothermically; absorbs heat and releases water vapour.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383280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86968" y="3438144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801368" y="34381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hydroxide — Ca(OH)₂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3814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at a higher temperature and sustains the cooling effect.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4005072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886968" y="405993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801368" y="40599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hydroxide — Al(OH)₃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405993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water vapour and slows flame spread.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" y="4626864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886968" y="468172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801368" y="46817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Kaolin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68172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heat-resistant mineral blanket layer.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5800" y="5248656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886968" y="5303520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801368" y="53035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stearate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53035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caking and keeps the powder free-flowing.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59070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was published together with the patent application; there is no issue in sharing it.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Principle: The Triple Mechanism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needs three things: fuel, oxygen and heat. ExtinGard attacks all three at once.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96696" y="2414016"/>
            <a:ext cx="603504" cy="60350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coo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42" y="2576962"/>
            <a:ext cx="277612" cy="2776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Absorbs Heat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96696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 decomposes endothermically at 350 °C and Ca(OH)₂ at 512 °C. These reactions draw heat from the environment, lower the temperature and release water vapour.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70832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681728" y="2414016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mg/icons/win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674" y="2576962"/>
            <a:ext cx="277612" cy="2776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81728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Dilutes Oxygen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81728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CaCO₃ in the eggshell decomposes at 840 °C and releases CO₂. The released gas lowers the oxygen ratio around the flame and smothers combustion.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55864" y="2084832"/>
            <a:ext cx="3456432" cy="2926080"/>
          </a:xfrm>
          <a:prstGeom prst="roundRect">
            <a:avLst>
              <a:gd name="adj" fmla="val 34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8366760" y="2414016"/>
            <a:ext cx="603504" cy="60350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706" y="2576962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66760" y="3182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Forms a Barrier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66760" y="360273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Al(OH)₃ and kaolin form a heat-resistant mineral blanket on the burning surface. That layer cuts the fuel off from oxygen.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532180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mechanisms working together stop flame spread and reduce the risk of re-ignition.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Basis: The Chemical Reactions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93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suppression effect are endothermic decomposition reactions that activate at specific temperatures. An endothermic reaction draws heat from its surroundings — it cools the fire.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340864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60120" y="241401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hydroxide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24140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Al(OH)₃  →  Al₂O₃ + 3 H₂O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41401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°C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41401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 is released, the flame is diluted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3200400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960120" y="32735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hydroxide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2735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Mg(OH)₂  →  MgO + H₂O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27355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°C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2735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absorbed, the environment cools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059936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60120" y="41330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hydroxide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413308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Ca(OH)₂  →  CaO + H₂O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413308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°C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13308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= +109.5 kJ/mol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4919472"/>
            <a:ext cx="10820095" cy="73152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60120" y="4992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carbonate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499262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CaCO₃  →  CaO + CO₂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499262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 °C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ΔH = +178 kJ/mol; oxygen is diluted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5797296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components activate at different temperatures, the suppression effect is spread across every stage of the fire.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Protocol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process is standardised as defined in the patent claim; it is reproducible and scalable.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39696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53896" y="2121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Eggshell cleaning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53896" y="2450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eggshells are separated from their inner membranes and cleaned.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53896" y="30906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53896" y="341985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shells are dried with moisture content under control. A critical step for shelf life.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407822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8580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53896" y="40599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53896" y="43891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dried shells are milled together with kaolin into a fine powder.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5047488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8580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53896" y="50292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 and sieving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53896" y="53583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Mg(OH)₂, Ca(OH)₂, Al(OH)₃ and magnesium stearate are added at the specified ratios; the mixture is sieved until homogeneous.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73568" y="2139696"/>
            <a:ext cx="3529584" cy="2615184"/>
          </a:xfrm>
          <a:prstGeom prst="roundRect">
            <a:avLst>
              <a:gd name="adj" fmla="val 3497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3" name="Image 1" descr="img/powd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37576" y="2203704"/>
            <a:ext cx="3401568" cy="248716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73568" y="48097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powder produced to the protocol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973568" y="5138928"/>
            <a:ext cx="3529584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8211312" y="52486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domestic raw material — the supply chain is entirely within Türkiye.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clip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proved that the product actually works.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Test Method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product under controlled conditions on seven different combustible materials representing different fire classes.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579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78408" y="2468880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60713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4688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environment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816352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were run in the laboratory and in controlled open-air conditions, using a fixed quantity of powder.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157984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519672" y="2468880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mg/icons/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60713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4688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parameters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816352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Extinguishing time, flame spread rate, whether re-ignition occurred and residue on the surface were all recorded.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913632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78408" y="4224528"/>
            <a:ext cx="512064" cy="51206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microscop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36278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2245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572000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material was tested more than once; most of the tests were recorded on video.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913632"/>
            <a:ext cx="5276088" cy="155448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519672" y="42245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img/icons/helm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362785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2245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observation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572000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tests were carried out jointly with the Bursa Fire Department Search, Rescue and Response Units.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85800" y="5614416"/>
            <a:ext cx="10820095" cy="566928"/>
          </a:xfrm>
          <a:prstGeom prst="roundRect">
            <a:avLst>
              <a:gd name="adj" fmla="val 17742"/>
            </a:avLst>
          </a:prstGeom>
          <a:solidFill>
            <a:srgbClr val="FFF6EC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960120" y="5705856"/>
            <a:ext cx="10271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note: the tests were performed with our own means and with the support of the fire department. TS EN 615 certification testing has not yet been completed.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suppression was observed on all seven combustible materials.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48256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371600"/>
                <a:gridCol w="57908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Combustible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Cardboard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Flame spread stopped immediately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extinction observed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Polyester Fabric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suppression despite the synthetic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 Thinner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filming suppressed the flame in ~5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across the liquid surface was prevented; extinguished in 6–8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flame cut off in 3–4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Cooking Oil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78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Successful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oil surface was cooled and isolated; complete extinction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tests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370832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B · C · F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4370832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classes covered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055864" y="54864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8 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055864" y="58521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extinguishing time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fieldtest_di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5720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6949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and Institutional Validation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1609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the laboratory results to the test in the field, alongside professionals.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85800" y="2286000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996696" y="2176272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field tests were conducted with the Bursa Fire Department Search, Rescue and Response Units.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85800" y="3145536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996696" y="3035808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Letter-of-intent talks have begun for the use of the training ground.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4005072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996696" y="3895344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tests were recorded on video as evidence of reproducibility.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864608"/>
            <a:ext cx="137160" cy="137160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996696" y="4754880"/>
            <a:ext cx="4581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and IP strategy were reviewed at the T3 Entrepreneurship Centre DENEYAP Entrepreneurship Programme.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6144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parameters measured: extinguishing time · flame spread rate · CO₂ release · safety impact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certific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Intellectual Property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trademark is registered and our patent has been allowed.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Trademark Registration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“ExtinGard” trademark has been registered before the Turkish Patent and Trademark Office and a registration certificate has been issued.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21408"/>
            <a:ext cx="5276088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51560" y="2432304"/>
            <a:ext cx="640080" cy="64008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certific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2598725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56232" y="25420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EXTINGARD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697480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2026/001631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3767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7673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06.01.2026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4224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04.06.2026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4681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Period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697480" y="4681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06.01.2026 – 06.01.2036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227064" y="2121408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Registered Nice Classes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27064" y="26151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446520" y="27889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64465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013448" y="27340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extinguishing substances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013448" y="30083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chemicals used in industry and science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27064" y="35295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6446520" y="37033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644652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013448" y="36484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extinguishing apparatus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013448" y="39227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extinguishing tools and devices, protective equipment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27064" y="4443984"/>
            <a:ext cx="5276088" cy="786384"/>
          </a:xfrm>
          <a:prstGeom prst="roundRect">
            <a:avLst>
              <a:gd name="adj" fmla="val 12791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446520" y="4617720"/>
            <a:ext cx="438912" cy="43891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 txBox="1"/>
          <p:nvPr/>
        </p:nvSpPr>
        <p:spPr>
          <a:xfrm>
            <a:off x="6446520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013448" y="456285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and retail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7013448" y="48371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Advertising, marketing and the sale of these goods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685800" y="5577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three-class registration protects the product (the powder), the device (the extinguisher) and the sales activity together.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TURKPATENT has completed the examination process for our invention “Fire Extinguishing Powder Composed of Natural Components” and has decided to grant the patent.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5276088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51560" y="2468880"/>
            <a:ext cx="603504" cy="60350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stam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71" y="2625791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19656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Details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218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880360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2025/021562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3547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3547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24.12.2025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38770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CPC Class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8036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A62D 1/00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05156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Claims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880360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27064" y="2176272"/>
            <a:ext cx="5276088" cy="2286000"/>
          </a:xfrm>
          <a:prstGeom prst="roundRect">
            <a:avLst>
              <a:gd name="adj" fmla="val 4400"/>
            </a:avLst>
          </a:prstGeom>
          <a:solidFill>
            <a:srgbClr val="EDF5E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6556248" y="24323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REPORT OUTCOME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56248" y="2834640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img/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190" y="2918582"/>
            <a:ext cx="143012" cy="1430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5160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098280" y="2798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all 11 claims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56248" y="3346704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5" name="Image 3" descr="img/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190" y="3430646"/>
            <a:ext cx="143012" cy="1430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5160" y="3310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Inventive step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098280" y="3310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all 11 claims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56248" y="3858768"/>
            <a:ext cx="310896" cy="3108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9" name="Image 4" descr="img/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90" y="3942710"/>
            <a:ext cx="143012" cy="1430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3822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applicability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3822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all 11 claims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4663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685800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27"/>
          <p:cNvSpPr txBox="1"/>
          <p:nvPr/>
        </p:nvSpPr>
        <p:spPr>
          <a:xfrm>
            <a:off x="905256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24.12.2025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05256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454603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0"/>
          <p:cNvSpPr txBox="1"/>
          <p:nvPr/>
        </p:nvSpPr>
        <p:spPr>
          <a:xfrm>
            <a:off x="3674059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14.01.2026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3674059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report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223406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3"/>
          <p:cNvSpPr txBox="1"/>
          <p:nvPr/>
        </p:nvSpPr>
        <p:spPr>
          <a:xfrm>
            <a:off x="6442862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10.02.2026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442862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request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992210" y="5065776"/>
            <a:ext cx="2512771" cy="768096"/>
          </a:xfrm>
          <a:prstGeom prst="roundRect">
            <a:avLst>
              <a:gd name="adj" fmla="val 13095"/>
            </a:avLst>
          </a:prstGeom>
          <a:solidFill>
            <a:srgbClr val="FFF3E8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3" name="Text 36"/>
          <p:cNvSpPr txBox="1"/>
          <p:nvPr/>
        </p:nvSpPr>
        <p:spPr>
          <a:xfrm>
            <a:off x="9211666" y="5157216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25.08.2026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9211666" y="5449824"/>
            <a:ext cx="2073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 grant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685800" y="59984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decision is published in the bulletin, a six-month third-party opposition period runs; if no opposition is filed, the decision becomes final.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7" name="Footer Brand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685800" y="3310128"/>
            <a:ext cx="658368" cy="65836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icons/tre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76" y="3481304"/>
            <a:ext cx="316017" cy="316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16052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Commercialisation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Competition, cost, market and the road ahead.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Comparison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ExtinGard with the two most common dry chemical powders on the market.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48256"/>
          <a:ext cx="10820095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2880360"/>
                <a:gridCol w="2761488"/>
                <a:gridCol w="27733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ExtinGard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Powder (NaHCO₃)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 Powder (MAP)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class effectiveness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and F — the widest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and C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 — ineffective on class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0.0497 TL/g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– 0.15 TL/g (≈3× more expensive)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– 0.30 TL/g (≈5–6× more expensive)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Biodegradable, leaves no residue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harmful residue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Residue harmful to soil and water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 no toxic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Irritant to the respiratory tract and skin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Irritant to the respiratory tract and skin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2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domestic raw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7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815584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is the only option that leads simultaneously on coverage · cost · environmental impact.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Analysis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removes the single biggest barrier to widespread adoption.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029968"/>
          <a:ext cx="6903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882128" y="2029968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101584" y="2212848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9" name="Image 1" descr="img/icons/mone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436" y="2312700"/>
            <a:ext cx="184343" cy="18434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595360" y="2176272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225,000 TL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8101584" y="2633472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against ABC powder at 1 tonne/year usage (82%)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882128" y="3273552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8101584" y="3456432"/>
            <a:ext cx="384048" cy="384048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img/icons/sca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36" y="355628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95360" y="3419856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6×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8101584" y="3877056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advantage over ABC powder; 3× over BC powder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882128" y="4517136"/>
            <a:ext cx="3623767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2"/>
          <p:cNvSpPr/>
          <p:nvPr/>
        </p:nvSpPr>
        <p:spPr>
          <a:xfrm>
            <a:off x="8101584" y="4700016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img/icons/recycl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436" y="47998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95360" y="4663440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%100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8101584" y="5120640"/>
            <a:ext cx="3184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Domestic, bio-waste-derived raw material — no currency risk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restrictions and the climate-driven rise in fires create favourable timing for eco-friendly extinguishants.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978408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$5.02 B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PFAS-free fire extinguishant segment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63440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C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$60.3 M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in Türkiye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55864" y="2048256"/>
            <a:ext cx="3456432" cy="1920240"/>
          </a:xfrm>
          <a:prstGeom prst="roundRect">
            <a:avLst>
              <a:gd name="adj" fmla="val 5238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48472" y="22860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25603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$0.30 M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32735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 market share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4183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img/icons/globe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4594860"/>
            <a:ext cx="192024" cy="1920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3560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$33.5 B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41832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fire extinguishing market (2024)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54603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3710635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25" name="Image 2" descr="img/icons/trend_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647" y="4594860"/>
            <a:ext cx="192024" cy="1920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04411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%18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3710635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of the PFAS-free segment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223406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479438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0" name="Image 3" descr="img/icons/fire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594860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73214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6479438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global fire frequency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992210" y="4261104"/>
            <a:ext cx="2512771" cy="1463040"/>
          </a:xfrm>
          <a:prstGeom prst="roundRect">
            <a:avLst>
              <a:gd name="adj" fmla="val 6875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9248242" y="4498848"/>
            <a:ext cx="384048" cy="384048"/>
          </a:xfrm>
          <a:prstGeom prst="ellipse">
            <a:avLst/>
          </a:prstGeom>
          <a:solidFill>
            <a:srgbClr val="17452F"/>
          </a:solidFill>
          <a:ln w="12700">
            <a:solidFill>
              <a:srgbClr val="17452F"/>
            </a:solidFill>
            <a:prstDash val="solid"/>
          </a:ln>
        </p:spPr>
        <p:txBody>
          <a:bodyPr/>
          <a:p/>
        </p:txBody>
      </p:sp>
      <p:pic>
        <p:nvPicPr>
          <p:cNvPr id="35" name="Image 4" descr="img/icons/flag_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254" y="4594860"/>
            <a:ext cx="192024" cy="19202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42018" y="4480560"/>
            <a:ext cx="15069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2023+</a:t>
            </a:r>
            <a:endParaRPr lang="en-US" sz="1900" dirty="0"/>
          </a:p>
        </p:txBody>
      </p:sp>
      <p:sp>
        <p:nvSpPr>
          <p:cNvPr id="37" name="Text 30"/>
          <p:cNvSpPr txBox="1"/>
          <p:nvPr/>
        </p:nvSpPr>
        <p:spPr>
          <a:xfrm>
            <a:off x="9248242" y="4992624"/>
            <a:ext cx="200070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PFAS restriction directives in force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and Target Audience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a three-channel, staged go-to-market. Each stage builds the credibility base for the next.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60120" y="2322576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gov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40" y="2455896"/>
            <a:ext cx="227137" cy="2271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79192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B2G — Public Procurement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Directorate of Forestry, AFAD and municipalities. High-volume, recurring procurement.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0832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645152" y="2322576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img/icons/industr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2" y="2455896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64224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4645152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Corporate Sales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4645152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plants, logistics hubs and power stations. Refill agreements.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55864" y="2066544"/>
            <a:ext cx="3456432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330184" y="2322576"/>
            <a:ext cx="493776" cy="493776"/>
          </a:xfrm>
          <a:prstGeom prst="ellipse">
            <a:avLst/>
          </a:prstGeom>
          <a:solidFill>
            <a:srgbClr val="2C3A33"/>
          </a:solidFill>
          <a:ln w="12700">
            <a:solidFill>
              <a:srgbClr val="2C3A3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img/icons/hou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504" y="2455896"/>
            <a:ext cx="227137" cy="2271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049256" y="2395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8330184" y="29443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— Consumer Kit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330184" y="327355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vehicle mini extinguisher kits. A brand-awareness channel.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" y="4224528"/>
            <a:ext cx="4974336" cy="1828800"/>
          </a:xfrm>
          <a:prstGeom prst="roundRect">
            <a:avLst>
              <a:gd name="adj" fmla="val 5500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960120" y="4407408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Institutions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960120" y="4901184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1271016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institutions — fire departments, municipalities, AFAD, OGM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60120" y="5202936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1271016" y="5093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plants — manufacturing, chemical and food factories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60120" y="5504688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 txBox="1"/>
          <p:nvPr/>
        </p:nvSpPr>
        <p:spPr>
          <a:xfrm>
            <a:off x="1271016" y="5394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hubs — warehouses, bonded stores, distribution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60120" y="5806440"/>
            <a:ext cx="137160" cy="137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33" name="Text 27"/>
          <p:cNvSpPr txBox="1"/>
          <p:nvPr/>
        </p:nvSpPr>
        <p:spPr>
          <a:xfrm>
            <a:off x="1271016" y="5696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stations and battery stores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355080" y="4224528"/>
            <a:ext cx="4974336" cy="1828800"/>
          </a:xfrm>
          <a:prstGeom prst="roundRect">
            <a:avLst>
              <a:gd name="adj" fmla="val 5500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6629400" y="4407408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Profiles</a:t>
            </a:r>
            <a:endParaRPr lang="en-US" sz="1550" dirty="0"/>
          </a:p>
        </p:txBody>
      </p:sp>
      <p:sp>
        <p:nvSpPr>
          <p:cNvPr id="36" name="Shape 30"/>
          <p:cNvSpPr/>
          <p:nvPr/>
        </p:nvSpPr>
        <p:spPr>
          <a:xfrm>
            <a:off x="6629400" y="4901184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7" name="Text 31"/>
          <p:cNvSpPr txBox="1"/>
          <p:nvPr/>
        </p:nvSpPr>
        <p:spPr>
          <a:xfrm>
            <a:off x="6940296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managers — those who make the investment decision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629400" y="5202936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9" name="Text 33"/>
          <p:cNvSpPr txBox="1"/>
          <p:nvPr/>
        </p:nvSpPr>
        <p:spPr>
          <a:xfrm>
            <a:off x="6940296" y="5093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officers — sourcing units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629400" y="5504688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41" name="Text 35"/>
          <p:cNvSpPr txBox="1"/>
          <p:nvPr/>
        </p:nvSpPr>
        <p:spPr>
          <a:xfrm>
            <a:off x="6940296" y="5394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safety specialists and EHS personnel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629400" y="5806440"/>
            <a:ext cx="137160" cy="13716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 txBox="1"/>
          <p:nvPr/>
        </p:nvSpPr>
        <p:spPr>
          <a:xfrm>
            <a:off x="6940296" y="5696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crews and fire safety consultants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727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12 months we will move forward with a focus on certification and pilot production.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60120" y="234086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012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Sep 2026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tests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tests at the Bursa Fire Department training ground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suppression data and a technical report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54603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728923" y="234086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728923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728923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Dec 2026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728923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728923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 for the TS EN 615 standard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728923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728923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compliance certificate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23406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497726" y="2340864"/>
            <a:ext cx="548640" cy="54864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497726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7726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97726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production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7726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pilot production line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497726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497726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sales contracts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992210" y="2066544"/>
            <a:ext cx="2512771" cy="3383280"/>
          </a:xfrm>
          <a:prstGeom prst="roundRect">
            <a:avLst>
              <a:gd name="adj" fmla="val 4003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266530" y="2340864"/>
            <a:ext cx="548640" cy="548640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926653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266530" y="2999232"/>
            <a:ext cx="1964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Jun 2027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266530" y="3255264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and export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266530" y="3712464"/>
            <a:ext cx="196413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round and export strategy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266530" y="4535424"/>
            <a:ext cx="1964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07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266530" y="4754880"/>
            <a:ext cx="19641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+ SME grant application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85800" y="5614416"/>
            <a:ext cx="10820095" cy="566928"/>
          </a:xfrm>
          <a:prstGeom prst="roundRect">
            <a:avLst>
              <a:gd name="adj" fmla="val 17742"/>
            </a:avLst>
          </a:prstGeom>
          <a:solidFill>
            <a:srgbClr val="F2F6F3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960120" y="5724144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PCT international patent expansion — priority markets are the EU (EPO) and the Gulf states.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and Institutional Relationships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700784"/>
            <a:ext cx="4206240" cy="4078224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B2E2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69848" y="2103120"/>
            <a:ext cx="786384" cy="78638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7" name="Image 1" descr="img/icons/aw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08" y="2307580"/>
            <a:ext cx="377464" cy="377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69848" y="3108960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7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place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069848" y="3950208"/>
            <a:ext cx="3438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Üsküdar University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 Science and Ideas Festival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069848" y="4736592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prize in the health category — independent jury confirmation of the project's scientific validity.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40680" y="1865376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mg/icon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00" y="1998696"/>
            <a:ext cx="227137" cy="2271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53912" y="1847088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Entrepreneurship Centre – DENEYAP Entrepreneurship Programme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153912" y="2176272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 the training camp; business model and IP strategy review received.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40680" y="2889504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mg/icons/helme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00" y="3022824"/>
            <a:ext cx="227137" cy="2271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53912" y="2871216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Bursa Fire Department Search, Rescue and Response Units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53912" y="3200400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field tests and professional technical assessment meetings.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40680" y="3913632"/>
            <a:ext cx="493776" cy="49377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p/>
        </p:txBody>
      </p:sp>
      <p:pic>
        <p:nvPicPr>
          <p:cNvPr id="20" name="Image 4" descr="img/icons/microscop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000" y="4046952"/>
            <a:ext cx="227137" cy="2271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53912" y="3895344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BTSO Kamil Tolon Science and Art Centre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153912" y="4224528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R&amp;D environment and laboratory infrastructure where the product was developed.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40680" y="4937760"/>
            <a:ext cx="493776" cy="493776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4" name="Image 5" descr="img/icons/certificat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000" y="5071080"/>
            <a:ext cx="227137" cy="2271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153912" y="4919472"/>
            <a:ext cx="53519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Turkish Patent and Trademark Office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153912" y="5248656"/>
            <a:ext cx="535198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F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trademark (2026/001631) and allowed patent application (2025/021562).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has grown from a school project into a registered and patented product.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2103120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78408" y="2395728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mg/icons/fla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53398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55064" y="2395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basis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55064" y="2743200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triple suppression mechanism rests on endothermic reactions that activate at staged temperatures.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27064" y="2103120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519672" y="23957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mg/icons/clipboar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53398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6328" y="2395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 performance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196328" y="2743200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suppression on seven different combustible materials; effective in classes A, B, C and F.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3803904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78408" y="4096512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img/icons/certificat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5" y="4234769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55064" y="40965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intellectual property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655064" y="444398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TURKPATENT registered trademark and a patent application with all 11 claims allowed.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27064" y="3803904"/>
            <a:ext cx="5276088" cy="1481328"/>
          </a:xfrm>
          <a:prstGeom prst="roundRect">
            <a:avLst>
              <a:gd name="adj" fmla="val 6790"/>
            </a:avLst>
          </a:prstGeom>
          <a:solidFill>
            <a:srgbClr val="113522"/>
          </a:solidFill>
          <a:ln w="12700">
            <a:solidFill>
              <a:srgbClr val="23593F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519672" y="4096512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img/icons/tren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29" y="4234769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6328" y="4096512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ready market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196328" y="4443984"/>
            <a:ext cx="4014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restrictions and the cost advantage leave a clear opening in the B2G and B2B channels.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65099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8C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TS EN 615 certification and a pilot production line.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9494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2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664208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H., Roberts, L., &amp; Kim, S. (2023). Plant-Based Fire Retardants: A New Approach to Sustainable Fire Safety. Green Chemistry, 12(4), 312–328.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112264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(2019). Ozone-Depleting Substances and Fire Suppressants. Environmental Protection Agency.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6032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(2023). Climate Change 2023: Synthesis Report. Intergovernmental Panel on Climate Change.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00837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Kırtaş, H. A., &amp; Altundağ, H. (2023). Production, Refilling and Maintenance of Portable Fire Extinguishers. International Journal of Fuels, Combustion and Fire, 11(1), 91–103. [in Turkish]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45643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K., Smith, J., &amp; Walker, P. (2021). Health Impacts of Fire Suppressant Chemicals: A Review. Environmental Research, 56(3), 223–240.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904488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Miller, R., &amp; Carter, D. (2022). Calcium Carbonate in Fire Suppression Applications. Journal of Chemical Studies, 38(1), 55–67.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4352544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Directorate of Forestry (2023). Forest Fire Statistics and Response Strategies in Türkiye. Republic of Türkiye Ministry of Agriculture and Forestry. [in Turkish]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800600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Patent and Trademark Office (2026). Trademark Registration Certificate, Registration No 2026/001631.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524865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Patent and Trademark Office (2026). Examination Report and Decision to Grant, Application No 2025/021562.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569671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(2022). Spreading Like Wildfire: The Rising Threat of Extraordinary Landscape Fires. United Nations Environment Programme.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682935" y="6309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Ateş Kes Team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img/logo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1536192" cy="105338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139696"/>
            <a:ext cx="10058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218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 We would be glad to answer your questions.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685800" y="4114800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7" name="Image 2" descr="img/icons/mai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253057"/>
            <a:ext cx="235549" cy="23554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1732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41732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extingard@gmail.com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6355080" y="4114800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img/icons/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37" y="4253057"/>
            <a:ext cx="235549" cy="23554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086600" y="4096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08660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0542 245 24 46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685800" y="5138928"/>
            <a:ext cx="512064" cy="512064"/>
          </a:xfrm>
          <a:prstGeom prst="ellipse">
            <a:avLst/>
          </a:prstGeom>
          <a:solidFill>
            <a:srgbClr val="3E9B5F"/>
          </a:solidFill>
          <a:ln w="12700">
            <a:solidFill>
              <a:srgbClr val="3E9B5F"/>
            </a:solidFill>
            <a:prstDash val="solid"/>
          </a:ln>
        </p:spPr>
        <p:txBody>
          <a:bodyPr/>
          <a:p/>
        </p:txBody>
      </p:sp>
      <p:pic>
        <p:nvPicPr>
          <p:cNvPr id="15" name="Image 4" descr="img/icons/instagram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5277185"/>
            <a:ext cx="235549" cy="23554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1732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41732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@extingard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6355080" y="5138928"/>
            <a:ext cx="512064" cy="512064"/>
          </a:xfrm>
          <a:prstGeom prst="ellipse">
            <a:avLst/>
          </a:prstGeom>
          <a:solidFill>
            <a:srgbClr val="F07818"/>
          </a:solidFill>
          <a:ln w="12700">
            <a:solidFill>
              <a:srgbClr val="F07818"/>
            </a:solidFill>
            <a:prstDash val="solid"/>
          </a:ln>
        </p:spPr>
        <p:txBody>
          <a:bodyPr/>
          <a:p/>
        </p:txBody>
      </p:sp>
      <p:pic>
        <p:nvPicPr>
          <p:cNvPr id="19" name="Image 5" descr="img/icons/linkedin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337" y="5277185"/>
            <a:ext cx="235549" cy="2355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8660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7086600" y="5358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</a:t>
            </a:r>
            <a:endParaRPr lang="en-US" sz="1550" dirty="0"/>
          </a:p>
        </p:txBody>
      </p:sp>
      <p:sp>
        <p:nvSpPr>
          <p:cNvPr id="22" name="Text 14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ExtinGard  ·  TURKPATENT registered trademark (2026/001631) and allowed patent application (2025/021562)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Ateş Kes Teknoloji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ExtinGard Detaylı Sunum</dc:title>
  <dc:subject>PptxGenJS Presentation</dc:subject>
  <dc:creator>Ateş Kes Teknoloji</dc:creator>
  <cp:lastModifiedBy>Ateş Kes Teknoloji</cp:lastModifiedBy>
  <cp:revision>1</cp:revision>
  <dcterms:created xsi:type="dcterms:W3CDTF">2026-09-20T21:04:36Z</dcterms:created>
  <dcterms:modified xsi:type="dcterms:W3CDTF">2026-09-20T21:04:36Z</dcterms:modified>
</cp:coreProperties>
</file>